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256" r:id="rId2"/>
    <p:sldId id="257" r:id="rId3"/>
    <p:sldId id="293" r:id="rId4"/>
    <p:sldId id="294" r:id="rId5"/>
    <p:sldId id="295" r:id="rId6"/>
    <p:sldId id="296" r:id="rId7"/>
    <p:sldId id="298" r:id="rId8"/>
    <p:sldId id="291" r:id="rId9"/>
    <p:sldId id="288" r:id="rId10"/>
    <p:sldId id="281" r:id="rId11"/>
    <p:sldId id="265" r:id="rId12"/>
    <p:sldId id="289" r:id="rId13"/>
    <p:sldId id="266" r:id="rId14"/>
    <p:sldId id="290" r:id="rId15"/>
    <p:sldId id="267" r:id="rId16"/>
    <p:sldId id="269" r:id="rId17"/>
    <p:sldId id="270" r:id="rId18"/>
    <p:sldId id="271" r:id="rId19"/>
    <p:sldId id="272" r:id="rId20"/>
    <p:sldId id="274" r:id="rId21"/>
    <p:sldId id="292" r:id="rId22"/>
    <p:sldId id="286" r:id="rId23"/>
    <p:sldId id="275" r:id="rId24"/>
    <p:sldId id="276" r:id="rId25"/>
    <p:sldId id="277" r:id="rId26"/>
    <p:sldId id="278" r:id="rId27"/>
    <p:sldId id="299" r:id="rId28"/>
    <p:sldId id="282"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p:cViewPr varScale="1">
        <p:scale>
          <a:sx n="64" d="100"/>
          <a:sy n="64" d="100"/>
        </p:scale>
        <p:origin x="6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9CC536-6FD3-4267-A9A4-C684547D9FAA}" type="datetimeFigureOut">
              <a:rPr lang="en-US" smtClean="0"/>
              <a:pPr/>
              <a:t>15-Oct-26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401532-2A10-43EE-9201-C6493E50BBB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401532-2A10-43EE-9201-C6493E50BBB7}" type="slidenum">
              <a:rPr lang="en-US" smtClean="0"/>
              <a:pPr/>
              <a:t>2</a:t>
            </a:fld>
            <a:endParaRPr lang="en-US"/>
          </a:p>
        </p:txBody>
      </p:sp>
    </p:spTree>
    <p:extLst>
      <p:ext uri="{BB962C8B-B14F-4D97-AF65-F5344CB8AC3E}">
        <p14:creationId xmlns:p14="http://schemas.microsoft.com/office/powerpoint/2010/main" val="4138540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DEB342C-E003-4968-ADEC-21CB5303DBC9}" type="datetime1">
              <a:rPr lang="en-US" smtClean="0"/>
              <a:t>15-Oct-26</a:t>
            </a:fld>
            <a:endParaRPr lang="en-US"/>
          </a:p>
        </p:txBody>
      </p:sp>
      <p:sp>
        <p:nvSpPr>
          <p:cNvPr id="5" name="Footer Placeholder 4"/>
          <p:cNvSpPr>
            <a:spLocks noGrp="1"/>
          </p:cNvSpPr>
          <p:nvPr>
            <p:ph type="ftr" sz="quarter" idx="11"/>
          </p:nvPr>
        </p:nvSpPr>
        <p:spPr/>
        <p:txBody>
          <a:bodyPr/>
          <a:lstStyle/>
          <a:p>
            <a:r>
              <a:rPr lang="en-US"/>
              <a:t>©Professor Dr. A K M Akhtar Hossain         Dept. of CSE, University of Rajshahi</a:t>
            </a:r>
          </a:p>
        </p:txBody>
      </p:sp>
      <p:sp>
        <p:nvSpPr>
          <p:cNvPr id="6" name="Slide Number Placeholder 5"/>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A55EBF-6648-43D7-8463-ED13DB41325A}" type="datetime1">
              <a:rPr lang="en-US" smtClean="0"/>
              <a:t>15-Oct-26</a:t>
            </a:fld>
            <a:endParaRPr lang="en-US"/>
          </a:p>
        </p:txBody>
      </p:sp>
      <p:sp>
        <p:nvSpPr>
          <p:cNvPr id="5" name="Footer Placeholder 4"/>
          <p:cNvSpPr>
            <a:spLocks noGrp="1"/>
          </p:cNvSpPr>
          <p:nvPr>
            <p:ph type="ftr" sz="quarter" idx="11"/>
          </p:nvPr>
        </p:nvSpPr>
        <p:spPr/>
        <p:txBody>
          <a:bodyPr/>
          <a:lstStyle/>
          <a:p>
            <a:r>
              <a:rPr lang="en-US"/>
              <a:t>©Professor Dr. A K M Akhtar Hossain         Dept. of CSE, University of Rajshahi</a:t>
            </a:r>
          </a:p>
        </p:txBody>
      </p:sp>
      <p:sp>
        <p:nvSpPr>
          <p:cNvPr id="6" name="Slide Number Placeholder 5"/>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A6E15F-2AF3-45D5-B6F4-E1350CBB3C67}" type="datetime1">
              <a:rPr lang="en-US" smtClean="0"/>
              <a:t>15-Oct-26</a:t>
            </a:fld>
            <a:endParaRPr lang="en-US"/>
          </a:p>
        </p:txBody>
      </p:sp>
      <p:sp>
        <p:nvSpPr>
          <p:cNvPr id="5" name="Footer Placeholder 4"/>
          <p:cNvSpPr>
            <a:spLocks noGrp="1"/>
          </p:cNvSpPr>
          <p:nvPr>
            <p:ph type="ftr" sz="quarter" idx="11"/>
          </p:nvPr>
        </p:nvSpPr>
        <p:spPr/>
        <p:txBody>
          <a:bodyPr/>
          <a:lstStyle/>
          <a:p>
            <a:r>
              <a:rPr lang="en-US"/>
              <a:t>©Professor Dr. A K M Akhtar Hossain         Dept. of CSE, University of Rajshahi</a:t>
            </a:r>
          </a:p>
        </p:txBody>
      </p:sp>
      <p:sp>
        <p:nvSpPr>
          <p:cNvPr id="6" name="Slide Number Placeholder 5"/>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856AE46-435D-4CAF-9477-B1C950EA30FB}" type="datetime1">
              <a:rPr lang="en-US" smtClean="0"/>
              <a:t>15-Oct-26</a:t>
            </a:fld>
            <a:endParaRPr lang="en-US"/>
          </a:p>
        </p:txBody>
      </p:sp>
      <p:sp>
        <p:nvSpPr>
          <p:cNvPr id="6" name="Footer Placeholder 5"/>
          <p:cNvSpPr>
            <a:spLocks noGrp="1"/>
          </p:cNvSpPr>
          <p:nvPr>
            <p:ph type="ftr" sz="quarter" idx="11"/>
          </p:nvPr>
        </p:nvSpPr>
        <p:spPr/>
        <p:txBody>
          <a:bodyPr/>
          <a:lstStyle/>
          <a:p>
            <a:r>
              <a:rPr lang="en-US"/>
              <a:t>©Professor Dr. A K M Akhtar Hossain         Dept. of CSE, University of Rajshahi</a:t>
            </a:r>
          </a:p>
        </p:txBody>
      </p:sp>
      <p:sp>
        <p:nvSpPr>
          <p:cNvPr id="7" name="Slide Number Placeholder 6"/>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38FF19-E46E-4B51-8A1F-82C6B957576A}" type="datetime1">
              <a:rPr lang="en-US" smtClean="0"/>
              <a:t>15-Oct-26</a:t>
            </a:fld>
            <a:endParaRPr lang="en-US"/>
          </a:p>
        </p:txBody>
      </p:sp>
      <p:sp>
        <p:nvSpPr>
          <p:cNvPr id="8" name="Footer Placeholder 7"/>
          <p:cNvSpPr>
            <a:spLocks noGrp="1"/>
          </p:cNvSpPr>
          <p:nvPr>
            <p:ph type="ftr" sz="quarter" idx="11"/>
          </p:nvPr>
        </p:nvSpPr>
        <p:spPr/>
        <p:txBody>
          <a:bodyPr/>
          <a:lstStyle/>
          <a:p>
            <a:r>
              <a:rPr lang="en-US"/>
              <a:t>©Professor Dr. A K M Akhtar Hossain         Dept. of CSE, University of Rajshahi</a:t>
            </a:r>
          </a:p>
        </p:txBody>
      </p:sp>
      <p:sp>
        <p:nvSpPr>
          <p:cNvPr id="9" name="Slide Number Placeholder 8"/>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4304BF-3A0B-419B-B0B2-1F8DF49B5A24}" type="datetime1">
              <a:rPr lang="en-US" smtClean="0"/>
              <a:t>15-Oct-26</a:t>
            </a:fld>
            <a:endParaRPr lang="en-US"/>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F074EB-A322-4444-A828-AEC9872BD653}" type="datetime1">
              <a:rPr lang="en-US" smtClean="0"/>
              <a:t>15-Oct-26</a:t>
            </a:fld>
            <a:endParaRPr lang="en-US"/>
          </a:p>
        </p:txBody>
      </p:sp>
      <p:sp>
        <p:nvSpPr>
          <p:cNvPr id="3" name="Footer Placeholder 2"/>
          <p:cNvSpPr>
            <a:spLocks noGrp="1"/>
          </p:cNvSpPr>
          <p:nvPr>
            <p:ph type="ftr" sz="quarter" idx="11"/>
          </p:nvPr>
        </p:nvSpPr>
        <p:spPr/>
        <p:txBody>
          <a:bodyPr/>
          <a:lstStyle/>
          <a:p>
            <a:r>
              <a:rPr lang="en-US"/>
              <a:t>©Professor Dr. A K M Akhtar Hossain         Dept. of CSE, University of Rajshahi</a:t>
            </a:r>
          </a:p>
        </p:txBody>
      </p:sp>
      <p:sp>
        <p:nvSpPr>
          <p:cNvPr id="4" name="Slide Number Placeholder 3"/>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919EC-112B-4ED2-BFD1-4F4F29E04845}" type="datetime1">
              <a:rPr lang="en-US" smtClean="0"/>
              <a:t>15-Oct-26</a:t>
            </a:fld>
            <a:endParaRPr lang="en-US"/>
          </a:p>
        </p:txBody>
      </p:sp>
      <p:sp>
        <p:nvSpPr>
          <p:cNvPr id="6" name="Footer Placeholder 5"/>
          <p:cNvSpPr>
            <a:spLocks noGrp="1"/>
          </p:cNvSpPr>
          <p:nvPr>
            <p:ph type="ftr" sz="quarter" idx="11"/>
          </p:nvPr>
        </p:nvSpPr>
        <p:spPr/>
        <p:txBody>
          <a:bodyPr/>
          <a:lstStyle/>
          <a:p>
            <a:r>
              <a:rPr lang="en-US"/>
              <a:t>©Professor Dr. A K M Akhtar Hossain         Dept. of CSE, University of Rajshahi</a:t>
            </a:r>
          </a:p>
        </p:txBody>
      </p:sp>
      <p:sp>
        <p:nvSpPr>
          <p:cNvPr id="7" name="Slide Number Placeholder 6"/>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66A21B-154B-4FD9-B552-0F409E1A8CE3}" type="datetime1">
              <a:rPr lang="en-US" smtClean="0"/>
              <a:t>15-Oct-26</a:t>
            </a:fld>
            <a:endParaRPr lang="en-US"/>
          </a:p>
        </p:txBody>
      </p:sp>
      <p:sp>
        <p:nvSpPr>
          <p:cNvPr id="6" name="Footer Placeholder 5"/>
          <p:cNvSpPr>
            <a:spLocks noGrp="1"/>
          </p:cNvSpPr>
          <p:nvPr>
            <p:ph type="ftr" sz="quarter" idx="11"/>
          </p:nvPr>
        </p:nvSpPr>
        <p:spPr/>
        <p:txBody>
          <a:bodyPr/>
          <a:lstStyle/>
          <a:p>
            <a:r>
              <a:rPr lang="en-US"/>
              <a:t>©Professor Dr. A K M Akhtar Hossain         Dept. of CSE, University of Rajshahi</a:t>
            </a:r>
          </a:p>
        </p:txBody>
      </p:sp>
      <p:sp>
        <p:nvSpPr>
          <p:cNvPr id="7" name="Slide Number Placeholder 6"/>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D91504-B974-42AA-9A59-F305C11EFD99}" type="datetime1">
              <a:rPr lang="en-US" smtClean="0"/>
              <a:t>15-Oct-26</a:t>
            </a:fld>
            <a:endParaRPr lang="en-US"/>
          </a:p>
        </p:txBody>
      </p:sp>
      <p:sp>
        <p:nvSpPr>
          <p:cNvPr id="5" name="Footer Placeholder 4"/>
          <p:cNvSpPr>
            <a:spLocks noGrp="1"/>
          </p:cNvSpPr>
          <p:nvPr>
            <p:ph type="ftr" sz="quarter" idx="11"/>
          </p:nvPr>
        </p:nvSpPr>
        <p:spPr/>
        <p:txBody>
          <a:bodyPr/>
          <a:lstStyle/>
          <a:p>
            <a:r>
              <a:rPr lang="en-US"/>
              <a:t>©Professor Dr. A K M Akhtar Hossain         Dept. of CSE, University of Rajshahi</a:t>
            </a:r>
          </a:p>
        </p:txBody>
      </p:sp>
      <p:sp>
        <p:nvSpPr>
          <p:cNvPr id="6" name="Slide Number Placeholder 5"/>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5CF9A4-6502-4299-9E79-BB47B0204D3D}" type="datetime1">
              <a:rPr lang="en-US" smtClean="0"/>
              <a:t>15-Oct-26</a:t>
            </a:fld>
            <a:endParaRPr lang="en-US"/>
          </a:p>
        </p:txBody>
      </p:sp>
      <p:sp>
        <p:nvSpPr>
          <p:cNvPr id="5" name="Footer Placeholder 4"/>
          <p:cNvSpPr>
            <a:spLocks noGrp="1"/>
          </p:cNvSpPr>
          <p:nvPr>
            <p:ph type="ftr" sz="quarter" idx="11"/>
          </p:nvPr>
        </p:nvSpPr>
        <p:spPr/>
        <p:txBody>
          <a:bodyPr/>
          <a:lstStyle/>
          <a:p>
            <a:r>
              <a:rPr lang="en-US"/>
              <a:t>©Professor Dr. A K M Akhtar Hossain         Dept. of CSE, University of Rajshahi</a:t>
            </a:r>
          </a:p>
        </p:txBody>
      </p:sp>
      <p:sp>
        <p:nvSpPr>
          <p:cNvPr id="6" name="Slide Number Placeholder 5"/>
          <p:cNvSpPr>
            <a:spLocks noGrp="1"/>
          </p:cNvSpPr>
          <p:nvPr>
            <p:ph type="sldNum" sz="quarter" idx="12"/>
          </p:nvPr>
        </p:nvSpPr>
        <p:spPr/>
        <p:txBody>
          <a:bodyPr/>
          <a:lstStyle/>
          <a:p>
            <a:fld id="{9DF8C9B0-BC0F-493B-9E24-C0137D72F2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DAD7DC-DF6C-4CF5-BA1E-A20FE65CA3A6}" type="datetime1">
              <a:rPr lang="en-US" smtClean="0"/>
              <a:t>15-Oct-26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©Professor Dr. A K M Akhtar Hossain         Dept. of CSE, University of Rajshahi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F8C9B0-BC0F-493B-9E24-C0137D72F2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066800"/>
            <a:ext cx="7772400" cy="1828800"/>
          </a:xfrm>
        </p:spPr>
        <p:txBody>
          <a:bodyPr>
            <a:normAutofit fontScale="90000"/>
          </a:bodyPr>
          <a:lstStyle/>
          <a:p>
            <a:r>
              <a:rPr lang="en-US" b="1" dirty="0"/>
              <a:t>Knowledge  Representation </a:t>
            </a:r>
            <a:br>
              <a:rPr lang="en-US" b="1" dirty="0"/>
            </a:br>
            <a:r>
              <a:rPr lang="en-US" b="1" dirty="0"/>
              <a:t>&amp;</a:t>
            </a:r>
            <a:br>
              <a:rPr lang="en-US" b="1" dirty="0"/>
            </a:br>
            <a:r>
              <a:rPr lang="en-US" b="1" dirty="0"/>
              <a:t>Predicate Logic</a:t>
            </a:r>
          </a:p>
        </p:txBody>
      </p:sp>
      <p:sp>
        <p:nvSpPr>
          <p:cNvPr id="3" name="Subtitle 2"/>
          <p:cNvSpPr>
            <a:spLocks noGrp="1"/>
          </p:cNvSpPr>
          <p:nvPr>
            <p:ph type="subTitle" idx="1"/>
          </p:nvPr>
        </p:nvSpPr>
        <p:spPr>
          <a:xfrm>
            <a:off x="1371600" y="3352800"/>
            <a:ext cx="6400800" cy="1752600"/>
          </a:xfrm>
        </p:spPr>
        <p:txBody>
          <a:bodyPr/>
          <a:lstStyle/>
          <a:p>
            <a:r>
              <a:rPr lang="en-US" b="1" dirty="0">
                <a:solidFill>
                  <a:srgbClr val="00B050"/>
                </a:solidFill>
              </a:rPr>
              <a:t>Professor Dr. A K M Akhtar Hossain</a:t>
            </a:r>
          </a:p>
          <a:p>
            <a:r>
              <a:rPr lang="en-US" b="1" dirty="0">
                <a:solidFill>
                  <a:srgbClr val="00B050"/>
                </a:solidFill>
              </a:rPr>
              <a:t>Dept. of CSE, RU</a:t>
            </a:r>
          </a:p>
        </p:txBody>
      </p:sp>
    </p:spTree>
  </p:cSld>
  <p:clrMapOvr>
    <a:masterClrMapping/>
  </p:clrMapOvr>
  <p:transition>
    <p:wedg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hlink"/>
                </a:solidFill>
                <a:cs typeface="Times New Roman" pitchFamily="18" charset="0"/>
              </a:rPr>
              <a:t>Knowledge Representation</a:t>
            </a:r>
            <a:endParaRPr lang="en-US" dirty="0"/>
          </a:p>
        </p:txBody>
      </p:sp>
      <p:sp>
        <p:nvSpPr>
          <p:cNvPr id="3" name="Content Placeholder 2"/>
          <p:cNvSpPr>
            <a:spLocks noGrp="1"/>
          </p:cNvSpPr>
          <p:nvPr>
            <p:ph idx="1"/>
          </p:nvPr>
        </p:nvSpPr>
        <p:spPr>
          <a:xfrm>
            <a:off x="0" y="1600201"/>
            <a:ext cx="9144000" cy="4495800"/>
          </a:xfrm>
        </p:spPr>
        <p:txBody>
          <a:bodyPr>
            <a:normAutofit fontScale="92500" lnSpcReduction="10000"/>
          </a:bodyPr>
          <a:lstStyle/>
          <a:p>
            <a:pPr algn="just">
              <a:buClr>
                <a:schemeClr val="tx1"/>
              </a:buClr>
              <a:buSzPct val="95000"/>
              <a:buFont typeface="Arial" charset="0"/>
              <a:buChar char="●"/>
            </a:pPr>
            <a:r>
              <a:rPr lang="en-US" sz="2800" dirty="0">
                <a:solidFill>
                  <a:schemeClr val="hlink"/>
                </a:solidFill>
                <a:cs typeface="Times New Roman" pitchFamily="18" charset="0"/>
              </a:rPr>
              <a:t>Knowledge representation</a:t>
            </a:r>
            <a:r>
              <a:rPr lang="en-US" sz="2800" dirty="0">
                <a:cs typeface="Times New Roman" pitchFamily="18" charset="0"/>
              </a:rPr>
              <a:t> (KR) is an important issue in both cognitive science and artificial intelligence. </a:t>
            </a:r>
          </a:p>
          <a:p>
            <a:pPr lvl="1" algn="just">
              <a:buClr>
                <a:schemeClr val="tx1"/>
              </a:buClr>
              <a:buSzPct val="95000"/>
              <a:buFont typeface="Wingdings" pitchFamily="2" charset="2"/>
              <a:buChar char="q"/>
            </a:pPr>
            <a:r>
              <a:rPr lang="en-US" dirty="0">
                <a:cs typeface="Times New Roman" pitchFamily="18" charset="0"/>
              </a:rPr>
              <a:t>In </a:t>
            </a:r>
            <a:r>
              <a:rPr lang="en-US" dirty="0">
                <a:highlight>
                  <a:srgbClr val="FFFF00"/>
                </a:highlight>
                <a:cs typeface="Times New Roman" pitchFamily="18" charset="0"/>
              </a:rPr>
              <a:t>cognitive science</a:t>
            </a:r>
            <a:r>
              <a:rPr lang="en-US" dirty="0">
                <a:cs typeface="Times New Roman" pitchFamily="18" charset="0"/>
              </a:rPr>
              <a:t>, it is concerned with the way people store and process information.</a:t>
            </a:r>
          </a:p>
          <a:p>
            <a:pPr lvl="1" algn="just">
              <a:buClr>
                <a:schemeClr val="tx1"/>
              </a:buClr>
              <a:buSzPct val="95000"/>
              <a:buFont typeface="Wingdings" pitchFamily="2" charset="2"/>
              <a:buChar char="q"/>
            </a:pPr>
            <a:r>
              <a:rPr lang="en-US" dirty="0">
                <a:cs typeface="Times New Roman" pitchFamily="18" charset="0"/>
              </a:rPr>
              <a:t>In </a:t>
            </a:r>
            <a:r>
              <a:rPr lang="en-US" dirty="0">
                <a:highlight>
                  <a:srgbClr val="FFFF00"/>
                </a:highlight>
                <a:cs typeface="Times New Roman" pitchFamily="18" charset="0"/>
              </a:rPr>
              <a:t>artificial intelligence (AI), </a:t>
            </a:r>
            <a:r>
              <a:rPr lang="en-US" dirty="0">
                <a:cs typeface="Times New Roman" pitchFamily="18" charset="0"/>
              </a:rPr>
              <a:t>main focus is to store knowledge so that programs can process it and achieve human intelligence. </a:t>
            </a:r>
          </a:p>
          <a:p>
            <a:r>
              <a:rPr lang="en-US" dirty="0"/>
              <a:t>Knowledge representation in AI is not just about storing data in a database, it </a:t>
            </a:r>
            <a:r>
              <a:rPr lang="en-US" b="1" dirty="0"/>
              <a:t>allows a machine to learn from that knowledge and behave intelligently like a human being</a:t>
            </a:r>
            <a:r>
              <a:rPr lang="en-US" dirty="0"/>
              <a:t>. </a:t>
            </a:r>
          </a:p>
        </p:txBody>
      </p:sp>
      <p:sp>
        <p:nvSpPr>
          <p:cNvPr id="4" name="Slide Number Placeholder 3"/>
          <p:cNvSpPr>
            <a:spLocks noGrp="1"/>
          </p:cNvSpPr>
          <p:nvPr>
            <p:ph type="sldNum" sz="quarter" idx="12"/>
          </p:nvPr>
        </p:nvSpPr>
        <p:spPr/>
        <p:txBody>
          <a:bodyPr/>
          <a:lstStyle/>
          <a:p>
            <a:fld id="{9DF8C9B0-BC0F-493B-9E24-C0137D72F280}" type="slidenum">
              <a:rPr lang="en-US" smtClean="0"/>
              <a:pPr/>
              <a:t>2</a:t>
            </a:fld>
            <a:endParaRPr lang="en-US"/>
          </a:p>
        </p:txBody>
      </p:sp>
      <p:sp>
        <p:nvSpPr>
          <p:cNvPr id="5" name="Footer Placeholder 4"/>
          <p:cNvSpPr>
            <a:spLocks noGrp="1"/>
          </p:cNvSpPr>
          <p:nvPr>
            <p:ph type="ftr" sz="quarter" idx="11"/>
          </p:nvPr>
        </p:nvSpPr>
        <p:spPr/>
        <p:txBody>
          <a:bodyPr/>
          <a:lstStyle/>
          <a:p>
            <a:r>
              <a:rPr lang="en-US"/>
              <a:t>©Professor Dr. A K M Akhtar Hossain         Dept. of CSE, University of Rajshahi</a:t>
            </a:r>
            <a:endParaRPr lang="en-US" dirty="0"/>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hlink"/>
                </a:solidFill>
                <a:cs typeface="Times New Roman" pitchFamily="18" charset="0"/>
              </a:rPr>
              <a:t>Knowledge Representation</a:t>
            </a:r>
            <a:endParaRPr lang="en-US" dirty="0"/>
          </a:p>
        </p:txBody>
      </p:sp>
      <p:pic>
        <p:nvPicPr>
          <p:cNvPr id="6" name="Content Placeholder 5"/>
          <p:cNvPicPr>
            <a:picLocks noGrp="1" noChangeAspect="1"/>
          </p:cNvPicPr>
          <p:nvPr>
            <p:ph idx="1"/>
          </p:nvPr>
        </p:nvPicPr>
        <p:blipFill>
          <a:blip r:embed="rId2"/>
          <a:stretch>
            <a:fillRect/>
          </a:stretch>
        </p:blipFill>
        <p:spPr>
          <a:xfrm>
            <a:off x="779858" y="1600200"/>
            <a:ext cx="7584283" cy="4525963"/>
          </a:xfrm>
          <a:prstGeom prst="rect">
            <a:avLst/>
          </a:prstGeom>
        </p:spPr>
      </p:pic>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3</a:t>
            </a:fld>
            <a:endParaRPr lang="en-US"/>
          </a:p>
        </p:txBody>
      </p:sp>
    </p:spTree>
    <p:extLst>
      <p:ext uri="{BB962C8B-B14F-4D97-AF65-F5344CB8AC3E}">
        <p14:creationId xmlns:p14="http://schemas.microsoft.com/office/powerpoint/2010/main" val="368378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382000" cy="1036638"/>
          </a:xfrm>
        </p:spPr>
        <p:txBody>
          <a:bodyPr>
            <a:noAutofit/>
          </a:bodyPr>
          <a:lstStyle/>
          <a:p>
            <a:r>
              <a:rPr lang="en-US" sz="2800" b="1" dirty="0">
                <a:highlight>
                  <a:srgbClr val="FFFF00"/>
                </a:highlight>
              </a:rPr>
              <a:t>Components of knowledge Representation system</a:t>
            </a:r>
            <a:br>
              <a:rPr lang="en-US" sz="2800" dirty="0"/>
            </a:br>
            <a:endParaRPr lang="en-US" sz="2800" dirty="0"/>
          </a:p>
        </p:txBody>
      </p:sp>
      <p:sp>
        <p:nvSpPr>
          <p:cNvPr id="3" name="Content Placeholder 2"/>
          <p:cNvSpPr>
            <a:spLocks noGrp="1"/>
          </p:cNvSpPr>
          <p:nvPr>
            <p:ph idx="1"/>
          </p:nvPr>
        </p:nvSpPr>
        <p:spPr/>
        <p:txBody>
          <a:bodyPr>
            <a:normAutofit/>
          </a:bodyPr>
          <a:lstStyle/>
          <a:p>
            <a:pPr marL="0" indent="0">
              <a:buNone/>
            </a:pPr>
            <a:r>
              <a:rPr lang="en-US" dirty="0"/>
              <a:t>The knowledge representation function contains the following components.</a:t>
            </a:r>
          </a:p>
          <a:p>
            <a:pPr lvl="0"/>
            <a:r>
              <a:rPr lang="en-US" b="1" dirty="0">
                <a:highlight>
                  <a:srgbClr val="FFFF00"/>
                </a:highlight>
              </a:rPr>
              <a:t>Perception</a:t>
            </a:r>
          </a:p>
          <a:p>
            <a:pPr lvl="0"/>
            <a:r>
              <a:rPr lang="en-US" b="1" dirty="0">
                <a:highlight>
                  <a:srgbClr val="FFFF00"/>
                </a:highlight>
              </a:rPr>
              <a:t>Learning</a:t>
            </a:r>
          </a:p>
          <a:p>
            <a:pPr lvl="0"/>
            <a:r>
              <a:rPr lang="en-US" b="1" dirty="0">
                <a:highlight>
                  <a:srgbClr val="FFFF00"/>
                </a:highlight>
              </a:rPr>
              <a:t>KR and Reasoning</a:t>
            </a:r>
          </a:p>
          <a:p>
            <a:pPr lvl="0"/>
            <a:r>
              <a:rPr lang="en-US" b="1" dirty="0">
                <a:highlight>
                  <a:srgbClr val="FFFF00"/>
                </a:highlight>
              </a:rPr>
              <a:t>Planning and Execution</a:t>
            </a:r>
          </a:p>
          <a:p>
            <a:endParaRPr lang="en-US" sz="2800"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4</a:t>
            </a:fld>
            <a:endParaRPr lang="en-US"/>
          </a:p>
        </p:txBody>
      </p:sp>
    </p:spTree>
    <p:extLst>
      <p:ext uri="{BB962C8B-B14F-4D97-AF65-F5344CB8AC3E}">
        <p14:creationId xmlns:p14="http://schemas.microsoft.com/office/powerpoint/2010/main" val="2915099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1143000"/>
          </a:xfrm>
        </p:spPr>
        <p:txBody>
          <a:bodyPr>
            <a:normAutofit/>
          </a:bodyPr>
          <a:lstStyle/>
          <a:p>
            <a:r>
              <a:rPr lang="en-US" sz="3200" b="1" dirty="0">
                <a:highlight>
                  <a:srgbClr val="FFFF00"/>
                </a:highlight>
              </a:rPr>
              <a:t>Components of knowledge Representation system</a:t>
            </a:r>
            <a:endParaRPr lang="en-US" sz="3200" dirty="0">
              <a:highlight>
                <a:srgbClr val="FFFF00"/>
              </a:highlight>
            </a:endParaRPr>
          </a:p>
        </p:txBody>
      </p:sp>
      <p:sp>
        <p:nvSpPr>
          <p:cNvPr id="3" name="Content Placeholder 2"/>
          <p:cNvSpPr>
            <a:spLocks noGrp="1"/>
          </p:cNvSpPr>
          <p:nvPr>
            <p:ph idx="1"/>
          </p:nvPr>
        </p:nvSpPr>
        <p:spPr/>
        <p:txBody>
          <a:bodyPr>
            <a:normAutofit fontScale="85000" lnSpcReduction="10000"/>
          </a:bodyPr>
          <a:lstStyle/>
          <a:p>
            <a:r>
              <a:rPr lang="en-US" b="1" dirty="0">
                <a:highlight>
                  <a:srgbClr val="FFFF00"/>
                </a:highlight>
              </a:rPr>
              <a:t>Perception helps in extracting the information and can be helpful in telling us the status of AI system</a:t>
            </a:r>
            <a:r>
              <a:rPr lang="en-US" b="1" dirty="0"/>
              <a:t>. </a:t>
            </a:r>
            <a:r>
              <a:rPr lang="en-US" dirty="0"/>
              <a:t>It can detect any irregularity in the system and make us ready to decide whether an AI system has the potentiality of damage or not.</a:t>
            </a:r>
          </a:p>
          <a:p>
            <a:r>
              <a:rPr lang="en-US" dirty="0"/>
              <a:t> </a:t>
            </a:r>
            <a:r>
              <a:rPr lang="en-US" b="1" dirty="0">
                <a:highlight>
                  <a:srgbClr val="FFFF00"/>
                </a:highlight>
              </a:rPr>
              <a:t>Learning component captures the data which are already sensed by the perception component. </a:t>
            </a:r>
            <a:r>
              <a:rPr lang="en-US" dirty="0"/>
              <a:t>Learning component tries to enable the computer to learn just like human instead of always programming it. This component solely tries to focus on how to self-improve the AI system.</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5</a:t>
            </a:fld>
            <a:endParaRPr lang="en-US"/>
          </a:p>
        </p:txBody>
      </p:sp>
    </p:spTree>
    <p:extLst>
      <p:ext uri="{BB962C8B-B14F-4D97-AF65-F5344CB8AC3E}">
        <p14:creationId xmlns:p14="http://schemas.microsoft.com/office/powerpoint/2010/main" val="3308290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highlight>
                  <a:srgbClr val="FFFF00"/>
                </a:highlight>
              </a:rPr>
              <a:t>Components of knowledge Representation system</a:t>
            </a:r>
            <a:endParaRPr lang="en-US" sz="3200" dirty="0">
              <a:highlight>
                <a:srgbClr val="FFFF00"/>
              </a:highlight>
            </a:endParaRPr>
          </a:p>
        </p:txBody>
      </p:sp>
      <p:sp>
        <p:nvSpPr>
          <p:cNvPr id="3" name="Content Placeholder 2"/>
          <p:cNvSpPr>
            <a:spLocks noGrp="1"/>
          </p:cNvSpPr>
          <p:nvPr>
            <p:ph idx="1"/>
          </p:nvPr>
        </p:nvSpPr>
        <p:spPr>
          <a:xfrm>
            <a:off x="457200" y="1600200"/>
            <a:ext cx="8382000" cy="4525963"/>
          </a:xfrm>
        </p:spPr>
        <p:txBody>
          <a:bodyPr>
            <a:normAutofit fontScale="85000" lnSpcReduction="10000"/>
          </a:bodyPr>
          <a:lstStyle/>
          <a:p>
            <a:r>
              <a:rPr lang="en-US" b="1" dirty="0">
                <a:highlight>
                  <a:srgbClr val="FFFF00"/>
                </a:highlight>
              </a:rPr>
              <a:t>KR and reasoning </a:t>
            </a:r>
            <a:r>
              <a:rPr lang="en-US" b="1" dirty="0"/>
              <a:t>are used in AI to acquire knowledge in the smartest way. It focuses on the behavior of an AI agent and make sure that it more or less behaves like human. </a:t>
            </a:r>
            <a:r>
              <a:rPr lang="en-US" dirty="0"/>
              <a:t>It is used to formalize the knowledge in the knowledge base.</a:t>
            </a:r>
          </a:p>
          <a:p>
            <a:endParaRPr lang="en-US" b="1" dirty="0"/>
          </a:p>
          <a:p>
            <a:r>
              <a:rPr lang="en-US" b="1" dirty="0">
                <a:highlight>
                  <a:srgbClr val="FFFF00"/>
                </a:highlight>
              </a:rPr>
              <a:t>Planning and execution </a:t>
            </a:r>
            <a:r>
              <a:rPr lang="en-US" b="1" dirty="0"/>
              <a:t>try to find the optimal solution of the current state and tries to understand the impact of the same. </a:t>
            </a:r>
            <a:r>
              <a:rPr lang="en-US" dirty="0"/>
              <a:t>Now it tries to seek out the solution that the final state holds and then it will try to terminate the entire process with a solution here itself.</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6</a:t>
            </a:fld>
            <a:endParaRPr lang="en-US"/>
          </a:p>
        </p:txBody>
      </p:sp>
    </p:spTree>
    <p:extLst>
      <p:ext uri="{BB962C8B-B14F-4D97-AF65-F5344CB8AC3E}">
        <p14:creationId xmlns:p14="http://schemas.microsoft.com/office/powerpoint/2010/main" val="1069437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highlight>
                  <a:srgbClr val="FFFF00"/>
                </a:highlight>
              </a:rPr>
              <a:t>Applications of Knowledge Representation</a:t>
            </a:r>
          </a:p>
        </p:txBody>
      </p:sp>
      <p:sp>
        <p:nvSpPr>
          <p:cNvPr id="3" name="Content Placeholder 2"/>
          <p:cNvSpPr>
            <a:spLocks noGrp="1"/>
          </p:cNvSpPr>
          <p:nvPr>
            <p:ph idx="1"/>
          </p:nvPr>
        </p:nvSpPr>
        <p:spPr/>
        <p:txBody>
          <a:bodyPr/>
          <a:lstStyle/>
          <a:p>
            <a:r>
              <a:rPr lang="en-US" dirty="0"/>
              <a:t>Knowledge representation and reasoning are powerful tools that can be </a:t>
            </a:r>
            <a:r>
              <a:rPr lang="en-US" dirty="0">
                <a:highlight>
                  <a:srgbClr val="FFFF00"/>
                </a:highlight>
              </a:rPr>
              <a:t>used </a:t>
            </a:r>
            <a:r>
              <a:rPr lang="en-US" b="1" dirty="0">
                <a:highlight>
                  <a:srgbClr val="FFFF00"/>
                </a:highlight>
              </a:rPr>
              <a:t>to build intelligent systems</a:t>
            </a:r>
            <a:r>
              <a:rPr lang="en-US" dirty="0">
                <a:highlight>
                  <a:srgbClr val="FFFF00"/>
                </a:highlight>
              </a:rPr>
              <a:t>. </a:t>
            </a:r>
          </a:p>
          <a:p>
            <a:r>
              <a:rPr lang="en-US" dirty="0"/>
              <a:t>By representing knowledge in a computer-readable format, and by </a:t>
            </a:r>
            <a:r>
              <a:rPr lang="en-US" dirty="0">
                <a:highlight>
                  <a:srgbClr val="FFFF00"/>
                </a:highlight>
              </a:rPr>
              <a:t>using reasoning to solve problems.</a:t>
            </a:r>
          </a:p>
          <a:p>
            <a:r>
              <a:rPr lang="en-US" dirty="0"/>
              <a:t> AI applications can </a:t>
            </a:r>
            <a:r>
              <a:rPr lang="en-US" dirty="0">
                <a:highlight>
                  <a:srgbClr val="FFFF00"/>
                </a:highlight>
              </a:rPr>
              <a:t>perform tasks that would be difficult or impossible </a:t>
            </a:r>
            <a:r>
              <a:rPr lang="en-US" dirty="0"/>
              <a:t>for humans to do.</a:t>
            </a:r>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7</a:t>
            </a:fld>
            <a:endParaRPr lang="en-US"/>
          </a:p>
        </p:txBody>
      </p:sp>
    </p:spTree>
    <p:extLst>
      <p:ext uri="{BB962C8B-B14F-4D97-AF65-F5344CB8AC3E}">
        <p14:creationId xmlns:p14="http://schemas.microsoft.com/office/powerpoint/2010/main" val="1388364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of Knowledge Representation</a:t>
            </a:r>
          </a:p>
        </p:txBody>
      </p:sp>
      <p:sp>
        <p:nvSpPr>
          <p:cNvPr id="3" name="Content Placeholder 2"/>
          <p:cNvSpPr>
            <a:spLocks noGrp="1"/>
          </p:cNvSpPr>
          <p:nvPr>
            <p:ph idx="1"/>
          </p:nvPr>
        </p:nvSpPr>
        <p:spPr/>
        <p:txBody>
          <a:bodyPr>
            <a:normAutofit/>
          </a:bodyPr>
          <a:lstStyle/>
          <a:p>
            <a:r>
              <a:rPr lang="en-US" dirty="0"/>
              <a:t>Knowledge representation </a:t>
            </a:r>
            <a:r>
              <a:rPr lang="en-US" b="1" dirty="0">
                <a:highlight>
                  <a:srgbClr val="FFFF00"/>
                </a:highlight>
              </a:rPr>
              <a:t>makes complex software easier to define and maintain than procedural code and can be used in expert system</a:t>
            </a:r>
          </a:p>
          <a:p>
            <a:r>
              <a:rPr lang="en-US" b="1" dirty="0"/>
              <a:t>Reasoning</a:t>
            </a:r>
            <a:r>
              <a:rPr lang="en-US" dirty="0"/>
              <a:t> is the use </a:t>
            </a:r>
            <a:r>
              <a:rPr lang="en-US" dirty="0">
                <a:highlight>
                  <a:srgbClr val="FFFF00"/>
                </a:highlight>
              </a:rPr>
              <a:t>of symbolic representations</a:t>
            </a:r>
            <a:r>
              <a:rPr lang="en-US" dirty="0"/>
              <a:t> of some statements in order to derive new ones.</a:t>
            </a:r>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8</a:t>
            </a:fld>
            <a:endParaRPr lang="en-US"/>
          </a:p>
        </p:txBody>
      </p:sp>
    </p:spTree>
    <p:extLst>
      <p:ext uri="{BB962C8B-B14F-4D97-AF65-F5344CB8AC3E}">
        <p14:creationId xmlns:p14="http://schemas.microsoft.com/office/powerpoint/2010/main" val="746021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ighlight>
                  <a:srgbClr val="FFFF00"/>
                </a:highlight>
              </a:rPr>
              <a:t>What is predicate logic (PL)?</a:t>
            </a:r>
            <a:endParaRPr lang="en-US" dirty="0">
              <a:highlight>
                <a:srgbClr val="FFFF00"/>
              </a:highlight>
            </a:endParaRPr>
          </a:p>
        </p:txBody>
      </p:sp>
      <p:sp>
        <p:nvSpPr>
          <p:cNvPr id="3" name="Content Placeholder 2"/>
          <p:cNvSpPr>
            <a:spLocks noGrp="1"/>
          </p:cNvSpPr>
          <p:nvPr>
            <p:ph idx="1"/>
          </p:nvPr>
        </p:nvSpPr>
        <p:spPr/>
        <p:txBody>
          <a:bodyPr>
            <a:normAutofit/>
          </a:bodyPr>
          <a:lstStyle/>
          <a:p>
            <a:pPr marL="0" indent="0">
              <a:buNone/>
            </a:pPr>
            <a:endParaRPr lang="en-US" dirty="0"/>
          </a:p>
          <a:p>
            <a:r>
              <a:rPr lang="en-US" dirty="0"/>
              <a:t> A </a:t>
            </a:r>
            <a:r>
              <a:rPr lang="en-US" b="1" dirty="0">
                <a:highlight>
                  <a:srgbClr val="FFFF00"/>
                </a:highlight>
              </a:rPr>
              <a:t>predicate logic</a:t>
            </a:r>
            <a:r>
              <a:rPr lang="en-US" dirty="0">
                <a:highlight>
                  <a:srgbClr val="FFFF00"/>
                </a:highlight>
              </a:rPr>
              <a:t> </a:t>
            </a:r>
            <a:r>
              <a:rPr lang="en-US" dirty="0"/>
              <a:t>is an expression of one or more variables defined on some specific domain. </a:t>
            </a:r>
          </a:p>
          <a:p>
            <a:r>
              <a:rPr lang="en-US" dirty="0">
                <a:highlight>
                  <a:srgbClr val="FFFF00"/>
                </a:highlight>
              </a:rPr>
              <a:t>A </a:t>
            </a:r>
            <a:r>
              <a:rPr lang="en-US" b="1" dirty="0">
                <a:highlight>
                  <a:srgbClr val="FFFF00"/>
                </a:highlight>
              </a:rPr>
              <a:t>predicate</a:t>
            </a:r>
            <a:r>
              <a:rPr lang="en-US" dirty="0">
                <a:highlight>
                  <a:srgbClr val="FFFF00"/>
                </a:highlight>
              </a:rPr>
              <a:t> </a:t>
            </a:r>
            <a:r>
              <a:rPr lang="en-US" dirty="0"/>
              <a:t>with variables can be made a proposition by either assigning a value to the variable or by quantifying the variable. </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ighlight>
                  <a:srgbClr val="FFFF00"/>
                </a:highlight>
              </a:rPr>
              <a:t>Predicate logic (PL):</a:t>
            </a:r>
            <a:endParaRPr lang="en-US" dirty="0">
              <a:highlight>
                <a:srgbClr val="FFFF00"/>
              </a:highlight>
            </a:endParaRPr>
          </a:p>
        </p:txBody>
      </p:sp>
      <p:sp>
        <p:nvSpPr>
          <p:cNvPr id="3" name="Content Placeholder 2"/>
          <p:cNvSpPr>
            <a:spLocks noGrp="1"/>
          </p:cNvSpPr>
          <p:nvPr>
            <p:ph idx="1"/>
          </p:nvPr>
        </p:nvSpPr>
        <p:spPr/>
        <p:txBody>
          <a:bodyPr>
            <a:normAutofit lnSpcReduction="10000"/>
          </a:bodyPr>
          <a:lstStyle/>
          <a:p>
            <a:endParaRPr lang="en-US" dirty="0"/>
          </a:p>
          <a:p>
            <a:r>
              <a:rPr lang="en-US" dirty="0"/>
              <a:t>A </a:t>
            </a:r>
            <a:r>
              <a:rPr lang="en-US" b="1" dirty="0"/>
              <a:t>predicate</a:t>
            </a:r>
            <a:r>
              <a:rPr lang="en-US" dirty="0"/>
              <a:t> is a statement that contains variables (</a:t>
            </a:r>
            <a:r>
              <a:rPr lang="en-US" b="1" dirty="0"/>
              <a:t>predicate</a:t>
            </a:r>
            <a:r>
              <a:rPr lang="en-US" dirty="0"/>
              <a:t> variables), and they </a:t>
            </a:r>
            <a:r>
              <a:rPr lang="en-US" dirty="0">
                <a:highlight>
                  <a:srgbClr val="FFFF00"/>
                </a:highlight>
              </a:rPr>
              <a:t>may</a:t>
            </a:r>
            <a:r>
              <a:rPr lang="en-US" dirty="0"/>
              <a:t> </a:t>
            </a:r>
            <a:r>
              <a:rPr lang="en-US" dirty="0">
                <a:highlight>
                  <a:srgbClr val="FFFF00"/>
                </a:highlight>
              </a:rPr>
              <a:t>be true or false depending</a:t>
            </a:r>
            <a:r>
              <a:rPr lang="en-US" dirty="0"/>
              <a:t> on the values of these variables.</a:t>
            </a:r>
          </a:p>
          <a:p>
            <a:r>
              <a:rPr lang="en-US" b="1" dirty="0"/>
              <a:t>Predicate logic</a:t>
            </a:r>
            <a:r>
              <a:rPr lang="en-US" dirty="0"/>
              <a:t> is the generic term for symbolic formal systems like </a:t>
            </a:r>
            <a:r>
              <a:rPr lang="en-US" dirty="0">
                <a:highlight>
                  <a:srgbClr val="FFFF00"/>
                </a:highlight>
              </a:rPr>
              <a:t>first-order </a:t>
            </a:r>
            <a:r>
              <a:rPr lang="en-US" b="1" dirty="0">
                <a:highlight>
                  <a:srgbClr val="FFFF00"/>
                </a:highlight>
              </a:rPr>
              <a:t>logic</a:t>
            </a:r>
            <a:r>
              <a:rPr lang="en-US" dirty="0">
                <a:highlight>
                  <a:srgbClr val="FFFF00"/>
                </a:highlight>
              </a:rPr>
              <a:t>, second-order </a:t>
            </a:r>
            <a:r>
              <a:rPr lang="en-US" b="1" dirty="0">
                <a:highlight>
                  <a:srgbClr val="FFFF00"/>
                </a:highlight>
              </a:rPr>
              <a:t>logic</a:t>
            </a:r>
            <a:r>
              <a:rPr lang="en-US" dirty="0">
                <a:highlight>
                  <a:srgbClr val="FFFF00"/>
                </a:highlight>
              </a:rPr>
              <a:t>, many-sorted </a:t>
            </a:r>
            <a:r>
              <a:rPr lang="en-US" b="1" dirty="0">
                <a:highlight>
                  <a:srgbClr val="FFFF00"/>
                </a:highlight>
              </a:rPr>
              <a:t>logic</a:t>
            </a:r>
            <a:r>
              <a:rPr lang="en-US" dirty="0">
                <a:highlight>
                  <a:srgbClr val="FFFF00"/>
                </a:highlight>
              </a:rPr>
              <a:t>, or </a:t>
            </a:r>
            <a:r>
              <a:rPr lang="en-US" dirty="0" err="1">
                <a:highlight>
                  <a:srgbClr val="FFFF00"/>
                </a:highlight>
              </a:rPr>
              <a:t>infinitary</a:t>
            </a:r>
            <a:r>
              <a:rPr lang="en-US" dirty="0">
                <a:highlight>
                  <a:srgbClr val="FFFF00"/>
                </a:highlight>
              </a:rPr>
              <a:t> </a:t>
            </a:r>
            <a:r>
              <a:rPr lang="en-US" b="1" dirty="0">
                <a:highlight>
                  <a:srgbClr val="FFFF00"/>
                </a:highlight>
              </a:rPr>
              <a:t>logic</a:t>
            </a:r>
            <a:r>
              <a:rPr lang="en-US" dirty="0">
                <a:highlight>
                  <a:srgbClr val="FFFF00"/>
                </a:highlight>
              </a:rPr>
              <a:t>. </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020762"/>
          </a:xfrm>
        </p:spPr>
        <p:txBody>
          <a:bodyPr/>
          <a:lstStyle/>
          <a:p>
            <a:pPr eaLnBrk="1" hangingPunct="1"/>
            <a:r>
              <a:rPr lang="en-US" sz="4000" b="1" dirty="0">
                <a:solidFill>
                  <a:srgbClr val="C00000"/>
                </a:solidFill>
                <a:highlight>
                  <a:srgbClr val="FFFF00"/>
                </a:highlight>
              </a:rPr>
              <a:t>Predicate Logic (PL):</a:t>
            </a:r>
          </a:p>
        </p:txBody>
      </p:sp>
      <p:sp>
        <p:nvSpPr>
          <p:cNvPr id="9219" name="Rectangle 3"/>
          <p:cNvSpPr>
            <a:spLocks noGrp="1" noChangeArrowheads="1"/>
          </p:cNvSpPr>
          <p:nvPr>
            <p:ph type="body" idx="1"/>
          </p:nvPr>
        </p:nvSpPr>
        <p:spPr>
          <a:xfrm>
            <a:off x="762000" y="1371600"/>
            <a:ext cx="8229600" cy="4754563"/>
          </a:xfrm>
        </p:spPr>
        <p:txBody>
          <a:bodyPr>
            <a:normAutofit/>
          </a:bodyPr>
          <a:lstStyle/>
          <a:p>
            <a:pPr eaLnBrk="1" hangingPunct="1">
              <a:lnSpc>
                <a:spcPct val="90000"/>
              </a:lnSpc>
              <a:buClr>
                <a:schemeClr val="tx1"/>
              </a:buClr>
              <a:buFont typeface="Arial" charset="0"/>
              <a:buChar char="●"/>
            </a:pPr>
            <a:r>
              <a:rPr lang="en-US" sz="2800" dirty="0"/>
              <a:t>The Predicate Logic has </a:t>
            </a:r>
            <a:r>
              <a:rPr lang="en-US" sz="2800" dirty="0">
                <a:highlight>
                  <a:srgbClr val="FFFF00"/>
                </a:highlight>
              </a:rPr>
              <a:t>three </a:t>
            </a:r>
            <a:r>
              <a:rPr lang="en-US" sz="2800" b="1" dirty="0">
                <a:highlight>
                  <a:srgbClr val="FFFF00"/>
                </a:highlight>
              </a:rPr>
              <a:t>logical notions</a:t>
            </a:r>
            <a:r>
              <a:rPr lang="en-US" sz="2800" dirty="0">
                <a:highlight>
                  <a:srgbClr val="FFFF00"/>
                </a:highlight>
              </a:rPr>
              <a:t>. </a:t>
            </a:r>
          </a:p>
          <a:p>
            <a:pPr marL="914400" lvl="1" indent="-457200" eaLnBrk="1" hangingPunct="1">
              <a:lnSpc>
                <a:spcPct val="90000"/>
              </a:lnSpc>
              <a:buClr>
                <a:schemeClr val="tx1"/>
              </a:buClr>
              <a:buFont typeface="+mj-lt"/>
              <a:buAutoNum type="arabicParenR"/>
            </a:pPr>
            <a:r>
              <a:rPr lang="en-US" dirty="0">
                <a:highlight>
                  <a:srgbClr val="FFFF00"/>
                </a:highlight>
              </a:rPr>
              <a:t>Term,  </a:t>
            </a:r>
          </a:p>
          <a:p>
            <a:pPr marL="914400" lvl="1" indent="-457200" eaLnBrk="1" hangingPunct="1">
              <a:lnSpc>
                <a:spcPct val="90000"/>
              </a:lnSpc>
              <a:buClr>
                <a:schemeClr val="tx1"/>
              </a:buClr>
              <a:buFont typeface="+mj-lt"/>
              <a:buAutoNum type="arabicParenR"/>
            </a:pPr>
            <a:r>
              <a:rPr lang="en-US" dirty="0">
                <a:highlight>
                  <a:srgbClr val="FFFF00"/>
                </a:highlight>
              </a:rPr>
              <a:t>Predicate </a:t>
            </a:r>
          </a:p>
          <a:p>
            <a:pPr marL="914400" lvl="1" indent="-457200" eaLnBrk="1" hangingPunct="1">
              <a:lnSpc>
                <a:spcPct val="90000"/>
              </a:lnSpc>
              <a:buClr>
                <a:schemeClr val="tx1"/>
              </a:buClr>
              <a:buFont typeface="+mj-lt"/>
              <a:buAutoNum type="arabicParenR"/>
            </a:pPr>
            <a:r>
              <a:rPr lang="en-US" dirty="0">
                <a:highlight>
                  <a:srgbClr val="FFFF00"/>
                </a:highlight>
              </a:rPr>
              <a:t>Quantifier</a:t>
            </a:r>
          </a:p>
          <a:p>
            <a:pPr eaLnBrk="1" hangingPunct="1">
              <a:lnSpc>
                <a:spcPct val="90000"/>
              </a:lnSpc>
              <a:buClr>
                <a:schemeClr val="tx1"/>
              </a:buClr>
              <a:buFont typeface="Arial" charset="0"/>
              <a:buChar char="●"/>
            </a:pPr>
            <a:endParaRPr lang="en-US" sz="2400" b="1" dirty="0"/>
          </a:p>
          <a:p>
            <a:pPr marL="0" indent="0" eaLnBrk="1" hangingPunct="1">
              <a:lnSpc>
                <a:spcPct val="90000"/>
              </a:lnSpc>
              <a:buClr>
                <a:schemeClr val="tx1"/>
              </a:buClr>
              <a:buNone/>
            </a:pPr>
            <a:r>
              <a:rPr lang="en-US" sz="2400" b="1" dirty="0"/>
              <a:t>(1). </a:t>
            </a:r>
            <a:r>
              <a:rPr lang="en-US" sz="2400" b="1" dirty="0">
                <a:highlight>
                  <a:srgbClr val="FFFF00"/>
                </a:highlight>
              </a:rPr>
              <a:t>Term:</a:t>
            </a:r>
          </a:p>
          <a:p>
            <a:pPr lvl="1" eaLnBrk="1" hangingPunct="1">
              <a:lnSpc>
                <a:spcPct val="90000"/>
              </a:lnSpc>
              <a:buClr>
                <a:schemeClr val="tx1"/>
              </a:buClr>
              <a:buFont typeface="Wingdings" pitchFamily="2" charset="2"/>
              <a:buChar char="Ø"/>
            </a:pPr>
            <a:r>
              <a:rPr lang="en-US" sz="2400" dirty="0"/>
              <a:t>a </a:t>
            </a:r>
            <a:r>
              <a:rPr lang="en-US" sz="2400" dirty="0">
                <a:highlight>
                  <a:srgbClr val="FFFF00"/>
                </a:highlight>
              </a:rPr>
              <a:t>constant</a:t>
            </a:r>
            <a:r>
              <a:rPr lang="en-US" sz="2400" dirty="0"/>
              <a:t> (single individual or concept i.e.,5, john etc.), </a:t>
            </a:r>
          </a:p>
          <a:p>
            <a:pPr lvl="1" eaLnBrk="1" hangingPunct="1">
              <a:lnSpc>
                <a:spcPct val="90000"/>
              </a:lnSpc>
              <a:buClr>
                <a:schemeClr val="tx1"/>
              </a:buClr>
              <a:buFont typeface="Wingdings" pitchFamily="2" charset="2"/>
              <a:buChar char="Ø"/>
            </a:pPr>
            <a:r>
              <a:rPr lang="en-US" sz="2400" dirty="0"/>
              <a:t>a </a:t>
            </a:r>
            <a:r>
              <a:rPr lang="en-US" sz="2400" dirty="0">
                <a:highlight>
                  <a:srgbClr val="FFFF00"/>
                </a:highlight>
              </a:rPr>
              <a:t>variable</a:t>
            </a:r>
            <a:r>
              <a:rPr lang="en-US" sz="2400" dirty="0"/>
              <a:t> that stands for different individuals </a:t>
            </a:r>
          </a:p>
          <a:p>
            <a:pPr lvl="1">
              <a:lnSpc>
                <a:spcPct val="90000"/>
              </a:lnSpc>
              <a:buClr>
                <a:schemeClr val="tx1"/>
              </a:buClr>
              <a:buFont typeface="Wingdings" pitchFamily="2" charset="2"/>
              <a:buChar char="Ø"/>
            </a:pPr>
            <a:r>
              <a:rPr lang="en-US" sz="2400" dirty="0">
                <a:highlight>
                  <a:srgbClr val="FFFF00"/>
                </a:highlight>
              </a:rPr>
              <a:t>n-place</a:t>
            </a:r>
            <a:r>
              <a:rPr lang="en-US" sz="2400" dirty="0"/>
              <a:t> function </a:t>
            </a:r>
            <a:r>
              <a:rPr lang="en-US" sz="2400" b="1" dirty="0"/>
              <a:t>f(t</a:t>
            </a:r>
            <a:r>
              <a:rPr lang="en-US" sz="2400" b="1" baseline="-25000" dirty="0"/>
              <a:t>1</a:t>
            </a:r>
            <a:r>
              <a:rPr lang="en-US" sz="2400" b="1" dirty="0"/>
              <a:t>, …, </a:t>
            </a:r>
            <a:r>
              <a:rPr lang="en-US" sz="2400" b="1" dirty="0" err="1"/>
              <a:t>t</a:t>
            </a:r>
            <a:r>
              <a:rPr lang="en-US" sz="2400" b="1" baseline="-25000" dirty="0" err="1"/>
              <a:t>n</a:t>
            </a:r>
            <a:r>
              <a:rPr lang="en-US" sz="2400" b="1" dirty="0"/>
              <a:t>)</a:t>
            </a:r>
            <a:r>
              <a:rPr lang="en-US" sz="2400" dirty="0"/>
              <a:t>,  where t</a:t>
            </a:r>
            <a:r>
              <a:rPr lang="en-US" sz="2400" baseline="-25000" dirty="0"/>
              <a:t>1</a:t>
            </a:r>
            <a:r>
              <a:rPr lang="en-US" sz="2400" dirty="0"/>
              <a:t>, …, </a:t>
            </a:r>
            <a:r>
              <a:rPr lang="en-US" sz="2400" dirty="0" err="1"/>
              <a:t>t</a:t>
            </a:r>
            <a:r>
              <a:rPr lang="en-US" sz="2400" baseline="-25000" dirty="0" err="1"/>
              <a:t>n</a:t>
            </a:r>
            <a:r>
              <a:rPr lang="en-US" sz="2400" dirty="0"/>
              <a:t> are terms. </a:t>
            </a:r>
          </a:p>
          <a:p>
            <a:pPr lvl="1" eaLnBrk="1" hangingPunct="1">
              <a:lnSpc>
                <a:spcPct val="90000"/>
              </a:lnSpc>
              <a:buClr>
                <a:schemeClr val="tx1"/>
              </a:buClr>
              <a:buFont typeface="Wingdings" pitchFamily="2" charset="2"/>
              <a:buChar char="Ø"/>
            </a:pPr>
            <a:r>
              <a:rPr lang="en-US" sz="2400" dirty="0"/>
              <a:t>A function is a </a:t>
            </a:r>
            <a:r>
              <a:rPr lang="en-US" sz="2400" dirty="0">
                <a:highlight>
                  <a:srgbClr val="FFFF00"/>
                </a:highlight>
              </a:rPr>
              <a:t>mapping</a:t>
            </a:r>
            <a:r>
              <a:rPr lang="en-US" sz="2400" dirty="0"/>
              <a:t> that maps </a:t>
            </a:r>
            <a:r>
              <a:rPr lang="en-US" sz="2400" b="1" dirty="0">
                <a:solidFill>
                  <a:srgbClr val="FF0000"/>
                </a:solidFill>
              </a:rPr>
              <a:t>n terms </a:t>
            </a:r>
            <a:r>
              <a:rPr lang="en-US" sz="2400" dirty="0"/>
              <a:t>to a term.  </a:t>
            </a:r>
          </a:p>
        </p:txBody>
      </p:sp>
      <p:sp>
        <p:nvSpPr>
          <p:cNvPr id="4" name="Slide Number Placeholder 3"/>
          <p:cNvSpPr>
            <a:spLocks noGrp="1"/>
          </p:cNvSpPr>
          <p:nvPr>
            <p:ph type="sldNum" sz="quarter" idx="12"/>
          </p:nvPr>
        </p:nvSpPr>
        <p:spPr/>
        <p:txBody>
          <a:bodyPr/>
          <a:lstStyle/>
          <a:p>
            <a:fld id="{9DF8C9B0-BC0F-493B-9E24-C0137D72F280}" type="slidenum">
              <a:rPr lang="en-US" smtClean="0"/>
              <a:pPr/>
              <a:t>11</a:t>
            </a:fld>
            <a:endParaRPr lang="en-US" dirty="0"/>
          </a:p>
        </p:txBody>
      </p:sp>
      <p:sp>
        <p:nvSpPr>
          <p:cNvPr id="5" name="Footer Placeholder 4"/>
          <p:cNvSpPr>
            <a:spLocks noGrp="1"/>
          </p:cNvSpPr>
          <p:nvPr>
            <p:ph type="ftr" sz="quarter" idx="11"/>
          </p:nvPr>
        </p:nvSpPr>
        <p:spPr/>
        <p:txBody>
          <a:bodyPr/>
          <a:lstStyle/>
          <a:p>
            <a:r>
              <a:rPr lang="en-US"/>
              <a:t>©Professor Dr. A K M Akhtar Hossain         Dept. of CSE, University of Rajshahi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Predicate Logic (PL):</a:t>
            </a:r>
            <a:endParaRPr lang="en-US" dirty="0"/>
          </a:p>
        </p:txBody>
      </p:sp>
      <p:sp>
        <p:nvSpPr>
          <p:cNvPr id="3" name="Content Placeholder 2"/>
          <p:cNvSpPr>
            <a:spLocks noGrp="1"/>
          </p:cNvSpPr>
          <p:nvPr>
            <p:ph idx="1"/>
          </p:nvPr>
        </p:nvSpPr>
        <p:spPr/>
        <p:txBody>
          <a:bodyPr/>
          <a:lstStyle/>
          <a:p>
            <a:pPr>
              <a:lnSpc>
                <a:spcPct val="90000"/>
              </a:lnSpc>
              <a:buClr>
                <a:schemeClr val="tx1"/>
              </a:buClr>
              <a:buFont typeface="Arial" charset="0"/>
              <a:buChar char="●"/>
            </a:pPr>
            <a:r>
              <a:rPr lang="en-US" sz="2800" b="1" dirty="0">
                <a:highlight>
                  <a:srgbClr val="FFFF00"/>
                </a:highlight>
              </a:rPr>
              <a:t>Predicate:</a:t>
            </a:r>
          </a:p>
          <a:p>
            <a:pPr lvl="1">
              <a:lnSpc>
                <a:spcPct val="90000"/>
              </a:lnSpc>
              <a:buClr>
                <a:schemeClr val="tx1"/>
              </a:buClr>
              <a:buFont typeface="Wingdings" pitchFamily="2" charset="2"/>
              <a:buChar char="Ø"/>
            </a:pPr>
            <a:r>
              <a:rPr lang="en-US" dirty="0"/>
              <a:t>a relation that maps n terms to a truth value (T) or false value (F). </a:t>
            </a:r>
          </a:p>
          <a:p>
            <a:pPr lvl="1">
              <a:lnSpc>
                <a:spcPct val="90000"/>
              </a:lnSpc>
              <a:buClr>
                <a:schemeClr val="tx1"/>
              </a:buClr>
              <a:buFont typeface="Wingdings" pitchFamily="2" charset="2"/>
              <a:buChar char="Ø"/>
            </a:pPr>
            <a:endParaRPr lang="en-US" dirty="0"/>
          </a:p>
          <a:p>
            <a:pPr>
              <a:lnSpc>
                <a:spcPct val="90000"/>
              </a:lnSpc>
              <a:buClr>
                <a:schemeClr val="tx1"/>
              </a:buClr>
              <a:buFont typeface="Arial" charset="0"/>
              <a:buChar char="●"/>
            </a:pPr>
            <a:r>
              <a:rPr lang="en-US" sz="2800" b="1" dirty="0">
                <a:highlight>
                  <a:srgbClr val="FFFF00"/>
                </a:highlight>
              </a:rPr>
              <a:t>Quantifier:</a:t>
            </a:r>
          </a:p>
          <a:p>
            <a:pPr lvl="1">
              <a:lnSpc>
                <a:spcPct val="90000"/>
              </a:lnSpc>
              <a:buClr>
                <a:schemeClr val="tx1"/>
              </a:buClr>
              <a:buFont typeface="Wingdings" pitchFamily="2" charset="2"/>
              <a:buChar char="Ø"/>
            </a:pPr>
            <a:r>
              <a:rPr lang="en-US" dirty="0">
                <a:highlight>
                  <a:srgbClr val="FFFF00"/>
                </a:highlight>
              </a:rPr>
              <a:t>Universal (</a:t>
            </a:r>
            <a:r>
              <a:rPr lang="en-US" dirty="0">
                <a:highlight>
                  <a:srgbClr val="FFFF00"/>
                </a:highlight>
                <a:sym typeface="Symbol" pitchFamily="18" charset="2"/>
              </a:rPr>
              <a:t>)</a:t>
            </a:r>
            <a:r>
              <a:rPr lang="en-US" dirty="0">
                <a:highlight>
                  <a:srgbClr val="FFFF00"/>
                </a:highlight>
              </a:rPr>
              <a:t> quantifier</a:t>
            </a:r>
            <a:endParaRPr lang="en-US" dirty="0">
              <a:highlight>
                <a:srgbClr val="FFFF00"/>
              </a:highlight>
              <a:sym typeface="Symbol" pitchFamily="18" charset="2"/>
            </a:endParaRPr>
          </a:p>
          <a:p>
            <a:pPr lvl="1">
              <a:lnSpc>
                <a:spcPct val="90000"/>
              </a:lnSpc>
              <a:buClr>
                <a:schemeClr val="tx1"/>
              </a:buClr>
              <a:buFont typeface="Wingdings" pitchFamily="2" charset="2"/>
              <a:buChar char="Ø"/>
            </a:pPr>
            <a:r>
              <a:rPr lang="en-US" dirty="0">
                <a:highlight>
                  <a:srgbClr val="FFFF00"/>
                </a:highlight>
              </a:rPr>
              <a:t>Existential(</a:t>
            </a:r>
            <a:r>
              <a:rPr lang="en-US" b="1" dirty="0">
                <a:highlight>
                  <a:srgbClr val="FFFF00"/>
                </a:highlight>
                <a:sym typeface="Symbol" pitchFamily="18" charset="2"/>
              </a:rPr>
              <a:t></a:t>
            </a:r>
            <a:r>
              <a:rPr lang="en-US" dirty="0">
                <a:highlight>
                  <a:srgbClr val="FFFF00"/>
                </a:highlight>
                <a:sym typeface="Symbol" pitchFamily="18" charset="2"/>
              </a:rPr>
              <a:t>)</a:t>
            </a:r>
            <a:r>
              <a:rPr lang="en-US" dirty="0">
                <a:highlight>
                  <a:srgbClr val="FFFF00"/>
                </a:highlight>
              </a:rPr>
              <a:t> quantifier</a:t>
            </a:r>
          </a:p>
          <a:p>
            <a:pPr lvl="1">
              <a:lnSpc>
                <a:spcPct val="90000"/>
              </a:lnSpc>
              <a:buClr>
                <a:schemeClr val="tx1"/>
              </a:buClr>
              <a:buFont typeface="Wingdings" pitchFamily="2" charset="2"/>
              <a:buChar char="Ø"/>
            </a:pPr>
            <a:endParaRPr lang="en-US" dirty="0"/>
          </a:p>
          <a:p>
            <a:pPr lvl="1">
              <a:lnSpc>
                <a:spcPct val="90000"/>
              </a:lnSpc>
              <a:buClr>
                <a:schemeClr val="tx1"/>
              </a:buClr>
              <a:buFont typeface="Wingdings" pitchFamily="2" charset="2"/>
              <a:buChar char="Ø"/>
            </a:pPr>
            <a:r>
              <a:rPr lang="en-US" b="1" dirty="0">
                <a:highlight>
                  <a:srgbClr val="FFFF00"/>
                </a:highlight>
                <a:sym typeface="Symbol" pitchFamily="18" charset="2"/>
              </a:rPr>
              <a:t></a:t>
            </a:r>
            <a:r>
              <a:rPr lang="en-US" b="1" dirty="0">
                <a:highlight>
                  <a:srgbClr val="FFFF00"/>
                </a:highlight>
              </a:rPr>
              <a:t> and </a:t>
            </a:r>
            <a:r>
              <a:rPr lang="en-US" b="1" dirty="0">
                <a:highlight>
                  <a:srgbClr val="FFFF00"/>
                </a:highlight>
                <a:sym typeface="Symbol" pitchFamily="18" charset="2"/>
              </a:rPr>
              <a:t>  are used for conjunction </a:t>
            </a:r>
            <a:r>
              <a:rPr lang="en-US" b="1" dirty="0">
                <a:sym typeface="Symbol" pitchFamily="18" charset="2"/>
              </a:rPr>
              <a:t>with variables.</a:t>
            </a:r>
            <a:r>
              <a:rPr lang="en-US" b="1" dirty="0"/>
              <a:t> </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12</a:t>
            </a:fld>
            <a:endParaRPr lang="en-US"/>
          </a:p>
        </p:txBody>
      </p:sp>
    </p:spTree>
    <p:extLst>
      <p:ext uri="{BB962C8B-B14F-4D97-AF65-F5344CB8AC3E}">
        <p14:creationId xmlns:p14="http://schemas.microsoft.com/office/powerpoint/2010/main" val="3210060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z="3800" b="1" i="1" dirty="0">
                <a:highlight>
                  <a:srgbClr val="FFFF00"/>
                </a:highlight>
              </a:rPr>
              <a:t>Examples</a:t>
            </a:r>
          </a:p>
        </p:txBody>
      </p:sp>
      <p:sp>
        <p:nvSpPr>
          <p:cNvPr id="10243" name="Rectangle 3"/>
          <p:cNvSpPr>
            <a:spLocks noGrp="1" noChangeArrowheads="1"/>
          </p:cNvSpPr>
          <p:nvPr>
            <p:ph type="body" idx="1"/>
          </p:nvPr>
        </p:nvSpPr>
        <p:spPr>
          <a:xfrm>
            <a:off x="685800" y="1600200"/>
            <a:ext cx="8001000" cy="4800600"/>
          </a:xfrm>
        </p:spPr>
        <p:txBody>
          <a:bodyPr>
            <a:normAutofit/>
          </a:bodyPr>
          <a:lstStyle/>
          <a:p>
            <a:pPr algn="just" eaLnBrk="1" hangingPunct="1">
              <a:lnSpc>
                <a:spcPct val="90000"/>
              </a:lnSpc>
              <a:buClr>
                <a:schemeClr val="tx1"/>
              </a:buClr>
              <a:buFont typeface="Arial" charset="0"/>
              <a:buChar char="●"/>
            </a:pPr>
            <a:r>
              <a:rPr lang="en-US" sz="2800" i="1" dirty="0"/>
              <a:t>“</a:t>
            </a:r>
            <a:r>
              <a:rPr lang="en-US" sz="2800" b="1" i="1" dirty="0">
                <a:solidFill>
                  <a:srgbClr val="FF0000"/>
                </a:solidFill>
              </a:rPr>
              <a:t>x  loves y</a:t>
            </a:r>
            <a:r>
              <a:rPr lang="en-US" sz="2800" i="1" dirty="0"/>
              <a:t>”</a:t>
            </a:r>
            <a:r>
              <a:rPr lang="en-US" sz="2800" dirty="0"/>
              <a:t> is represented as </a:t>
            </a:r>
            <a:r>
              <a:rPr lang="en-US" sz="2800" b="1" dirty="0">
                <a:solidFill>
                  <a:srgbClr val="FF0000"/>
                </a:solidFill>
              </a:rPr>
              <a:t>LOVE</a:t>
            </a:r>
            <a:r>
              <a:rPr lang="en-US" sz="2800" b="1" dirty="0"/>
              <a:t>(x, y) </a:t>
            </a:r>
            <a:r>
              <a:rPr lang="en-US" sz="2800" dirty="0"/>
              <a:t>which maps it to true or false, when x and y get instantiated to actual values.</a:t>
            </a:r>
          </a:p>
          <a:p>
            <a:pPr algn="just" eaLnBrk="1" hangingPunct="1">
              <a:lnSpc>
                <a:spcPct val="90000"/>
              </a:lnSpc>
              <a:buClr>
                <a:schemeClr val="tx1"/>
              </a:buClr>
              <a:buFont typeface="Arial" charset="0"/>
              <a:buChar char="●"/>
            </a:pPr>
            <a:endParaRPr lang="en-US" sz="2800" dirty="0"/>
          </a:p>
          <a:p>
            <a:pPr algn="just" eaLnBrk="1" hangingPunct="1">
              <a:lnSpc>
                <a:spcPct val="90000"/>
              </a:lnSpc>
              <a:buClr>
                <a:schemeClr val="tx1"/>
              </a:buClr>
              <a:buFont typeface="Arial" charset="0"/>
              <a:buChar char="●"/>
            </a:pPr>
            <a:r>
              <a:rPr lang="en-US" sz="2800" i="1" dirty="0"/>
              <a:t>“</a:t>
            </a:r>
            <a:r>
              <a:rPr lang="en-US" sz="2800" b="1" i="1" dirty="0">
                <a:solidFill>
                  <a:srgbClr val="FF0000"/>
                </a:solidFill>
              </a:rPr>
              <a:t>john’s father loves john</a:t>
            </a:r>
            <a:r>
              <a:rPr lang="en-US" sz="2800" i="1" dirty="0"/>
              <a:t>”</a:t>
            </a:r>
            <a:r>
              <a:rPr lang="en-US" sz="2800" dirty="0"/>
              <a:t> is represented as </a:t>
            </a:r>
            <a:r>
              <a:rPr lang="en-US" sz="2800" b="1" dirty="0">
                <a:solidFill>
                  <a:srgbClr val="FF0000"/>
                </a:solidFill>
              </a:rPr>
              <a:t>LOVE</a:t>
            </a:r>
            <a:r>
              <a:rPr lang="en-US" sz="2800" b="1" dirty="0"/>
              <a:t>(</a:t>
            </a:r>
            <a:r>
              <a:rPr lang="en-US" sz="2800" b="1" i="1" dirty="0">
                <a:solidFill>
                  <a:srgbClr val="FF0000"/>
                </a:solidFill>
              </a:rPr>
              <a:t>father</a:t>
            </a:r>
            <a:r>
              <a:rPr lang="en-US" sz="2800" b="1" dirty="0"/>
              <a:t>(john), john). </a:t>
            </a:r>
          </a:p>
          <a:p>
            <a:pPr algn="just" eaLnBrk="1" hangingPunct="1">
              <a:lnSpc>
                <a:spcPct val="90000"/>
              </a:lnSpc>
              <a:buClr>
                <a:schemeClr val="tx1"/>
              </a:buClr>
              <a:buFont typeface="Arial" charset="0"/>
              <a:buChar char="●"/>
            </a:pPr>
            <a:endParaRPr lang="en-US" sz="2800" dirty="0"/>
          </a:p>
          <a:p>
            <a:pPr lvl="1" algn="just" eaLnBrk="1" hangingPunct="1">
              <a:lnSpc>
                <a:spcPct val="90000"/>
              </a:lnSpc>
              <a:buClr>
                <a:schemeClr val="tx1"/>
              </a:buClr>
              <a:buFont typeface="Wingdings" panose="05000000000000000000" pitchFamily="2" charset="2"/>
              <a:buChar char="v"/>
            </a:pPr>
            <a:r>
              <a:rPr lang="en-US" dirty="0"/>
              <a:t>Here </a:t>
            </a:r>
            <a:r>
              <a:rPr lang="en-US" b="1" i="1" dirty="0">
                <a:solidFill>
                  <a:srgbClr val="FF0000"/>
                </a:solidFill>
              </a:rPr>
              <a:t>father</a:t>
            </a:r>
            <a:r>
              <a:rPr lang="en-US" dirty="0"/>
              <a:t> is a </a:t>
            </a:r>
            <a:r>
              <a:rPr lang="en-US" b="1" dirty="0">
                <a:solidFill>
                  <a:srgbClr val="FF0000"/>
                </a:solidFill>
              </a:rPr>
              <a:t>function</a:t>
            </a:r>
            <a:r>
              <a:rPr lang="en-US" dirty="0"/>
              <a:t> that maps </a:t>
            </a:r>
            <a:r>
              <a:rPr lang="en-US" i="1" dirty="0"/>
              <a:t>john</a:t>
            </a:r>
            <a:r>
              <a:rPr lang="en-US" dirty="0"/>
              <a:t> to his father.</a:t>
            </a:r>
          </a:p>
        </p:txBody>
      </p:sp>
      <p:sp>
        <p:nvSpPr>
          <p:cNvPr id="4" name="Slide Number Placeholder 3"/>
          <p:cNvSpPr>
            <a:spLocks noGrp="1"/>
          </p:cNvSpPr>
          <p:nvPr>
            <p:ph type="sldNum" sz="quarter" idx="12"/>
          </p:nvPr>
        </p:nvSpPr>
        <p:spPr/>
        <p:txBody>
          <a:bodyPr/>
          <a:lstStyle/>
          <a:p>
            <a:fld id="{9DF8C9B0-BC0F-493B-9E24-C0137D72F280}" type="slidenum">
              <a:rPr lang="en-US" smtClean="0"/>
              <a:pPr/>
              <a:t>13</a:t>
            </a:fld>
            <a:endParaRPr lang="en-US"/>
          </a:p>
        </p:txBody>
      </p:sp>
      <p:sp>
        <p:nvSpPr>
          <p:cNvPr id="5" name="Footer Placeholder 4"/>
          <p:cNvSpPr>
            <a:spLocks noGrp="1"/>
          </p:cNvSpPr>
          <p:nvPr>
            <p:ph type="ftr" sz="quarter" idx="11"/>
          </p:nvPr>
        </p:nvSpPr>
        <p:spPr/>
        <p:txBody>
          <a:bodyPr/>
          <a:lstStyle/>
          <a:p>
            <a:r>
              <a:rPr lang="en-US"/>
              <a:t>©Professor Dr. A K M Akhtar Hossain         Dept. of CSE, University of Rajshahi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highlight>
                  <a:srgbClr val="FFFF00"/>
                </a:highlight>
              </a:rPr>
              <a:t>Examples</a:t>
            </a:r>
            <a:endParaRPr lang="en-US" dirty="0">
              <a:highlight>
                <a:srgbClr val="FFFF00"/>
              </a:highlight>
            </a:endParaRPr>
          </a:p>
        </p:txBody>
      </p:sp>
      <p:sp>
        <p:nvSpPr>
          <p:cNvPr id="3" name="Content Placeholder 2"/>
          <p:cNvSpPr>
            <a:spLocks noGrp="1"/>
          </p:cNvSpPr>
          <p:nvPr>
            <p:ph idx="1"/>
          </p:nvPr>
        </p:nvSpPr>
        <p:spPr>
          <a:xfrm>
            <a:off x="457200" y="1295400"/>
            <a:ext cx="8229600" cy="4830763"/>
          </a:xfrm>
        </p:spPr>
        <p:txBody>
          <a:bodyPr/>
          <a:lstStyle/>
          <a:p>
            <a:pPr>
              <a:lnSpc>
                <a:spcPct val="90000"/>
              </a:lnSpc>
              <a:buClr>
                <a:schemeClr val="tx1"/>
              </a:buClr>
              <a:buFont typeface="Arial" charset="0"/>
              <a:buChar char="●"/>
            </a:pPr>
            <a:r>
              <a:rPr lang="en-US" sz="2800" b="1" i="1" dirty="0">
                <a:solidFill>
                  <a:srgbClr val="FF0000"/>
                </a:solidFill>
              </a:rPr>
              <a:t>x is greater than y</a:t>
            </a:r>
            <a:r>
              <a:rPr lang="en-US" sz="2800" dirty="0"/>
              <a:t> is represented in predicate calculus as </a:t>
            </a:r>
            <a:r>
              <a:rPr lang="en-US" sz="2800" b="1" dirty="0">
                <a:solidFill>
                  <a:srgbClr val="FF0000"/>
                </a:solidFill>
              </a:rPr>
              <a:t>GT</a:t>
            </a:r>
            <a:r>
              <a:rPr lang="en-US" sz="2800" b="1" dirty="0"/>
              <a:t>(x, y)</a:t>
            </a:r>
            <a:r>
              <a:rPr lang="en-US" sz="2800" dirty="0"/>
              <a:t>. </a:t>
            </a:r>
          </a:p>
          <a:p>
            <a:pPr>
              <a:lnSpc>
                <a:spcPct val="90000"/>
              </a:lnSpc>
              <a:buClr>
                <a:schemeClr val="tx1"/>
              </a:buClr>
              <a:buFont typeface="Arial" charset="0"/>
              <a:buChar char="●"/>
            </a:pPr>
            <a:r>
              <a:rPr lang="en-US" sz="2800" dirty="0"/>
              <a:t>It is defined as follows:</a:t>
            </a:r>
          </a:p>
          <a:p>
            <a:pPr>
              <a:lnSpc>
                <a:spcPct val="90000"/>
              </a:lnSpc>
              <a:buClr>
                <a:schemeClr val="tx1"/>
              </a:buClr>
              <a:buNone/>
            </a:pPr>
            <a:r>
              <a:rPr lang="en-US" sz="2800" dirty="0"/>
              <a:t>		</a:t>
            </a:r>
            <a:r>
              <a:rPr lang="en-US" sz="2800" b="1" dirty="0">
                <a:solidFill>
                  <a:srgbClr val="C00000"/>
                </a:solidFill>
              </a:rPr>
              <a:t>GT( x, y) 	=   T , if x </a:t>
            </a:r>
            <a:r>
              <a:rPr lang="en-US" sz="2800" b="1" dirty="0">
                <a:solidFill>
                  <a:srgbClr val="C00000"/>
                </a:solidFill>
                <a:sym typeface="Symbol" pitchFamily="18" charset="2"/>
              </a:rPr>
              <a:t></a:t>
            </a:r>
            <a:r>
              <a:rPr lang="en-US" sz="2800" b="1" dirty="0">
                <a:solidFill>
                  <a:srgbClr val="C00000"/>
                </a:solidFill>
              </a:rPr>
              <a:t> y</a:t>
            </a:r>
          </a:p>
          <a:p>
            <a:pPr>
              <a:lnSpc>
                <a:spcPct val="90000"/>
              </a:lnSpc>
              <a:buClr>
                <a:schemeClr val="tx1"/>
              </a:buClr>
              <a:buNone/>
            </a:pPr>
            <a:r>
              <a:rPr lang="en-US" sz="2800" b="1" dirty="0">
                <a:solidFill>
                  <a:srgbClr val="C00000"/>
                </a:solidFill>
              </a:rPr>
              <a:t>			            =  F , otherwise</a:t>
            </a:r>
          </a:p>
          <a:p>
            <a:pPr>
              <a:lnSpc>
                <a:spcPct val="90000"/>
              </a:lnSpc>
              <a:buClr>
                <a:schemeClr val="tx1"/>
              </a:buClr>
              <a:buNone/>
            </a:pPr>
            <a:endParaRPr lang="en-US" sz="2800" b="1" dirty="0">
              <a:solidFill>
                <a:srgbClr val="C00000"/>
              </a:solidFill>
            </a:endParaRPr>
          </a:p>
          <a:p>
            <a:pPr algn="just">
              <a:lnSpc>
                <a:spcPct val="90000"/>
              </a:lnSpc>
              <a:buClr>
                <a:schemeClr val="tx1"/>
              </a:buClr>
              <a:buFont typeface="Arial" charset="0"/>
              <a:buChar char="●"/>
            </a:pPr>
            <a:r>
              <a:rPr lang="en-US" sz="2800" dirty="0"/>
              <a:t>Symbols like </a:t>
            </a:r>
            <a:r>
              <a:rPr lang="en-US" sz="2800" b="1" dirty="0">
                <a:solidFill>
                  <a:srgbClr val="C00000"/>
                </a:solidFill>
              </a:rPr>
              <a:t>GT</a:t>
            </a:r>
            <a:r>
              <a:rPr lang="en-US" sz="2800" dirty="0"/>
              <a:t> and </a:t>
            </a:r>
            <a:r>
              <a:rPr lang="en-US" sz="2800" b="1" dirty="0">
                <a:solidFill>
                  <a:srgbClr val="C00000"/>
                </a:solidFill>
              </a:rPr>
              <a:t>LOVE</a:t>
            </a:r>
            <a:r>
              <a:rPr lang="en-US" sz="2800" dirty="0"/>
              <a:t> are called </a:t>
            </a:r>
            <a:r>
              <a:rPr lang="en-US" sz="2800" b="1" dirty="0">
                <a:solidFill>
                  <a:srgbClr val="C00000"/>
                </a:solidFill>
              </a:rPr>
              <a:t>predicates .</a:t>
            </a:r>
          </a:p>
          <a:p>
            <a:pPr algn="just">
              <a:lnSpc>
                <a:spcPct val="90000"/>
              </a:lnSpc>
              <a:buClr>
                <a:schemeClr val="tx1"/>
              </a:buClr>
              <a:buFont typeface="Arial" charset="0"/>
              <a:buChar char="●"/>
            </a:pPr>
            <a:endParaRPr lang="en-US" sz="2800" b="1" dirty="0">
              <a:solidFill>
                <a:srgbClr val="C00000"/>
              </a:solidFill>
            </a:endParaRPr>
          </a:p>
          <a:p>
            <a:pPr lvl="1" algn="just">
              <a:lnSpc>
                <a:spcPct val="90000"/>
              </a:lnSpc>
              <a:buClr>
                <a:schemeClr val="tx1"/>
              </a:buClr>
              <a:buFont typeface="Wingdings" panose="05000000000000000000" pitchFamily="2" charset="2"/>
              <a:buChar char="v"/>
            </a:pPr>
            <a:r>
              <a:rPr lang="en-US" b="1" dirty="0"/>
              <a:t>Predicates two terms and map to T or F depending upon the values of their terms. </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14</a:t>
            </a:fld>
            <a:endParaRPr lang="en-US"/>
          </a:p>
        </p:txBody>
      </p:sp>
    </p:spTree>
    <p:extLst>
      <p:ext uri="{BB962C8B-B14F-4D97-AF65-F5344CB8AC3E}">
        <p14:creationId xmlns:p14="http://schemas.microsoft.com/office/powerpoint/2010/main" val="995461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792162"/>
          </a:xfrm>
        </p:spPr>
        <p:txBody>
          <a:bodyPr/>
          <a:lstStyle/>
          <a:p>
            <a:pPr eaLnBrk="1" hangingPunct="1"/>
            <a:r>
              <a:rPr lang="en-US" sz="3800" b="1" i="1" dirty="0">
                <a:highlight>
                  <a:srgbClr val="FFFF00"/>
                </a:highlight>
              </a:rPr>
              <a:t>Examples – Cont..</a:t>
            </a:r>
          </a:p>
        </p:txBody>
      </p:sp>
      <p:sp>
        <p:nvSpPr>
          <p:cNvPr id="11267" name="Rectangle 3"/>
          <p:cNvSpPr>
            <a:spLocks noGrp="1" noChangeArrowheads="1"/>
          </p:cNvSpPr>
          <p:nvPr>
            <p:ph type="body" idx="1"/>
          </p:nvPr>
        </p:nvSpPr>
        <p:spPr>
          <a:xfrm>
            <a:off x="1066800" y="1371600"/>
            <a:ext cx="7162800" cy="4759325"/>
          </a:xfrm>
        </p:spPr>
        <p:txBody>
          <a:bodyPr/>
          <a:lstStyle/>
          <a:p>
            <a:pPr eaLnBrk="1" hangingPunct="1">
              <a:lnSpc>
                <a:spcPct val="95000"/>
              </a:lnSpc>
              <a:buClr>
                <a:schemeClr val="tx1"/>
              </a:buClr>
              <a:buFont typeface="Arial" charset="0"/>
              <a:buChar char="●"/>
            </a:pPr>
            <a:r>
              <a:rPr lang="en-US" sz="2800" dirty="0"/>
              <a:t>Translate the sentence </a:t>
            </a:r>
            <a:r>
              <a:rPr lang="en-US" sz="2800" i="1" dirty="0"/>
              <a:t>"</a:t>
            </a:r>
            <a:r>
              <a:rPr lang="en-US" sz="2800" b="1" i="1" dirty="0">
                <a:solidFill>
                  <a:srgbClr val="C00000"/>
                </a:solidFill>
              </a:rPr>
              <a:t>Every man is mortal</a:t>
            </a:r>
            <a:r>
              <a:rPr lang="en-US" sz="2800" i="1" dirty="0"/>
              <a:t>" </a:t>
            </a:r>
            <a:r>
              <a:rPr lang="en-US" sz="2800" dirty="0"/>
              <a:t> into Predicate formula.</a:t>
            </a:r>
          </a:p>
          <a:p>
            <a:pPr eaLnBrk="1" hangingPunct="1">
              <a:lnSpc>
                <a:spcPct val="95000"/>
              </a:lnSpc>
              <a:buClr>
                <a:schemeClr val="tx1"/>
              </a:buClr>
              <a:buFont typeface="Arial" charset="0"/>
              <a:buChar char="●"/>
            </a:pPr>
            <a:r>
              <a:rPr lang="en-US" sz="2800" dirty="0"/>
              <a:t>Representation of statement in predicate form </a:t>
            </a:r>
          </a:p>
          <a:p>
            <a:pPr lvl="1" eaLnBrk="1" hangingPunct="1">
              <a:lnSpc>
                <a:spcPct val="95000"/>
              </a:lnSpc>
              <a:buClr>
                <a:schemeClr val="tx1"/>
              </a:buClr>
              <a:buFont typeface="Wingdings" panose="05000000000000000000" pitchFamily="2" charset="2"/>
              <a:buChar char="v"/>
            </a:pPr>
            <a:r>
              <a:rPr lang="en-US" dirty="0"/>
              <a:t>“</a:t>
            </a:r>
            <a:r>
              <a:rPr lang="en-US" b="1" dirty="0">
                <a:solidFill>
                  <a:srgbClr val="C00000"/>
                </a:solidFill>
              </a:rPr>
              <a:t>x is a man</a:t>
            </a:r>
            <a:r>
              <a:rPr lang="en-US" dirty="0"/>
              <a:t>”  and  “</a:t>
            </a:r>
            <a:r>
              <a:rPr lang="en-US" b="1" dirty="0">
                <a:solidFill>
                  <a:srgbClr val="C00000"/>
                </a:solidFill>
              </a:rPr>
              <a:t>MAN(x)</a:t>
            </a:r>
            <a:r>
              <a:rPr lang="en-US" dirty="0"/>
              <a:t>, </a:t>
            </a:r>
          </a:p>
          <a:p>
            <a:pPr lvl="1" eaLnBrk="1" hangingPunct="1">
              <a:lnSpc>
                <a:spcPct val="95000"/>
              </a:lnSpc>
              <a:buClr>
                <a:schemeClr val="tx1"/>
              </a:buClr>
              <a:buFont typeface="Wingdings" panose="05000000000000000000" pitchFamily="2" charset="2"/>
              <a:buChar char="v"/>
            </a:pPr>
            <a:r>
              <a:rPr lang="en-US" b="1" dirty="0">
                <a:solidFill>
                  <a:srgbClr val="C00000"/>
                </a:solidFill>
              </a:rPr>
              <a:t>x is mortal</a:t>
            </a:r>
            <a:r>
              <a:rPr lang="en-US" dirty="0"/>
              <a:t>” by </a:t>
            </a:r>
            <a:r>
              <a:rPr lang="en-US" b="1" dirty="0">
                <a:solidFill>
                  <a:srgbClr val="C00000"/>
                </a:solidFill>
              </a:rPr>
              <a:t>MORTAL(x)</a:t>
            </a:r>
          </a:p>
          <a:p>
            <a:pPr eaLnBrk="1" hangingPunct="1">
              <a:lnSpc>
                <a:spcPct val="95000"/>
              </a:lnSpc>
              <a:buClr>
                <a:schemeClr val="tx1"/>
              </a:buClr>
              <a:buFont typeface="Arial" charset="0"/>
              <a:buChar char="●"/>
            </a:pPr>
            <a:r>
              <a:rPr lang="en-US" sz="2800" dirty="0"/>
              <a:t>Every man is mortal :</a:t>
            </a:r>
          </a:p>
          <a:p>
            <a:pPr eaLnBrk="1" hangingPunct="1">
              <a:lnSpc>
                <a:spcPct val="95000"/>
              </a:lnSpc>
              <a:buFont typeface="Wingdings" pitchFamily="2" charset="2"/>
              <a:buNone/>
            </a:pPr>
            <a:r>
              <a:rPr lang="en-US" sz="2800" dirty="0"/>
              <a:t>	</a:t>
            </a:r>
            <a:r>
              <a:rPr lang="en-US" sz="2800" b="1" dirty="0">
                <a:solidFill>
                  <a:srgbClr val="C00000"/>
                </a:solidFill>
              </a:rPr>
              <a:t>(</a:t>
            </a:r>
            <a:r>
              <a:rPr lang="en-US" sz="2800" b="1" dirty="0">
                <a:solidFill>
                  <a:srgbClr val="C00000"/>
                </a:solidFill>
                <a:sym typeface="Symbol" pitchFamily="18" charset="2"/>
              </a:rPr>
              <a:t></a:t>
            </a:r>
            <a:r>
              <a:rPr lang="en-US" sz="2800" b="1" dirty="0">
                <a:solidFill>
                  <a:srgbClr val="C00000"/>
                </a:solidFill>
              </a:rPr>
              <a:t>x) (MAN(x) </a:t>
            </a:r>
            <a:r>
              <a:rPr lang="en-US" sz="2800" b="1" dirty="0">
                <a:solidFill>
                  <a:srgbClr val="C00000"/>
                </a:solidFill>
                <a:sym typeface="Symbol" pitchFamily="18" charset="2"/>
              </a:rPr>
              <a:t></a:t>
            </a:r>
            <a:r>
              <a:rPr lang="en-US" sz="2800" b="1" dirty="0">
                <a:solidFill>
                  <a:srgbClr val="C00000"/>
                </a:solidFill>
              </a:rPr>
              <a:t> MORTAL(x))</a:t>
            </a:r>
          </a:p>
          <a:p>
            <a:pPr>
              <a:lnSpc>
                <a:spcPct val="95000"/>
              </a:lnSpc>
              <a:buNone/>
            </a:pPr>
            <a:r>
              <a:rPr lang="en-US" sz="2800" b="1" dirty="0"/>
              <a:t>Here, </a:t>
            </a:r>
            <a:r>
              <a:rPr lang="en-US" sz="2800" b="1" dirty="0">
                <a:solidFill>
                  <a:srgbClr val="C00000"/>
                </a:solidFill>
                <a:sym typeface="Symbol" pitchFamily="18" charset="2"/>
              </a:rPr>
              <a:t></a:t>
            </a:r>
            <a:r>
              <a:rPr lang="en-US" sz="2800" b="1" dirty="0">
                <a:solidFill>
                  <a:srgbClr val="C00000"/>
                </a:solidFill>
              </a:rPr>
              <a:t>x</a:t>
            </a:r>
            <a:r>
              <a:rPr lang="en-US" sz="2800" b="1" dirty="0"/>
              <a:t> is read as “</a:t>
            </a:r>
            <a:r>
              <a:rPr lang="en-US" sz="2800" b="1" dirty="0">
                <a:solidFill>
                  <a:srgbClr val="C00000"/>
                </a:solidFill>
              </a:rPr>
              <a:t>for all x</a:t>
            </a:r>
            <a:r>
              <a:rPr lang="en-US" sz="2800" b="1" dirty="0"/>
              <a:t>”  and </a:t>
            </a:r>
            <a:r>
              <a:rPr lang="en-US" sz="2800" b="1" dirty="0">
                <a:solidFill>
                  <a:srgbClr val="C00000"/>
                </a:solidFill>
                <a:sym typeface="Symbol" pitchFamily="18" charset="2"/>
              </a:rPr>
              <a:t></a:t>
            </a:r>
            <a:r>
              <a:rPr lang="en-US" sz="2800" b="1" dirty="0">
                <a:sym typeface="Symbol" pitchFamily="18" charset="2"/>
              </a:rPr>
              <a:t> is read as “</a:t>
            </a:r>
            <a:r>
              <a:rPr lang="en-US" sz="2800" b="1" dirty="0">
                <a:solidFill>
                  <a:srgbClr val="C00000"/>
                </a:solidFill>
                <a:sym typeface="Symbol" pitchFamily="18" charset="2"/>
              </a:rPr>
              <a:t>implies</a:t>
            </a:r>
            <a:r>
              <a:rPr lang="en-US" sz="2800" b="1" dirty="0">
                <a:sym typeface="Symbol" pitchFamily="18" charset="2"/>
              </a:rPr>
              <a:t>”.</a:t>
            </a:r>
            <a:endParaRPr lang="en-US" sz="2800" b="1" dirty="0"/>
          </a:p>
          <a:p>
            <a:pPr eaLnBrk="1" hangingPunct="1">
              <a:lnSpc>
                <a:spcPct val="95000"/>
              </a:lnSpc>
            </a:pPr>
            <a:endParaRPr lang="en-US" sz="1400" dirty="0"/>
          </a:p>
        </p:txBody>
      </p:sp>
      <p:sp>
        <p:nvSpPr>
          <p:cNvPr id="4" name="Slide Number Placeholder 3"/>
          <p:cNvSpPr>
            <a:spLocks noGrp="1"/>
          </p:cNvSpPr>
          <p:nvPr>
            <p:ph type="sldNum" sz="quarter" idx="12"/>
          </p:nvPr>
        </p:nvSpPr>
        <p:spPr/>
        <p:txBody>
          <a:bodyPr/>
          <a:lstStyle/>
          <a:p>
            <a:fld id="{9DF8C9B0-BC0F-493B-9E24-C0137D72F280}" type="slidenum">
              <a:rPr lang="en-US" smtClean="0"/>
              <a:pPr/>
              <a:t>15</a:t>
            </a:fld>
            <a:endParaRPr lang="en-US"/>
          </a:p>
        </p:txBody>
      </p:sp>
      <p:sp>
        <p:nvSpPr>
          <p:cNvPr id="5" name="Footer Placeholder 4"/>
          <p:cNvSpPr>
            <a:spLocks noGrp="1"/>
          </p:cNvSpPr>
          <p:nvPr>
            <p:ph type="ftr" sz="quarter" idx="11"/>
          </p:nvPr>
        </p:nvSpPr>
        <p:spPr/>
        <p:txBody>
          <a:bodyPr/>
          <a:lstStyle/>
          <a:p>
            <a:r>
              <a:rPr lang="en-US"/>
              <a:t>©Professor Dr. A K M Akhtar Hossain         Dept. of CSE, University of Rajshahi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C00000"/>
                </a:solidFill>
                <a:highlight>
                  <a:srgbClr val="FFFF00"/>
                </a:highlight>
              </a:rPr>
              <a:t>Syntax and semantics for Propositional Logic</a:t>
            </a:r>
          </a:p>
        </p:txBody>
      </p:sp>
      <p:sp>
        <p:nvSpPr>
          <p:cNvPr id="3" name="Content Placeholder 2"/>
          <p:cNvSpPr>
            <a:spLocks noGrp="1"/>
          </p:cNvSpPr>
          <p:nvPr>
            <p:ph idx="1"/>
          </p:nvPr>
        </p:nvSpPr>
        <p:spPr/>
        <p:txBody>
          <a:bodyPr/>
          <a:lstStyle/>
          <a:p>
            <a:r>
              <a:rPr lang="en-US" b="1" dirty="0"/>
              <a:t>Valid statements or sentences in PL(Predicate Logic) are determined according to the rules of propositional syntax</a:t>
            </a:r>
            <a:r>
              <a:rPr lang="en-US" dirty="0"/>
              <a:t>. </a:t>
            </a:r>
          </a:p>
          <a:p>
            <a:r>
              <a:rPr lang="en-US" dirty="0"/>
              <a:t>This syntax governs the combination of basic building blocks such as propositions and logical connectives.</a:t>
            </a:r>
          </a:p>
          <a:p>
            <a:r>
              <a:rPr lang="en-US" b="1" dirty="0">
                <a:solidFill>
                  <a:srgbClr val="C00000"/>
                </a:solidFill>
              </a:rPr>
              <a:t>Propositions are elementary atomic sentences.</a:t>
            </a:r>
            <a:r>
              <a:rPr lang="en-US" b="1" dirty="0"/>
              <a:t> </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normAutofit lnSpcReduction="10000"/>
          </a:bodyPr>
          <a:lstStyle/>
          <a:p>
            <a:r>
              <a:rPr lang="en-US" b="1" dirty="0">
                <a:solidFill>
                  <a:srgbClr val="C00000"/>
                </a:solidFill>
                <a:highlight>
                  <a:srgbClr val="FFFF00"/>
                </a:highlight>
              </a:rPr>
              <a:t>Propositional Logic </a:t>
            </a:r>
            <a:r>
              <a:rPr lang="en-US" b="1" dirty="0">
                <a:solidFill>
                  <a:srgbClr val="C00000"/>
                </a:solidFill>
              </a:rPr>
              <a:t>may be either true or false but may take on no other value. </a:t>
            </a:r>
          </a:p>
          <a:p>
            <a:r>
              <a:rPr lang="en-US" b="1" dirty="0">
                <a:solidFill>
                  <a:srgbClr val="00B050"/>
                </a:solidFill>
                <a:highlight>
                  <a:srgbClr val="FFFF00"/>
                </a:highlight>
              </a:rPr>
              <a:t>Examples</a:t>
            </a:r>
            <a:r>
              <a:rPr lang="en-US" b="1" dirty="0">
                <a:solidFill>
                  <a:srgbClr val="00B050"/>
                </a:solidFill>
              </a:rPr>
              <a:t> </a:t>
            </a:r>
            <a:r>
              <a:rPr lang="en-US" dirty="0"/>
              <a:t>(</a:t>
            </a:r>
            <a:r>
              <a:rPr lang="en-US" b="1" dirty="0">
                <a:solidFill>
                  <a:srgbClr val="C00000"/>
                </a:solidFill>
              </a:rPr>
              <a:t>Simple propositions</a:t>
            </a:r>
            <a:r>
              <a:rPr lang="en-US" dirty="0"/>
              <a:t>):</a:t>
            </a:r>
          </a:p>
          <a:p>
            <a:pPr lvl="1">
              <a:buFont typeface="Wingdings" pitchFamily="2" charset="2"/>
              <a:buChar char="v"/>
            </a:pPr>
            <a:r>
              <a:rPr lang="en-US" dirty="0"/>
              <a:t> It is raining.</a:t>
            </a:r>
          </a:p>
          <a:p>
            <a:pPr lvl="1">
              <a:buFont typeface="Wingdings" pitchFamily="2" charset="2"/>
              <a:buChar char="v"/>
            </a:pPr>
            <a:r>
              <a:rPr lang="en-US" dirty="0"/>
              <a:t>It is a shining day. </a:t>
            </a:r>
          </a:p>
          <a:p>
            <a:pPr lvl="1">
              <a:buFont typeface="Wingdings" pitchFamily="2" charset="2"/>
              <a:buChar char="v"/>
            </a:pPr>
            <a:r>
              <a:rPr lang="en-US" dirty="0"/>
              <a:t>Snow is white.</a:t>
            </a:r>
          </a:p>
          <a:p>
            <a:pPr lvl="1">
              <a:buFont typeface="Wingdings" pitchFamily="2" charset="2"/>
              <a:buChar char="v"/>
            </a:pPr>
            <a:r>
              <a:rPr lang="en-US" dirty="0"/>
              <a:t>Snow is black.</a:t>
            </a:r>
          </a:p>
          <a:p>
            <a:pPr lvl="1">
              <a:buFont typeface="Wingdings" pitchFamily="2" charset="2"/>
              <a:buChar char="v"/>
            </a:pPr>
            <a:r>
              <a:rPr lang="en-US" dirty="0"/>
              <a:t>People live on the Earth.</a:t>
            </a:r>
          </a:p>
          <a:p>
            <a:pPr lvl="1">
              <a:buFont typeface="Wingdings" pitchFamily="2" charset="2"/>
              <a:buChar char="v"/>
            </a:pPr>
            <a:r>
              <a:rPr lang="en-US" dirty="0"/>
              <a:t>  People live on the Moon.</a:t>
            </a:r>
          </a:p>
          <a:p>
            <a:pPr lvl="1">
              <a:buFont typeface="Wingdings" pitchFamily="2" charset="2"/>
              <a:buChar char="v"/>
            </a:pPr>
            <a:endParaRPr lang="en-US" dirty="0"/>
          </a:p>
        </p:txBody>
      </p:sp>
      <p:sp>
        <p:nvSpPr>
          <p:cNvPr id="4" name="Footer Placeholder 3"/>
          <p:cNvSpPr>
            <a:spLocks noGrp="1"/>
          </p:cNvSpPr>
          <p:nvPr>
            <p:ph type="ftr" sz="quarter" idx="11"/>
          </p:nvPr>
        </p:nvSpPr>
        <p:spPr>
          <a:xfrm>
            <a:off x="3124200" y="6324600"/>
            <a:ext cx="2895600" cy="365125"/>
          </a:xfrm>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lstStyle/>
          <a:p>
            <a:r>
              <a:rPr lang="en-US" b="1" dirty="0"/>
              <a:t>Examples (</a:t>
            </a:r>
            <a:r>
              <a:rPr lang="en-US" b="1" dirty="0">
                <a:solidFill>
                  <a:srgbClr val="00B050"/>
                </a:solidFill>
                <a:highlight>
                  <a:srgbClr val="FFFF00"/>
                </a:highlight>
              </a:rPr>
              <a:t>Compound propositions</a:t>
            </a:r>
            <a:r>
              <a:rPr lang="en-US" dirty="0"/>
              <a:t>):</a:t>
            </a:r>
          </a:p>
          <a:p>
            <a:pPr lvl="1">
              <a:buFont typeface="Wingdings" pitchFamily="2" charset="2"/>
              <a:buChar char="v"/>
            </a:pPr>
            <a:r>
              <a:rPr lang="en-US" dirty="0"/>
              <a:t>It is raining and the wind is blowing.</a:t>
            </a:r>
          </a:p>
          <a:p>
            <a:pPr lvl="1">
              <a:buFont typeface="Wingdings" pitchFamily="2" charset="2"/>
              <a:buChar char="v"/>
            </a:pPr>
            <a:r>
              <a:rPr lang="en-US" dirty="0"/>
              <a:t>If you study hard you will be rewarded.</a:t>
            </a:r>
          </a:p>
          <a:p>
            <a:pPr lvl="1">
              <a:buFont typeface="Wingdings" pitchFamily="2" charset="2"/>
              <a:buChar char="v"/>
            </a:pPr>
            <a:r>
              <a:rPr lang="en-US" dirty="0"/>
              <a:t>The sum of 10 and 20 is not 40.</a:t>
            </a:r>
          </a:p>
          <a:p>
            <a:pPr lvl="1">
              <a:buFont typeface="Wingdings" pitchFamily="2" charset="2"/>
              <a:buChar char="v"/>
            </a:pPr>
            <a:r>
              <a:rPr lang="en-US" dirty="0"/>
              <a:t>The sum of 20 and 10 is 40.</a:t>
            </a:r>
          </a:p>
          <a:p>
            <a:r>
              <a:rPr lang="en-US" dirty="0"/>
              <a:t>T and F are special symbols having the values true and false.</a:t>
            </a:r>
          </a:p>
          <a:p>
            <a:endParaRPr lang="en-US" dirty="0"/>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Conti…</a:t>
            </a:r>
          </a:p>
        </p:txBody>
      </p:sp>
      <p:sp>
        <p:nvSpPr>
          <p:cNvPr id="3" name="Content Placeholder 2"/>
          <p:cNvSpPr>
            <a:spLocks noGrp="1"/>
          </p:cNvSpPr>
          <p:nvPr>
            <p:ph idx="1"/>
          </p:nvPr>
        </p:nvSpPr>
        <p:spPr>
          <a:xfrm>
            <a:off x="457200" y="1219200"/>
            <a:ext cx="8229600" cy="4906963"/>
          </a:xfrm>
        </p:spPr>
        <p:txBody>
          <a:bodyPr/>
          <a:lstStyle/>
          <a:p>
            <a:r>
              <a:rPr lang="en-US" b="1" dirty="0">
                <a:solidFill>
                  <a:srgbClr val="C00000"/>
                </a:solidFill>
                <a:highlight>
                  <a:srgbClr val="FFFF00"/>
                </a:highlight>
              </a:rPr>
              <a:t>Logical Connectives:</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19</a:t>
            </a:fld>
            <a:endParaRPr lang="en-US"/>
          </a:p>
        </p:txBody>
      </p:sp>
      <p:graphicFrame>
        <p:nvGraphicFramePr>
          <p:cNvPr id="6" name="Table 5"/>
          <p:cNvGraphicFramePr>
            <a:graphicFrameLocks noGrp="1"/>
          </p:cNvGraphicFramePr>
          <p:nvPr/>
        </p:nvGraphicFramePr>
        <p:xfrm>
          <a:off x="1066800" y="1828800"/>
          <a:ext cx="7620000" cy="4013542"/>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tblGrid>
              <a:tr h="444891">
                <a:tc>
                  <a:txBody>
                    <a:bodyPr/>
                    <a:lstStyle/>
                    <a:p>
                      <a:pPr algn="ctr"/>
                      <a:r>
                        <a:rPr lang="en-US" sz="2400" dirty="0"/>
                        <a:t>Symbol</a:t>
                      </a:r>
                    </a:p>
                  </a:txBody>
                  <a:tcPr/>
                </a:tc>
                <a:tc>
                  <a:txBody>
                    <a:bodyPr/>
                    <a:lstStyle/>
                    <a:p>
                      <a:pPr algn="ctr"/>
                      <a:r>
                        <a:rPr lang="en-US" sz="2400" dirty="0"/>
                        <a:t>Meaning</a:t>
                      </a:r>
                    </a:p>
                  </a:txBody>
                  <a:tcPr/>
                </a:tc>
                <a:extLst>
                  <a:ext uri="{0D108BD9-81ED-4DB2-BD59-A6C34878D82A}">
                    <a16:rowId xmlns:a16="http://schemas.microsoft.com/office/drawing/2014/main" val="10000"/>
                  </a:ext>
                </a:extLst>
              </a:tr>
              <a:tr h="778559">
                <a:tc>
                  <a:txBody>
                    <a:bodyPr/>
                    <a:lstStyle/>
                    <a:p>
                      <a:pPr algn="ctr"/>
                      <a:r>
                        <a:rPr lang="en-US" sz="2400" dirty="0"/>
                        <a:t>˜</a:t>
                      </a:r>
                    </a:p>
                    <a:p>
                      <a:pPr algn="ctr"/>
                      <a:endParaRPr lang="en-US" sz="2400" dirty="0"/>
                    </a:p>
                  </a:txBody>
                  <a:tcPr/>
                </a:tc>
                <a:tc>
                  <a:txBody>
                    <a:bodyPr/>
                    <a:lstStyle/>
                    <a:p>
                      <a:pPr algn="ctr"/>
                      <a:r>
                        <a:rPr lang="en-US" sz="2400" dirty="0"/>
                        <a:t>for not or </a:t>
                      </a:r>
                      <a:r>
                        <a:rPr lang="en-US" sz="2400" b="1" dirty="0">
                          <a:solidFill>
                            <a:srgbClr val="C00000"/>
                          </a:solidFill>
                        </a:rPr>
                        <a:t>negation</a:t>
                      </a:r>
                    </a:p>
                  </a:txBody>
                  <a:tcPr/>
                </a:tc>
                <a:extLst>
                  <a:ext uri="{0D108BD9-81ED-4DB2-BD59-A6C34878D82A}">
                    <a16:rowId xmlns:a16="http://schemas.microsoft.com/office/drawing/2014/main" val="10001"/>
                  </a:ext>
                </a:extLst>
              </a:tr>
              <a:tr h="444891">
                <a:tc>
                  <a:txBody>
                    <a:bodyPr/>
                    <a:lstStyle/>
                    <a:p>
                      <a:pPr algn="ctr"/>
                      <a:r>
                        <a:rPr lang="en-US" sz="2400" dirty="0"/>
                        <a:t>&amp;</a:t>
                      </a:r>
                    </a:p>
                  </a:txBody>
                  <a:tcPr/>
                </a:tc>
                <a:tc>
                  <a:txBody>
                    <a:bodyPr/>
                    <a:lstStyle/>
                    <a:p>
                      <a:pPr algn="ctr"/>
                      <a:r>
                        <a:rPr lang="en-US" sz="2400" dirty="0"/>
                        <a:t>for </a:t>
                      </a:r>
                      <a:r>
                        <a:rPr lang="en-US" sz="2400" b="1" dirty="0">
                          <a:solidFill>
                            <a:srgbClr val="C00000"/>
                          </a:solidFill>
                        </a:rPr>
                        <a:t>and</a:t>
                      </a:r>
                      <a:r>
                        <a:rPr lang="en-US" sz="2400" dirty="0"/>
                        <a:t> or </a:t>
                      </a:r>
                      <a:r>
                        <a:rPr lang="en-US" sz="2400" b="1" dirty="0">
                          <a:solidFill>
                            <a:srgbClr val="C00000"/>
                          </a:solidFill>
                        </a:rPr>
                        <a:t>conjunction</a:t>
                      </a:r>
                    </a:p>
                  </a:txBody>
                  <a:tcPr/>
                </a:tc>
                <a:extLst>
                  <a:ext uri="{0D108BD9-81ED-4DB2-BD59-A6C34878D82A}">
                    <a16:rowId xmlns:a16="http://schemas.microsoft.com/office/drawing/2014/main" val="10002"/>
                  </a:ext>
                </a:extLst>
              </a:tr>
              <a:tr h="630262">
                <a:tc>
                  <a:txBody>
                    <a:bodyPr/>
                    <a:lstStyle/>
                    <a:p>
                      <a:pPr algn="ctr"/>
                      <a:r>
                        <a:rPr lang="en-US" sz="2400" dirty="0"/>
                        <a:t>v</a:t>
                      </a:r>
                    </a:p>
                  </a:txBody>
                  <a:tcPr/>
                </a:tc>
                <a:tc>
                  <a:txBody>
                    <a:bodyPr/>
                    <a:lstStyle/>
                    <a:p>
                      <a:pPr algn="ctr"/>
                      <a:r>
                        <a:rPr lang="en-US" sz="2400" dirty="0"/>
                        <a:t>For </a:t>
                      </a:r>
                      <a:r>
                        <a:rPr lang="en-US" sz="2400" b="1" dirty="0">
                          <a:solidFill>
                            <a:srgbClr val="C00000"/>
                          </a:solidFill>
                        </a:rPr>
                        <a:t>or</a:t>
                      </a:r>
                      <a:r>
                        <a:rPr lang="en-US" sz="2400" dirty="0"/>
                        <a:t> </a:t>
                      </a:r>
                      <a:r>
                        <a:rPr lang="en-US" sz="2400" dirty="0" err="1"/>
                        <a:t>or</a:t>
                      </a:r>
                      <a:r>
                        <a:rPr lang="en-US" sz="2400" dirty="0"/>
                        <a:t> </a:t>
                      </a:r>
                      <a:r>
                        <a:rPr lang="en-US" sz="2400" b="1" dirty="0">
                          <a:solidFill>
                            <a:srgbClr val="C00000"/>
                          </a:solidFill>
                        </a:rPr>
                        <a:t>disjunction</a:t>
                      </a:r>
                    </a:p>
                  </a:txBody>
                  <a:tcPr/>
                </a:tc>
                <a:extLst>
                  <a:ext uri="{0D108BD9-81ED-4DB2-BD59-A6C34878D82A}">
                    <a16:rowId xmlns:a16="http://schemas.microsoft.com/office/drawing/2014/main" val="10003"/>
                  </a:ext>
                </a:extLst>
              </a:tr>
              <a:tr h="778559">
                <a:tc>
                  <a:txBody>
                    <a:bodyPr/>
                    <a:lstStyle/>
                    <a:p>
                      <a:pPr algn="ctr"/>
                      <a:r>
                        <a:rPr lang="en-US" sz="2400" dirty="0"/>
                        <a:t>→</a:t>
                      </a:r>
                    </a:p>
                  </a:txBody>
                  <a:tcPr/>
                </a:tc>
                <a:tc>
                  <a:txBody>
                    <a:bodyPr/>
                    <a:lstStyle/>
                    <a:p>
                      <a:pPr algn="ctr"/>
                      <a:r>
                        <a:rPr lang="en-US" sz="2400" dirty="0"/>
                        <a:t>For </a:t>
                      </a:r>
                      <a:r>
                        <a:rPr lang="en-US" sz="2400" b="1" dirty="0">
                          <a:solidFill>
                            <a:srgbClr val="C00000"/>
                          </a:solidFill>
                        </a:rPr>
                        <a:t>if …  then </a:t>
                      </a:r>
                      <a:r>
                        <a:rPr lang="en-US" sz="2400" dirty="0"/>
                        <a:t>or </a:t>
                      </a:r>
                      <a:r>
                        <a:rPr lang="en-US" sz="2400" b="1" dirty="0">
                          <a:solidFill>
                            <a:srgbClr val="C00000"/>
                          </a:solidFill>
                        </a:rPr>
                        <a:t>implication</a:t>
                      </a:r>
                    </a:p>
                    <a:p>
                      <a:pPr algn="ctr"/>
                      <a:endParaRPr lang="en-US" sz="2400" dirty="0"/>
                    </a:p>
                  </a:txBody>
                  <a:tcPr/>
                </a:tc>
                <a:extLst>
                  <a:ext uri="{0D108BD9-81ED-4DB2-BD59-A6C34878D82A}">
                    <a16:rowId xmlns:a16="http://schemas.microsoft.com/office/drawing/2014/main" val="10004"/>
                  </a:ext>
                </a:extLst>
              </a:tr>
              <a:tr h="778559">
                <a:tc>
                  <a:txBody>
                    <a:bodyPr/>
                    <a:lstStyle/>
                    <a:p>
                      <a:pPr algn="ctr"/>
                      <a:r>
                        <a:rPr lang="en-US" sz="2400" dirty="0"/>
                        <a:t>↔</a:t>
                      </a:r>
                    </a:p>
                  </a:txBody>
                  <a:tcPr/>
                </a:tc>
                <a:tc>
                  <a:txBody>
                    <a:bodyPr/>
                    <a:lstStyle/>
                    <a:p>
                      <a:pPr algn="ctr"/>
                      <a:r>
                        <a:rPr lang="en-US" sz="2400" dirty="0"/>
                        <a:t>For </a:t>
                      </a:r>
                      <a:r>
                        <a:rPr lang="en-US" sz="2400" b="1" dirty="0">
                          <a:solidFill>
                            <a:srgbClr val="C00000"/>
                          </a:solidFill>
                        </a:rPr>
                        <a:t>if and only if </a:t>
                      </a:r>
                      <a:r>
                        <a:rPr lang="en-US" sz="2400" dirty="0"/>
                        <a:t>or </a:t>
                      </a:r>
                      <a:r>
                        <a:rPr lang="en-US" sz="2400" b="1" dirty="0">
                          <a:solidFill>
                            <a:srgbClr val="C00000"/>
                          </a:solidFill>
                        </a:rPr>
                        <a:t>double implication</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Syntax</a:t>
            </a:r>
          </a:p>
        </p:txBody>
      </p:sp>
      <p:sp>
        <p:nvSpPr>
          <p:cNvPr id="3" name="Content Placeholder 2"/>
          <p:cNvSpPr>
            <a:spLocks noGrp="1"/>
          </p:cNvSpPr>
          <p:nvPr>
            <p:ph idx="1"/>
          </p:nvPr>
        </p:nvSpPr>
        <p:spPr/>
        <p:txBody>
          <a:bodyPr>
            <a:normAutofit/>
          </a:bodyPr>
          <a:lstStyle/>
          <a:p>
            <a:r>
              <a:rPr lang="en-US" sz="2400" dirty="0">
                <a:highlight>
                  <a:srgbClr val="FFFF00"/>
                </a:highlight>
              </a:rPr>
              <a:t>The syntax of PL </a:t>
            </a:r>
            <a:r>
              <a:rPr lang="en-US" sz="2400" dirty="0"/>
              <a:t>is defined recursively as follows:</a:t>
            </a:r>
          </a:p>
          <a:p>
            <a:r>
              <a:rPr lang="en-US" sz="2400" dirty="0"/>
              <a:t>T and F are formulas.</a:t>
            </a:r>
          </a:p>
          <a:p>
            <a:r>
              <a:rPr lang="en-US" sz="2400" dirty="0"/>
              <a:t>IF P and Q are formulas, the following are also formulas: </a:t>
            </a:r>
          </a:p>
          <a:p>
            <a:r>
              <a:rPr lang="en-US" sz="2400" dirty="0"/>
              <a:t> (˜P)</a:t>
            </a:r>
          </a:p>
          <a:p>
            <a:r>
              <a:rPr lang="en-US" sz="2400" dirty="0"/>
              <a:t>(P&amp;Q)</a:t>
            </a:r>
          </a:p>
          <a:p>
            <a:r>
              <a:rPr lang="en-US" sz="2400" dirty="0"/>
              <a:t>(PVQ)</a:t>
            </a:r>
          </a:p>
          <a:p>
            <a:r>
              <a:rPr lang="en-US" sz="2400" dirty="0"/>
              <a:t>(P→Q)</a:t>
            </a:r>
          </a:p>
          <a:p>
            <a:r>
              <a:rPr lang="en-US" sz="2400" dirty="0"/>
              <a:t>(P↔Q)</a:t>
            </a:r>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highlight>
                  <a:srgbClr val="FFFF00"/>
                </a:highlight>
              </a:rPr>
              <a:t>Examples</a:t>
            </a:r>
          </a:p>
        </p:txBody>
      </p:sp>
      <p:sp>
        <p:nvSpPr>
          <p:cNvPr id="3" name="Content Placeholder 2"/>
          <p:cNvSpPr>
            <a:spLocks noGrp="1"/>
          </p:cNvSpPr>
          <p:nvPr>
            <p:ph idx="1"/>
          </p:nvPr>
        </p:nvSpPr>
        <p:spPr/>
        <p:txBody>
          <a:bodyPr>
            <a:normAutofit lnSpcReduction="10000"/>
          </a:bodyPr>
          <a:lstStyle/>
          <a:p>
            <a:r>
              <a:rPr lang="en-US" altLang="en-US" dirty="0"/>
              <a:t>1. Marcus was a man.</a:t>
            </a:r>
          </a:p>
          <a:p>
            <a:r>
              <a:rPr lang="en-US" altLang="en-US" dirty="0"/>
              <a:t>PL: Man(Marcus)</a:t>
            </a:r>
          </a:p>
          <a:p>
            <a:r>
              <a:rPr lang="en-US" altLang="en-US" dirty="0"/>
              <a:t>2. Marcus was a Pompeian.</a:t>
            </a:r>
          </a:p>
          <a:p>
            <a:r>
              <a:rPr lang="en-US" altLang="en-US" dirty="0"/>
              <a:t>PL: Pompeian(Marcus)</a:t>
            </a:r>
          </a:p>
          <a:p>
            <a:r>
              <a:rPr lang="en-US" altLang="en-US" dirty="0"/>
              <a:t>3. All Pompeian's were Romans.</a:t>
            </a:r>
          </a:p>
          <a:p>
            <a:r>
              <a:rPr lang="en-US" altLang="en-US" dirty="0"/>
              <a:t>PL: </a:t>
            </a:r>
            <a:r>
              <a:rPr lang="en-US" altLang="en-US" dirty="0">
                <a:sym typeface="Symbol" panose="05050102010706020507" pitchFamily="18" charset="2"/>
              </a:rPr>
              <a:t>x :Pompeian(x) → Roman(x)</a:t>
            </a:r>
          </a:p>
          <a:p>
            <a:r>
              <a:rPr lang="en-US" altLang="en-US" dirty="0">
                <a:sym typeface="Symbol" panose="05050102010706020507" pitchFamily="18" charset="2"/>
              </a:rPr>
              <a:t>4. Caesar was a ruler.</a:t>
            </a:r>
          </a:p>
          <a:p>
            <a:r>
              <a:rPr lang="en-US" altLang="en-US" dirty="0">
                <a:sym typeface="Symbol" panose="05050102010706020507" pitchFamily="18" charset="2"/>
              </a:rPr>
              <a:t>PL: </a:t>
            </a:r>
            <a:r>
              <a:rPr lang="en-US" altLang="en-US" dirty="0" err="1">
                <a:sym typeface="Symbol" panose="05050102010706020507" pitchFamily="18" charset="2"/>
              </a:rPr>
              <a:t>Rular</a:t>
            </a:r>
            <a:r>
              <a:rPr lang="en-US" altLang="en-US" dirty="0">
                <a:sym typeface="Symbol" panose="05050102010706020507" pitchFamily="18" charset="2"/>
              </a:rPr>
              <a:t>(Caesar)</a:t>
            </a:r>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21</a:t>
            </a:fld>
            <a:endParaRPr lang="en-US"/>
          </a:p>
        </p:txBody>
      </p:sp>
    </p:spTree>
    <p:extLst>
      <p:ext uri="{BB962C8B-B14F-4D97-AF65-F5344CB8AC3E}">
        <p14:creationId xmlns:p14="http://schemas.microsoft.com/office/powerpoint/2010/main" val="3863668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highlight>
                  <a:srgbClr val="FFFF00"/>
                </a:highlight>
              </a:rPr>
              <a:t>Examples</a:t>
            </a:r>
          </a:p>
        </p:txBody>
      </p:sp>
      <p:sp>
        <p:nvSpPr>
          <p:cNvPr id="3" name="Content Placeholder 2"/>
          <p:cNvSpPr>
            <a:spLocks noGrp="1"/>
          </p:cNvSpPr>
          <p:nvPr>
            <p:ph idx="1"/>
          </p:nvPr>
        </p:nvSpPr>
        <p:spPr>
          <a:xfrm>
            <a:off x="0" y="990600"/>
            <a:ext cx="9144000" cy="5257800"/>
          </a:xfrm>
        </p:spPr>
        <p:txBody>
          <a:bodyPr>
            <a:normAutofit lnSpcReduction="10000"/>
          </a:bodyPr>
          <a:lstStyle/>
          <a:p>
            <a:r>
              <a:rPr lang="en-US" dirty="0"/>
              <a:t>Represent the following facts in predicate logic:</a:t>
            </a:r>
          </a:p>
          <a:p>
            <a:r>
              <a:rPr lang="en-US" i="1" dirty="0"/>
              <a:t>(</a:t>
            </a:r>
            <a:r>
              <a:rPr lang="en-US" i="1" dirty="0" err="1"/>
              <a:t>i</a:t>
            </a:r>
            <a:r>
              <a:rPr lang="en-US" i="1" dirty="0"/>
              <a:t>). All employees earning Tk. 3,00,000/= or more per year  have to pay taxes.</a:t>
            </a:r>
            <a:r>
              <a:rPr lang="en-US" b="1" dirty="0">
                <a:sym typeface="Symbol" pitchFamily="18" charset="2"/>
              </a:rPr>
              <a:t> </a:t>
            </a:r>
            <a:endParaRPr lang="en-US" i="1" dirty="0"/>
          </a:p>
          <a:p>
            <a:r>
              <a:rPr lang="en-US" b="1" dirty="0">
                <a:sym typeface="Symbol" pitchFamily="18" charset="2"/>
              </a:rPr>
              <a:t></a:t>
            </a:r>
            <a:r>
              <a:rPr lang="en-US" dirty="0">
                <a:sym typeface="Symbol" pitchFamily="18" charset="2"/>
              </a:rPr>
              <a:t>x </a:t>
            </a:r>
            <a:r>
              <a:rPr lang="en-US" b="1" dirty="0">
                <a:solidFill>
                  <a:srgbClr val="C00000"/>
                </a:solidFill>
                <a:sym typeface="Symbol" pitchFamily="18" charset="2"/>
              </a:rPr>
              <a:t>(</a:t>
            </a:r>
            <a:r>
              <a:rPr lang="en-US" b="1" dirty="0">
                <a:solidFill>
                  <a:srgbClr val="00B050"/>
                </a:solidFill>
                <a:sym typeface="Symbol" pitchFamily="18" charset="2"/>
              </a:rPr>
              <a:t>(</a:t>
            </a:r>
            <a:r>
              <a:rPr lang="en-US" dirty="0">
                <a:sym typeface="Symbol" pitchFamily="18" charset="2"/>
              </a:rPr>
              <a:t>E(x) &amp; GE</a:t>
            </a:r>
            <a:r>
              <a:rPr lang="en-US" b="1" dirty="0">
                <a:solidFill>
                  <a:srgbClr val="0070C0"/>
                </a:solidFill>
                <a:sym typeface="Symbol" pitchFamily="18" charset="2"/>
              </a:rPr>
              <a:t>(</a:t>
            </a:r>
            <a:r>
              <a:rPr lang="en-US" dirty="0" err="1">
                <a:sym typeface="Symbol" pitchFamily="18" charset="2"/>
              </a:rPr>
              <a:t>i</a:t>
            </a:r>
            <a:r>
              <a:rPr lang="en-US" dirty="0">
                <a:sym typeface="Symbol" pitchFamily="18" charset="2"/>
              </a:rPr>
              <a:t>(x),</a:t>
            </a:r>
            <a:r>
              <a:rPr lang="en-US" i="1" dirty="0"/>
              <a:t> 300000</a:t>
            </a:r>
            <a:r>
              <a:rPr lang="en-US" b="1" dirty="0">
                <a:solidFill>
                  <a:srgbClr val="0070C0"/>
                </a:solidFill>
                <a:sym typeface="Symbol" pitchFamily="18" charset="2"/>
              </a:rPr>
              <a:t>)</a:t>
            </a:r>
            <a:r>
              <a:rPr lang="en-US" b="1" dirty="0">
                <a:solidFill>
                  <a:srgbClr val="00B050"/>
                </a:solidFill>
                <a:sym typeface="Symbol" pitchFamily="18" charset="2"/>
              </a:rPr>
              <a:t>)</a:t>
            </a:r>
            <a:r>
              <a:rPr lang="en-US" dirty="0"/>
              <a:t> →T(x)</a:t>
            </a:r>
            <a:r>
              <a:rPr lang="en-US" b="1" dirty="0">
                <a:solidFill>
                  <a:srgbClr val="C00000"/>
                </a:solidFill>
              </a:rPr>
              <a:t>)</a:t>
            </a:r>
            <a:endParaRPr lang="en-US" i="1" dirty="0"/>
          </a:p>
          <a:p>
            <a:r>
              <a:rPr lang="en-US" i="1" dirty="0"/>
              <a:t>(ii).  People only try to assassinate rulers they are not loyal to.</a:t>
            </a:r>
          </a:p>
          <a:p>
            <a:r>
              <a:rPr lang="en-US" dirty="0">
                <a:sym typeface="Symbol" pitchFamily="18" charset="2"/>
              </a:rPr>
              <a:t>y: x : person(x) Ʌ ruler(y) Ʌ </a:t>
            </a:r>
            <a:r>
              <a:rPr lang="en-US" dirty="0" err="1">
                <a:sym typeface="Symbol" pitchFamily="18" charset="2"/>
              </a:rPr>
              <a:t>tryassassinate</a:t>
            </a:r>
            <a:r>
              <a:rPr lang="en-US" dirty="0">
                <a:sym typeface="Symbol" pitchFamily="18" charset="2"/>
              </a:rPr>
              <a:t>(x, y) → ¬</a:t>
            </a:r>
            <a:r>
              <a:rPr lang="en-US" dirty="0" err="1">
                <a:sym typeface="Symbol" pitchFamily="18" charset="2"/>
              </a:rPr>
              <a:t>loyalto</a:t>
            </a:r>
            <a:r>
              <a:rPr lang="en-US" dirty="0">
                <a:sym typeface="Symbol" pitchFamily="18" charset="2"/>
              </a:rPr>
              <a:t> (x, y)</a:t>
            </a:r>
            <a:endParaRPr lang="en-US" dirty="0"/>
          </a:p>
          <a:p>
            <a:r>
              <a:rPr lang="en-US" i="1" dirty="0"/>
              <a:t>(iii). John likes all kinds of food.</a:t>
            </a:r>
          </a:p>
          <a:p>
            <a:r>
              <a:rPr lang="en-US" i="1" dirty="0"/>
              <a:t>Like (john, all-kinds-of-food)</a:t>
            </a:r>
            <a:endParaRPr lang="en-US" dirty="0"/>
          </a:p>
          <a:p>
            <a:endParaRPr lang="en-US" i="1" dirty="0"/>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ighlight>
                  <a:srgbClr val="FFFF00"/>
                </a:highlight>
              </a:rPr>
              <a:t>Semantics</a:t>
            </a:r>
          </a:p>
        </p:txBody>
      </p:sp>
      <p:sp>
        <p:nvSpPr>
          <p:cNvPr id="3" name="Content Placeholder 2"/>
          <p:cNvSpPr>
            <a:spLocks noGrp="1"/>
          </p:cNvSpPr>
          <p:nvPr>
            <p:ph idx="1"/>
          </p:nvPr>
        </p:nvSpPr>
        <p:spPr/>
        <p:txBody>
          <a:bodyPr/>
          <a:lstStyle/>
          <a:p>
            <a:r>
              <a:rPr lang="en-US" b="1" dirty="0">
                <a:solidFill>
                  <a:srgbClr val="C00000"/>
                </a:solidFill>
              </a:rPr>
              <a:t>The semantics or meaning of a sentence is just the value true or false: that is, it is as assignment of a truth value to the sentences. </a:t>
            </a:r>
          </a:p>
          <a:p>
            <a:r>
              <a:rPr lang="en-US" dirty="0"/>
              <a:t>An interpretation for a sentence or group of sentences in an assignment of the truth value to each propositional symbol.</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Conti…</a:t>
            </a:r>
            <a:br>
              <a:rPr lang="en-US" dirty="0"/>
            </a:br>
            <a:endParaRPr lang="en-US" dirty="0"/>
          </a:p>
        </p:txBody>
      </p:sp>
      <p:sp>
        <p:nvSpPr>
          <p:cNvPr id="3" name="Content Placeholder 2"/>
          <p:cNvSpPr>
            <a:spLocks noGrp="1"/>
          </p:cNvSpPr>
          <p:nvPr>
            <p:ph idx="1"/>
          </p:nvPr>
        </p:nvSpPr>
        <p:spPr/>
        <p:txBody>
          <a:bodyPr/>
          <a:lstStyle/>
          <a:p>
            <a:r>
              <a:rPr lang="en-US" b="1" dirty="0">
                <a:solidFill>
                  <a:srgbClr val="C00000"/>
                </a:solidFill>
                <a:highlight>
                  <a:srgbClr val="FFFF00"/>
                </a:highlight>
              </a:rPr>
              <a:t>Example: </a:t>
            </a:r>
            <a:r>
              <a:rPr lang="en-US" dirty="0"/>
              <a:t>Consider the statement  = (P &amp; ~Q)</a:t>
            </a:r>
          </a:p>
          <a:p>
            <a:r>
              <a:rPr lang="en-US" dirty="0"/>
              <a:t>Clearly, there are four distinct interpretations for this sentences.</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24</a:t>
            </a:fld>
            <a:endParaRPr lang="en-US"/>
          </a:p>
        </p:txBody>
      </p:sp>
      <p:graphicFrame>
        <p:nvGraphicFramePr>
          <p:cNvPr id="6" name="Table 5"/>
          <p:cNvGraphicFramePr>
            <a:graphicFrameLocks noGrp="1"/>
          </p:cNvGraphicFramePr>
          <p:nvPr/>
        </p:nvGraphicFramePr>
        <p:xfrm>
          <a:off x="990599" y="3276600"/>
          <a:ext cx="6477001" cy="2514600"/>
        </p:xfrm>
        <a:graphic>
          <a:graphicData uri="http://schemas.openxmlformats.org/drawingml/2006/table">
            <a:tbl>
              <a:tblPr firstRow="1" bandRow="1">
                <a:tableStyleId>{5C22544A-7EE6-4342-B048-85BDC9FD1C3A}</a:tableStyleId>
              </a:tblPr>
              <a:tblGrid>
                <a:gridCol w="2024063">
                  <a:extLst>
                    <a:ext uri="{9D8B030D-6E8A-4147-A177-3AD203B41FA5}">
                      <a16:colId xmlns:a16="http://schemas.microsoft.com/office/drawing/2014/main" val="20000"/>
                    </a:ext>
                  </a:extLst>
                </a:gridCol>
                <a:gridCol w="2293938">
                  <a:extLst>
                    <a:ext uri="{9D8B030D-6E8A-4147-A177-3AD203B41FA5}">
                      <a16:colId xmlns:a16="http://schemas.microsoft.com/office/drawing/2014/main" val="20001"/>
                    </a:ext>
                  </a:extLst>
                </a:gridCol>
                <a:gridCol w="2159000">
                  <a:extLst>
                    <a:ext uri="{9D8B030D-6E8A-4147-A177-3AD203B41FA5}">
                      <a16:colId xmlns:a16="http://schemas.microsoft.com/office/drawing/2014/main" val="20002"/>
                    </a:ext>
                  </a:extLst>
                </a:gridCol>
              </a:tblGrid>
              <a:tr h="502920">
                <a:tc>
                  <a:txBody>
                    <a:bodyPr/>
                    <a:lstStyle/>
                    <a:p>
                      <a:pPr algn="ctr"/>
                      <a:r>
                        <a:rPr lang="en-US" sz="2400" dirty="0"/>
                        <a:t>Interpretation</a:t>
                      </a:r>
                    </a:p>
                  </a:txBody>
                  <a:tcPr/>
                </a:tc>
                <a:tc>
                  <a:txBody>
                    <a:bodyPr/>
                    <a:lstStyle/>
                    <a:p>
                      <a:pPr algn="ctr"/>
                      <a:r>
                        <a:rPr lang="en-US" sz="2400" dirty="0"/>
                        <a:t>P</a:t>
                      </a:r>
                    </a:p>
                  </a:txBody>
                  <a:tcPr/>
                </a:tc>
                <a:tc>
                  <a:txBody>
                    <a:bodyPr/>
                    <a:lstStyle/>
                    <a:p>
                      <a:pPr algn="ctr"/>
                      <a:r>
                        <a:rPr lang="en-US" sz="2400" dirty="0"/>
                        <a:t>Q</a:t>
                      </a:r>
                    </a:p>
                  </a:txBody>
                  <a:tcPr/>
                </a:tc>
                <a:extLst>
                  <a:ext uri="{0D108BD9-81ED-4DB2-BD59-A6C34878D82A}">
                    <a16:rowId xmlns:a16="http://schemas.microsoft.com/office/drawing/2014/main" val="10000"/>
                  </a:ext>
                </a:extLst>
              </a:tr>
              <a:tr h="502920">
                <a:tc>
                  <a:txBody>
                    <a:bodyPr/>
                    <a:lstStyle/>
                    <a:p>
                      <a:pPr algn="ctr"/>
                      <a:r>
                        <a:rPr lang="en-US" sz="2400" dirty="0"/>
                        <a:t>1</a:t>
                      </a:r>
                    </a:p>
                  </a:txBody>
                  <a:tcPr/>
                </a:tc>
                <a:tc>
                  <a:txBody>
                    <a:bodyPr/>
                    <a:lstStyle/>
                    <a:p>
                      <a:pPr algn="ctr"/>
                      <a:r>
                        <a:rPr lang="en-US" sz="2400" dirty="0"/>
                        <a:t>True</a:t>
                      </a:r>
                    </a:p>
                  </a:txBody>
                  <a:tcPr/>
                </a:tc>
                <a:tc>
                  <a:txBody>
                    <a:bodyPr/>
                    <a:lstStyle/>
                    <a:p>
                      <a:pPr algn="ctr"/>
                      <a:r>
                        <a:rPr lang="en-US" sz="2400" dirty="0"/>
                        <a:t>False</a:t>
                      </a:r>
                    </a:p>
                  </a:txBody>
                  <a:tcPr/>
                </a:tc>
                <a:extLst>
                  <a:ext uri="{0D108BD9-81ED-4DB2-BD59-A6C34878D82A}">
                    <a16:rowId xmlns:a16="http://schemas.microsoft.com/office/drawing/2014/main" val="10001"/>
                  </a:ext>
                </a:extLst>
              </a:tr>
              <a:tr h="502920">
                <a:tc>
                  <a:txBody>
                    <a:bodyPr/>
                    <a:lstStyle/>
                    <a:p>
                      <a:pPr algn="ctr"/>
                      <a:r>
                        <a:rPr lang="en-US" sz="2400" dirty="0"/>
                        <a:t>2</a:t>
                      </a:r>
                    </a:p>
                  </a:txBody>
                  <a:tcPr/>
                </a:tc>
                <a:tc>
                  <a:txBody>
                    <a:bodyPr/>
                    <a:lstStyle/>
                    <a:p>
                      <a:pPr algn="ctr"/>
                      <a:r>
                        <a:rPr lang="en-US" sz="2400" dirty="0"/>
                        <a:t>True</a:t>
                      </a:r>
                    </a:p>
                  </a:txBody>
                  <a:tcPr/>
                </a:tc>
                <a:tc>
                  <a:txBody>
                    <a:bodyPr/>
                    <a:lstStyle/>
                    <a:p>
                      <a:pPr algn="ctr"/>
                      <a:r>
                        <a:rPr lang="en-US" sz="2400" dirty="0"/>
                        <a:t>True</a:t>
                      </a:r>
                    </a:p>
                  </a:txBody>
                  <a:tcPr/>
                </a:tc>
                <a:extLst>
                  <a:ext uri="{0D108BD9-81ED-4DB2-BD59-A6C34878D82A}">
                    <a16:rowId xmlns:a16="http://schemas.microsoft.com/office/drawing/2014/main" val="10002"/>
                  </a:ext>
                </a:extLst>
              </a:tr>
              <a:tr h="502920">
                <a:tc>
                  <a:txBody>
                    <a:bodyPr/>
                    <a:lstStyle/>
                    <a:p>
                      <a:pPr algn="ctr"/>
                      <a:r>
                        <a:rPr lang="en-US" sz="2400" dirty="0"/>
                        <a:t>3</a:t>
                      </a:r>
                    </a:p>
                  </a:txBody>
                  <a:tcPr/>
                </a:tc>
                <a:tc>
                  <a:txBody>
                    <a:bodyPr/>
                    <a:lstStyle/>
                    <a:p>
                      <a:pPr algn="ctr"/>
                      <a:r>
                        <a:rPr lang="en-US" sz="2400" dirty="0"/>
                        <a:t>False</a:t>
                      </a:r>
                    </a:p>
                  </a:txBody>
                  <a:tcPr/>
                </a:tc>
                <a:tc>
                  <a:txBody>
                    <a:bodyPr/>
                    <a:lstStyle/>
                    <a:p>
                      <a:pPr algn="ctr"/>
                      <a:r>
                        <a:rPr lang="en-US" sz="2400" dirty="0"/>
                        <a:t>True</a:t>
                      </a:r>
                    </a:p>
                  </a:txBody>
                  <a:tcPr/>
                </a:tc>
                <a:extLst>
                  <a:ext uri="{0D108BD9-81ED-4DB2-BD59-A6C34878D82A}">
                    <a16:rowId xmlns:a16="http://schemas.microsoft.com/office/drawing/2014/main" val="10003"/>
                  </a:ext>
                </a:extLst>
              </a:tr>
              <a:tr h="502920">
                <a:tc>
                  <a:txBody>
                    <a:bodyPr/>
                    <a:lstStyle/>
                    <a:p>
                      <a:pPr algn="ctr"/>
                      <a:r>
                        <a:rPr lang="en-US" sz="2400" dirty="0"/>
                        <a:t>4</a:t>
                      </a:r>
                    </a:p>
                  </a:txBody>
                  <a:tcPr/>
                </a:tc>
                <a:tc>
                  <a:txBody>
                    <a:bodyPr/>
                    <a:lstStyle/>
                    <a:p>
                      <a:pPr algn="ctr"/>
                      <a:r>
                        <a:rPr lang="en-US" sz="2400" dirty="0"/>
                        <a:t>False</a:t>
                      </a:r>
                    </a:p>
                  </a:txBody>
                  <a:tcPr/>
                </a:tc>
                <a:tc>
                  <a:txBody>
                    <a:bodyPr/>
                    <a:lstStyle/>
                    <a:p>
                      <a:pPr algn="ctr"/>
                      <a:r>
                        <a:rPr lang="en-US" sz="2400" dirty="0"/>
                        <a:t>False</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b="1" dirty="0">
                <a:highlight>
                  <a:srgbClr val="FFFF00"/>
                </a:highlight>
              </a:rPr>
              <a:t>Semantic Rules for statements</a:t>
            </a:r>
          </a:p>
        </p:txBody>
      </p:sp>
      <p:sp>
        <p:nvSpPr>
          <p:cNvPr id="3" name="Content Placeholder 2"/>
          <p:cNvSpPr>
            <a:spLocks noGrp="1"/>
          </p:cNvSpPr>
          <p:nvPr>
            <p:ph idx="1"/>
          </p:nvPr>
        </p:nvSpPr>
        <p:spPr>
          <a:xfrm>
            <a:off x="457200" y="1066801"/>
            <a:ext cx="8229600" cy="685800"/>
          </a:xfrm>
        </p:spPr>
        <p:txBody>
          <a:bodyPr>
            <a:normAutofit fontScale="92500" lnSpcReduction="20000"/>
          </a:bodyPr>
          <a:lstStyle/>
          <a:p>
            <a:pPr algn="ctr">
              <a:buNone/>
            </a:pPr>
            <a:r>
              <a:rPr lang="en-US" sz="2600" b="1" dirty="0"/>
              <a:t>Consider </a:t>
            </a:r>
            <a:r>
              <a:rPr lang="en-US" sz="2600" b="1" dirty="0">
                <a:solidFill>
                  <a:srgbClr val="FF0000"/>
                </a:solidFill>
              </a:rPr>
              <a:t>t and t</a:t>
            </a:r>
            <a:r>
              <a:rPr lang="en-US" sz="2600" b="1" baseline="30000" dirty="0">
                <a:solidFill>
                  <a:srgbClr val="FF0000"/>
                </a:solidFill>
              </a:rPr>
              <a:t>'</a:t>
            </a:r>
            <a:r>
              <a:rPr lang="en-US" sz="2600" b="1" dirty="0">
                <a:solidFill>
                  <a:srgbClr val="FF0000"/>
                </a:solidFill>
              </a:rPr>
              <a:t> denotes true statements</a:t>
            </a:r>
            <a:r>
              <a:rPr lang="en-US" sz="2600" b="1" dirty="0"/>
              <a:t>, </a:t>
            </a:r>
            <a:r>
              <a:rPr lang="en-US" sz="2600" b="1" dirty="0">
                <a:solidFill>
                  <a:srgbClr val="00B050"/>
                </a:solidFill>
              </a:rPr>
              <a:t>f and f' denotes false </a:t>
            </a:r>
            <a:r>
              <a:rPr lang="en-US" sz="2600" b="1" dirty="0"/>
              <a:t>statements, and </a:t>
            </a:r>
            <a:r>
              <a:rPr lang="en-US" sz="2600" b="1" dirty="0">
                <a:solidFill>
                  <a:srgbClr val="002060"/>
                </a:solidFill>
              </a:rPr>
              <a:t>a is any statement</a:t>
            </a:r>
            <a:r>
              <a:rPr lang="en-US" sz="2600" b="1" dirty="0"/>
              <a:t>.</a:t>
            </a:r>
          </a:p>
          <a:p>
            <a:pPr>
              <a:buNone/>
            </a:pPr>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25</a:t>
            </a:fld>
            <a:endParaRPr lang="en-US"/>
          </a:p>
        </p:txBody>
      </p:sp>
      <p:pic>
        <p:nvPicPr>
          <p:cNvPr id="1027" name="Picture 3"/>
          <p:cNvPicPr>
            <a:picLocks noChangeAspect="1" noChangeArrowheads="1"/>
          </p:cNvPicPr>
          <p:nvPr/>
        </p:nvPicPr>
        <p:blipFill>
          <a:blip r:embed="rId2"/>
          <a:srcRect/>
          <a:stretch>
            <a:fillRect/>
          </a:stretch>
        </p:blipFill>
        <p:spPr bwMode="auto">
          <a:xfrm>
            <a:off x="76200" y="1844675"/>
            <a:ext cx="8991599" cy="4419601"/>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b="1" dirty="0">
                <a:solidFill>
                  <a:srgbClr val="C00000"/>
                </a:solidFill>
                <a:highlight>
                  <a:srgbClr val="FFFF00"/>
                </a:highlight>
              </a:rPr>
              <a:t>Example:</a:t>
            </a:r>
          </a:p>
        </p:txBody>
      </p:sp>
      <p:sp>
        <p:nvSpPr>
          <p:cNvPr id="3" name="Content Placeholder 2"/>
          <p:cNvSpPr>
            <a:spLocks noGrp="1"/>
          </p:cNvSpPr>
          <p:nvPr>
            <p:ph idx="1"/>
          </p:nvPr>
        </p:nvSpPr>
        <p:spPr>
          <a:xfrm>
            <a:off x="457200" y="1371600"/>
            <a:ext cx="8229600" cy="4754563"/>
          </a:xfrm>
        </p:spPr>
        <p:txBody>
          <a:bodyPr>
            <a:normAutofit fontScale="92500" lnSpcReduction="10000"/>
          </a:bodyPr>
          <a:lstStyle/>
          <a:p>
            <a:r>
              <a:rPr lang="en-US" dirty="0"/>
              <a:t>Let </a:t>
            </a:r>
            <a:r>
              <a:rPr lang="en-US" b="1" i="1" dirty="0"/>
              <a:t>I </a:t>
            </a:r>
            <a:r>
              <a:rPr lang="en-US" dirty="0"/>
              <a:t>assign true to </a:t>
            </a:r>
            <a:r>
              <a:rPr lang="en-US" b="1" i="1" dirty="0"/>
              <a:t>P</a:t>
            </a:r>
            <a:r>
              <a:rPr lang="en-US" dirty="0"/>
              <a:t> , false to </a:t>
            </a:r>
            <a:r>
              <a:rPr lang="en-US" b="1" i="1" dirty="0"/>
              <a:t>Q</a:t>
            </a:r>
            <a:r>
              <a:rPr lang="en-US" dirty="0"/>
              <a:t>  and false to </a:t>
            </a:r>
            <a:r>
              <a:rPr lang="en-US" b="1" i="1" dirty="0"/>
              <a:t>R</a:t>
            </a:r>
            <a:r>
              <a:rPr lang="en-US" dirty="0"/>
              <a:t> in statement =  </a:t>
            </a:r>
            <a:r>
              <a:rPr lang="en-US" b="1" dirty="0">
                <a:solidFill>
                  <a:srgbClr val="C00000"/>
                </a:solidFill>
              </a:rPr>
              <a:t>((P &amp; </a:t>
            </a:r>
            <a:r>
              <a:rPr lang="en-US" b="1" baseline="30000" dirty="0">
                <a:solidFill>
                  <a:srgbClr val="C00000"/>
                </a:solidFill>
              </a:rPr>
              <a:t>-</a:t>
            </a:r>
            <a:r>
              <a:rPr lang="en-US" b="1" dirty="0">
                <a:solidFill>
                  <a:srgbClr val="C00000"/>
                </a:solidFill>
              </a:rPr>
              <a:t>Q) →R)VQ</a:t>
            </a:r>
            <a:r>
              <a:rPr lang="en-US" dirty="0"/>
              <a:t>.</a:t>
            </a:r>
          </a:p>
          <a:p>
            <a:r>
              <a:rPr lang="en-US" b="1" dirty="0">
                <a:solidFill>
                  <a:srgbClr val="002060"/>
                </a:solidFill>
              </a:rPr>
              <a:t>What is the meaning of the statement?</a:t>
            </a:r>
            <a:endParaRPr lang="en-US" dirty="0">
              <a:solidFill>
                <a:srgbClr val="002060"/>
              </a:solidFill>
            </a:endParaRPr>
          </a:p>
          <a:p>
            <a:pPr>
              <a:buNone/>
            </a:pPr>
            <a:r>
              <a:rPr lang="en-US" b="1" u="sng" dirty="0">
                <a:solidFill>
                  <a:srgbClr val="C00000"/>
                </a:solidFill>
              </a:rPr>
              <a:t>Answer:</a:t>
            </a:r>
            <a:r>
              <a:rPr lang="en-US" dirty="0"/>
              <a:t>           </a:t>
            </a:r>
          </a:p>
          <a:p>
            <a:pPr lvl="0"/>
            <a:r>
              <a:rPr lang="en-US" dirty="0"/>
              <a:t>Rule 2 gives </a:t>
            </a:r>
            <a:r>
              <a:rPr lang="en-US" b="1" baseline="30000" dirty="0"/>
              <a:t>-</a:t>
            </a:r>
            <a:r>
              <a:rPr lang="en-US" b="1" dirty="0"/>
              <a:t>Q</a:t>
            </a:r>
            <a:r>
              <a:rPr lang="en-US" dirty="0"/>
              <a:t> as </a:t>
            </a:r>
            <a:r>
              <a:rPr lang="en-US" b="1" dirty="0"/>
              <a:t>true.</a:t>
            </a:r>
            <a:endParaRPr lang="en-US" dirty="0"/>
          </a:p>
          <a:p>
            <a:pPr lvl="0"/>
            <a:r>
              <a:rPr lang="en-US" dirty="0"/>
              <a:t>Rule 3 gives </a:t>
            </a:r>
            <a:r>
              <a:rPr lang="en-US" b="1" dirty="0"/>
              <a:t>(P &amp; </a:t>
            </a:r>
            <a:r>
              <a:rPr lang="en-US" b="1" baseline="30000" dirty="0"/>
              <a:t>-</a:t>
            </a:r>
            <a:r>
              <a:rPr lang="en-US" b="1" dirty="0"/>
              <a:t>Q) </a:t>
            </a:r>
            <a:r>
              <a:rPr lang="en-US" dirty="0"/>
              <a:t>as </a:t>
            </a:r>
            <a:r>
              <a:rPr lang="en-US" b="1" dirty="0"/>
              <a:t>true</a:t>
            </a:r>
            <a:r>
              <a:rPr lang="en-US" dirty="0"/>
              <a:t>.</a:t>
            </a:r>
          </a:p>
          <a:p>
            <a:pPr lvl="0"/>
            <a:r>
              <a:rPr lang="en-US" dirty="0"/>
              <a:t>Rule 6 gives </a:t>
            </a:r>
            <a:r>
              <a:rPr lang="en-US" b="1" dirty="0"/>
              <a:t>(P &amp; </a:t>
            </a:r>
            <a:r>
              <a:rPr lang="en-US" b="1" baseline="30000" dirty="0"/>
              <a:t>-</a:t>
            </a:r>
            <a:r>
              <a:rPr lang="en-US" b="1" dirty="0"/>
              <a:t>Q) →R</a:t>
            </a:r>
            <a:r>
              <a:rPr lang="en-US" dirty="0"/>
              <a:t> as </a:t>
            </a:r>
            <a:r>
              <a:rPr lang="en-US" b="1" dirty="0"/>
              <a:t>false</a:t>
            </a:r>
            <a:r>
              <a:rPr lang="en-US" dirty="0"/>
              <a:t>.</a:t>
            </a:r>
          </a:p>
          <a:p>
            <a:pPr lvl="0"/>
            <a:r>
              <a:rPr lang="en-US" b="1" dirty="0">
                <a:solidFill>
                  <a:srgbClr val="002060"/>
                </a:solidFill>
              </a:rPr>
              <a:t>Rule 5</a:t>
            </a:r>
            <a:r>
              <a:rPr lang="en-US" dirty="0">
                <a:solidFill>
                  <a:srgbClr val="002060"/>
                </a:solidFill>
              </a:rPr>
              <a:t> gives  the statement </a:t>
            </a:r>
            <a:r>
              <a:rPr lang="en-US" b="1" dirty="0">
                <a:solidFill>
                  <a:srgbClr val="002060"/>
                </a:solidFill>
              </a:rPr>
              <a:t>((P &amp; </a:t>
            </a:r>
            <a:r>
              <a:rPr lang="en-US" b="1" baseline="30000" dirty="0">
                <a:solidFill>
                  <a:srgbClr val="002060"/>
                </a:solidFill>
              </a:rPr>
              <a:t>-</a:t>
            </a:r>
            <a:r>
              <a:rPr lang="en-US" b="1" dirty="0">
                <a:solidFill>
                  <a:srgbClr val="002060"/>
                </a:solidFill>
              </a:rPr>
              <a:t>Q) →R)VQ</a:t>
            </a:r>
            <a:r>
              <a:rPr lang="en-US" dirty="0">
                <a:solidFill>
                  <a:srgbClr val="002060"/>
                </a:solidFill>
              </a:rPr>
              <a:t> value as </a:t>
            </a:r>
            <a:r>
              <a:rPr lang="en-US" b="1" dirty="0">
                <a:solidFill>
                  <a:srgbClr val="002060"/>
                </a:solidFill>
              </a:rPr>
              <a:t>false</a:t>
            </a:r>
            <a:r>
              <a:rPr lang="en-US" dirty="0">
                <a:solidFill>
                  <a:srgbClr val="002060"/>
                </a:solidFill>
              </a:rPr>
              <a:t>.</a:t>
            </a:r>
          </a:p>
          <a:p>
            <a:endParaRPr lang="en-US" dirty="0"/>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highlight>
                  <a:srgbClr val="FFFF00"/>
                </a:highlight>
              </a:rPr>
              <a:t>Assignment-3</a:t>
            </a:r>
            <a:endParaRPr lang="en-US" dirty="0">
              <a:highlight>
                <a:srgbClr val="FFFF00"/>
              </a:highlight>
            </a:endParaRPr>
          </a:p>
        </p:txBody>
      </p:sp>
      <p:sp>
        <p:nvSpPr>
          <p:cNvPr id="3" name="Content Placeholder 2"/>
          <p:cNvSpPr>
            <a:spLocks noGrp="1"/>
          </p:cNvSpPr>
          <p:nvPr>
            <p:ph idx="1"/>
          </p:nvPr>
        </p:nvSpPr>
        <p:spPr/>
        <p:txBody>
          <a:bodyPr/>
          <a:lstStyle/>
          <a:p>
            <a:r>
              <a:rPr lang="en-US" dirty="0"/>
              <a:t>Let </a:t>
            </a:r>
            <a:r>
              <a:rPr lang="en-US" b="1" i="1" dirty="0"/>
              <a:t>I </a:t>
            </a:r>
            <a:r>
              <a:rPr lang="en-US" dirty="0"/>
              <a:t>assign true to </a:t>
            </a:r>
            <a:r>
              <a:rPr lang="en-US" b="1" i="1" dirty="0"/>
              <a:t>A</a:t>
            </a:r>
            <a:r>
              <a:rPr lang="en-US" dirty="0"/>
              <a:t> , false to </a:t>
            </a:r>
            <a:r>
              <a:rPr lang="en-US" b="1" i="1" dirty="0"/>
              <a:t>B</a:t>
            </a:r>
            <a:r>
              <a:rPr lang="en-US" dirty="0"/>
              <a:t>, false to </a:t>
            </a:r>
            <a:r>
              <a:rPr lang="en-US" b="1" i="1" dirty="0"/>
              <a:t>Q and true to R </a:t>
            </a:r>
            <a:r>
              <a:rPr lang="en-US" dirty="0"/>
              <a:t> in statement =  </a:t>
            </a:r>
            <a:r>
              <a:rPr lang="en-US" b="1" dirty="0">
                <a:solidFill>
                  <a:srgbClr val="C00000"/>
                </a:solidFill>
              </a:rPr>
              <a:t>((A &amp; ~B) →R)V (~Q V R) </a:t>
            </a:r>
            <a:r>
              <a:rPr lang="en-US" dirty="0"/>
              <a:t>.</a:t>
            </a:r>
          </a:p>
          <a:p>
            <a:r>
              <a:rPr lang="en-US" b="1" dirty="0">
                <a:solidFill>
                  <a:srgbClr val="002060"/>
                </a:solidFill>
              </a:rPr>
              <a:t>What is the meaning of the statement?</a:t>
            </a:r>
            <a:endParaRPr lang="en-US" dirty="0">
              <a:solidFill>
                <a:srgbClr val="002060"/>
              </a:solidFill>
            </a:endParaRPr>
          </a:p>
          <a:p>
            <a:r>
              <a:rPr lang="en-US" dirty="0">
                <a:highlight>
                  <a:srgbClr val="00FF00"/>
                </a:highlight>
              </a:rPr>
              <a:t>Sol: True.</a:t>
            </a:r>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27</a:t>
            </a:fld>
            <a:endParaRPr lang="en-US"/>
          </a:p>
        </p:txBody>
      </p:sp>
    </p:spTree>
    <p:extLst>
      <p:ext uri="{BB962C8B-B14F-4D97-AF65-F5344CB8AC3E}">
        <p14:creationId xmlns:p14="http://schemas.microsoft.com/office/powerpoint/2010/main" val="2907888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r>
              <a:rPr lang="en-US" sz="8000" b="1" dirty="0">
                <a:solidFill>
                  <a:srgbClr val="FF0000"/>
                </a:solidFill>
                <a:latin typeface="Arial Black" pitchFamily="34" charset="0"/>
              </a:rPr>
              <a:t>THE END</a:t>
            </a:r>
          </a:p>
          <a:p>
            <a:pPr algn="ctr"/>
            <a:r>
              <a:rPr lang="en-US" sz="8000" b="1" dirty="0">
                <a:solidFill>
                  <a:srgbClr val="FF0000"/>
                </a:solidFill>
                <a:latin typeface="Arial Black" pitchFamily="34" charset="0"/>
              </a:rPr>
              <a:t>THANKS</a:t>
            </a:r>
          </a:p>
        </p:txBody>
      </p:sp>
      <p:sp>
        <p:nvSpPr>
          <p:cNvPr id="4" name="Footer Placeholder 3"/>
          <p:cNvSpPr>
            <a:spLocks noGrp="1"/>
          </p:cNvSpPr>
          <p:nvPr>
            <p:ph type="ftr" sz="quarter" idx="11"/>
          </p:nvPr>
        </p:nvSpPr>
        <p:spPr/>
        <p:txBody>
          <a:bodyPr/>
          <a:lstStyle/>
          <a:p>
            <a:r>
              <a:rPr lang="en-US"/>
              <a:t>©Professor Dr. A K M Akhtar Hossain         Dept. of CSE, University of Rajshahi</a:t>
            </a:r>
          </a:p>
        </p:txBody>
      </p:sp>
      <p:sp>
        <p:nvSpPr>
          <p:cNvPr id="5" name="Slide Number Placeholder 4"/>
          <p:cNvSpPr>
            <a:spLocks noGrp="1"/>
          </p:cNvSpPr>
          <p:nvPr>
            <p:ph type="sldNum" sz="quarter" idx="12"/>
          </p:nvPr>
        </p:nvSpPr>
        <p:spPr/>
        <p:txBody>
          <a:bodyPr/>
          <a:lstStyle/>
          <a:p>
            <a:fld id="{9DF8C9B0-BC0F-493B-9E24-C0137D72F280}" type="slidenum">
              <a:rPr lang="en-US" smtClean="0"/>
              <a:pPr/>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1138</TotalTime>
  <Words>2053</Words>
  <Application>Microsoft Office PowerPoint</Application>
  <PresentationFormat>On-screen Show (4:3)</PresentationFormat>
  <Paragraphs>232</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Arial Black</vt:lpstr>
      <vt:lpstr>Calibri</vt:lpstr>
      <vt:lpstr>Wingdings</vt:lpstr>
      <vt:lpstr>Office Theme</vt:lpstr>
      <vt:lpstr>Knowledge  Representation  &amp; Predicate Logic</vt:lpstr>
      <vt:lpstr>Knowledge Representation</vt:lpstr>
      <vt:lpstr>Knowledge Representation</vt:lpstr>
      <vt:lpstr>Components of knowledge Representation system </vt:lpstr>
      <vt:lpstr>Components of knowledge Representation system</vt:lpstr>
      <vt:lpstr>Components of knowledge Representation system</vt:lpstr>
      <vt:lpstr>Applications of Knowledge Representation</vt:lpstr>
      <vt:lpstr>Applications of Knowledge Representation</vt:lpstr>
      <vt:lpstr>What is predicate logic (PL)?</vt:lpstr>
      <vt:lpstr>Predicate logic (PL):</vt:lpstr>
      <vt:lpstr>Predicate Logic (PL):</vt:lpstr>
      <vt:lpstr>Predicate Logic (PL):</vt:lpstr>
      <vt:lpstr>Examples</vt:lpstr>
      <vt:lpstr>Examples</vt:lpstr>
      <vt:lpstr>Examples – Cont..</vt:lpstr>
      <vt:lpstr>Syntax and semantics for Propositional Logic</vt:lpstr>
      <vt:lpstr>Cont……</vt:lpstr>
      <vt:lpstr>Cont….</vt:lpstr>
      <vt:lpstr>Conti…</vt:lpstr>
      <vt:lpstr>Syntax</vt:lpstr>
      <vt:lpstr>Examples</vt:lpstr>
      <vt:lpstr>Examples</vt:lpstr>
      <vt:lpstr>Semantics</vt:lpstr>
      <vt:lpstr>Conti… </vt:lpstr>
      <vt:lpstr>Semantic Rules for statements</vt:lpstr>
      <vt:lpstr>Example:</vt:lpstr>
      <vt:lpstr>Assignment-3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Representation</dc:title>
  <dc:creator>cse</dc:creator>
  <cp:lastModifiedBy>Most. Rima Khatun</cp:lastModifiedBy>
  <cp:revision>131</cp:revision>
  <dcterms:created xsi:type="dcterms:W3CDTF">2016-03-01T04:25:12Z</dcterms:created>
  <dcterms:modified xsi:type="dcterms:W3CDTF">2026-10-15T14:08:26Z</dcterms:modified>
</cp:coreProperties>
</file>
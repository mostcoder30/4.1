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38"/>
  </p:notesMasterIdLst>
  <p:sldIdLst>
    <p:sldId id="256" r:id="rId2"/>
    <p:sldId id="261" r:id="rId3"/>
    <p:sldId id="282" r:id="rId4"/>
    <p:sldId id="257" r:id="rId5"/>
    <p:sldId id="258" r:id="rId6"/>
    <p:sldId id="259" r:id="rId7"/>
    <p:sldId id="260" r:id="rId8"/>
    <p:sldId id="283" r:id="rId9"/>
    <p:sldId id="262" r:id="rId10"/>
    <p:sldId id="269" r:id="rId11"/>
    <p:sldId id="271" r:id="rId12"/>
    <p:sldId id="272" r:id="rId13"/>
    <p:sldId id="264" r:id="rId14"/>
    <p:sldId id="266" r:id="rId15"/>
    <p:sldId id="267" r:id="rId16"/>
    <p:sldId id="268" r:id="rId17"/>
    <p:sldId id="273" r:id="rId18"/>
    <p:sldId id="274" r:id="rId19"/>
    <p:sldId id="287" r:id="rId20"/>
    <p:sldId id="285" r:id="rId21"/>
    <p:sldId id="286" r:id="rId22"/>
    <p:sldId id="284" r:id="rId23"/>
    <p:sldId id="275" r:id="rId24"/>
    <p:sldId id="277" r:id="rId25"/>
    <p:sldId id="289" r:id="rId26"/>
    <p:sldId id="290" r:id="rId27"/>
    <p:sldId id="291" r:id="rId28"/>
    <p:sldId id="292" r:id="rId29"/>
    <p:sldId id="293" r:id="rId30"/>
    <p:sldId id="294" r:id="rId31"/>
    <p:sldId id="295" r:id="rId32"/>
    <p:sldId id="278" r:id="rId33"/>
    <p:sldId id="288" r:id="rId34"/>
    <p:sldId id="279" r:id="rId35"/>
    <p:sldId id="280" r:id="rId36"/>
    <p:sldId id="281"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50" d="100"/>
          <a:sy n="50" d="100"/>
        </p:scale>
        <p:origin x="36"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94386-6C53-4688-BAC2-A001670FE8AC}" type="datetimeFigureOut">
              <a:rPr lang="en-US" smtClean="0"/>
              <a:t>15-Oct-26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7C7C36-6CDB-4D3B-8232-CBAE87A00A89}" type="slidenum">
              <a:rPr lang="en-US" smtClean="0"/>
              <a:t>‹#›</a:t>
            </a:fld>
            <a:endParaRPr lang="en-US"/>
          </a:p>
        </p:txBody>
      </p:sp>
    </p:spTree>
    <p:extLst>
      <p:ext uri="{BB962C8B-B14F-4D97-AF65-F5344CB8AC3E}">
        <p14:creationId xmlns:p14="http://schemas.microsoft.com/office/powerpoint/2010/main" val="2416342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E09A804-A2F0-451E-9084-58A884B72182}" type="datetime1">
              <a:rPr lang="en-US" smtClean="0"/>
              <a:t>15-Oct-26</a:t>
            </a:fld>
            <a:endParaRPr lang="en-US" dirty="0"/>
          </a:p>
        </p:txBody>
      </p:sp>
      <p:sp>
        <p:nvSpPr>
          <p:cNvPr id="5" name="Footer Placeholder 4"/>
          <p:cNvSpPr>
            <a:spLocks noGrp="1"/>
          </p:cNvSpPr>
          <p:nvPr>
            <p:ph type="ftr" sz="quarter" idx="11"/>
          </p:nvPr>
        </p:nvSpPr>
        <p:spPr/>
        <p:txBody>
          <a:bodyPr/>
          <a:lstStyle/>
          <a:p>
            <a:r>
              <a:rPr lang="en-US"/>
              <a:t>Prof. Dr. A K M Akhtar Hossain, Dept. of CSE, RU.</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59A87F-1025-4450-862A-953F0CCA2778}" type="datetime1">
              <a:rPr lang="en-US" smtClean="0"/>
              <a:t>15-Oct-26</a:t>
            </a:fld>
            <a:endParaRPr lang="en-US" dirty="0"/>
          </a:p>
        </p:txBody>
      </p:sp>
      <p:sp>
        <p:nvSpPr>
          <p:cNvPr id="5" name="Footer Placeholder 4"/>
          <p:cNvSpPr>
            <a:spLocks noGrp="1"/>
          </p:cNvSpPr>
          <p:nvPr>
            <p:ph type="ftr" sz="quarter" idx="11"/>
          </p:nvPr>
        </p:nvSpPr>
        <p:spPr/>
        <p:txBody>
          <a:bodyPr/>
          <a:lstStyle/>
          <a:p>
            <a:r>
              <a:rPr lang="en-US"/>
              <a:t>Prof. Dr. A K M Akhtar Hossain, Dept. of CSE, RU.</a:t>
            </a:r>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2A877DD-2D3C-4FAD-9E89-D86657A2493E}" type="datetime1">
              <a:rPr lang="en-US" smtClean="0"/>
              <a:t>15-Oct-26</a:t>
            </a:fld>
            <a:endParaRPr lang="en-US" dirty="0"/>
          </a:p>
        </p:txBody>
      </p:sp>
      <p:sp>
        <p:nvSpPr>
          <p:cNvPr id="5" name="Footer Placeholder 4"/>
          <p:cNvSpPr>
            <a:spLocks noGrp="1"/>
          </p:cNvSpPr>
          <p:nvPr>
            <p:ph type="ftr" sz="quarter" idx="11"/>
          </p:nvPr>
        </p:nvSpPr>
        <p:spPr/>
        <p:txBody>
          <a:bodyPr/>
          <a:lstStyle/>
          <a:p>
            <a:r>
              <a:rPr lang="en-US"/>
              <a:t>Prof. Dr. A K M Akhtar Hossain, Dept. of CSE, RU.</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250C05-5ECB-4CAF-B1F0-4C567D669C5C}" type="datetime1">
              <a:rPr lang="en-US" smtClean="0"/>
              <a:t>15-Oct-26</a:t>
            </a:fld>
            <a:endParaRPr lang="en-US" dirty="0"/>
          </a:p>
        </p:txBody>
      </p:sp>
      <p:sp>
        <p:nvSpPr>
          <p:cNvPr id="6" name="Footer Placeholder 5"/>
          <p:cNvSpPr>
            <a:spLocks noGrp="1"/>
          </p:cNvSpPr>
          <p:nvPr>
            <p:ph type="ftr" sz="quarter" idx="11"/>
          </p:nvPr>
        </p:nvSpPr>
        <p:spPr/>
        <p:txBody>
          <a:bodyPr/>
          <a:lstStyle/>
          <a:p>
            <a:r>
              <a:rPr lang="en-US"/>
              <a:t>Prof. Dr. A K M Akhtar Hossain, Dept. of CSE, RU.</a:t>
            </a:r>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8282A7-FDA0-4A25-A3E7-4F1E58DE6642}" type="datetime1">
              <a:rPr lang="en-US" smtClean="0"/>
              <a:t>15-Oct-26</a:t>
            </a:fld>
            <a:endParaRPr lang="en-US" dirty="0"/>
          </a:p>
        </p:txBody>
      </p:sp>
      <p:sp>
        <p:nvSpPr>
          <p:cNvPr id="8" name="Footer Placeholder 7"/>
          <p:cNvSpPr>
            <a:spLocks noGrp="1"/>
          </p:cNvSpPr>
          <p:nvPr>
            <p:ph type="ftr" sz="quarter" idx="11"/>
          </p:nvPr>
        </p:nvSpPr>
        <p:spPr/>
        <p:txBody>
          <a:bodyPr/>
          <a:lstStyle/>
          <a:p>
            <a:r>
              <a:rPr lang="en-US"/>
              <a:t>Prof. Dr. A K M Akhtar Hossain, Dept. of CSE, RU.</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BFA198-0442-49F8-A632-1F9ACF02DB48}" type="datetime1">
              <a:rPr lang="en-US" smtClean="0"/>
              <a:t>15-Oct-26</a:t>
            </a:fld>
            <a:endParaRPr lang="en-US"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40E40E-A503-47B0-A5F2-A5666455939B}" type="datetime1">
              <a:rPr lang="en-US" smtClean="0"/>
              <a:t>15-Oct-26</a:t>
            </a:fld>
            <a:endParaRPr lang="en-US" dirty="0"/>
          </a:p>
        </p:txBody>
      </p:sp>
      <p:sp>
        <p:nvSpPr>
          <p:cNvPr id="3" name="Footer Placeholder 2"/>
          <p:cNvSpPr>
            <a:spLocks noGrp="1"/>
          </p:cNvSpPr>
          <p:nvPr>
            <p:ph type="ftr" sz="quarter" idx="11"/>
          </p:nvPr>
        </p:nvSpPr>
        <p:spPr/>
        <p:txBody>
          <a:bodyPr/>
          <a:lstStyle/>
          <a:p>
            <a:r>
              <a:rPr lang="en-US"/>
              <a:t>Prof. Dr. A K M Akhtar Hossain, Dept. of CSE, RU.</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FC0F37-3DD6-4852-B2E6-E20E9BF909AE}" type="datetime1">
              <a:rPr lang="en-US" smtClean="0"/>
              <a:t>15-Oct-26</a:t>
            </a:fld>
            <a:endParaRPr lang="en-US" dirty="0"/>
          </a:p>
        </p:txBody>
      </p:sp>
      <p:sp>
        <p:nvSpPr>
          <p:cNvPr id="6" name="Footer Placeholder 5"/>
          <p:cNvSpPr>
            <a:spLocks noGrp="1"/>
          </p:cNvSpPr>
          <p:nvPr>
            <p:ph type="ftr" sz="quarter" idx="11"/>
          </p:nvPr>
        </p:nvSpPr>
        <p:spPr/>
        <p:txBody>
          <a:bodyPr/>
          <a:lstStyle/>
          <a:p>
            <a:r>
              <a:rPr lang="en-US"/>
              <a:t>Prof. Dr. A K M Akhtar Hossain, Dept. of CSE, RU.</a:t>
            </a:r>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r>
              <a:rPr lang="en-US"/>
              <a:t>Prof. Dr. A K M Akhtar Hossain, Dept. of CSE, RU.</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A32FC8E2-9404-436C-BC2B-287D3ACA1CAF}" type="datetime1">
              <a:rPr lang="en-US" smtClean="0"/>
              <a:t>15-Oct-26</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8EA58E-CF32-4358-9824-E7AA87477D37}" type="datetime1">
              <a:rPr lang="en-US" smtClean="0"/>
              <a:t>15-Oct-26</a:t>
            </a:fld>
            <a:endParaRPr lang="en-US" dirty="0"/>
          </a:p>
        </p:txBody>
      </p:sp>
      <p:sp>
        <p:nvSpPr>
          <p:cNvPr id="5" name="Footer Placeholder 4"/>
          <p:cNvSpPr>
            <a:spLocks noGrp="1"/>
          </p:cNvSpPr>
          <p:nvPr>
            <p:ph type="ftr" sz="quarter" idx="11"/>
          </p:nvPr>
        </p:nvSpPr>
        <p:spPr/>
        <p:txBody>
          <a:bodyPr/>
          <a:lstStyle/>
          <a:p>
            <a:r>
              <a:rPr lang="en-US"/>
              <a:t>Prof. Dr. A K M Akhtar Hossain, Dept. of CSE, RU.</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D678952-BCB6-483C-B29D-EC95659252DB}" type="datetime1">
              <a:rPr lang="en-US" smtClean="0"/>
              <a:t>15-Oct-26</a:t>
            </a:fld>
            <a:endParaRPr lang="en-US" dirty="0"/>
          </a:p>
        </p:txBody>
      </p:sp>
      <p:sp>
        <p:nvSpPr>
          <p:cNvPr id="5" name="Footer Placeholder 4"/>
          <p:cNvSpPr>
            <a:spLocks noGrp="1"/>
          </p:cNvSpPr>
          <p:nvPr>
            <p:ph type="ftr" sz="quarter" idx="11"/>
          </p:nvPr>
        </p:nvSpPr>
        <p:spPr/>
        <p:txBody>
          <a:bodyPr/>
          <a:lstStyle/>
          <a:p>
            <a:r>
              <a:rPr lang="en-US"/>
              <a:t>Prof. Dr. A K M Akhtar Hossain, Dept. of CSE, RU.</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95C7D47-412E-40B4-B9FC-E098FB5A5FC2}" type="datetime1">
              <a:rPr lang="en-US" smtClean="0"/>
              <a:t>15-Oct-26</a:t>
            </a:fld>
            <a:endParaRPr lang="en-US" dirty="0"/>
          </a:p>
        </p:txBody>
      </p:sp>
      <p:sp>
        <p:nvSpPr>
          <p:cNvPr id="5" name="Footer Placeholder 4"/>
          <p:cNvSpPr>
            <a:spLocks noGrp="1"/>
          </p:cNvSpPr>
          <p:nvPr>
            <p:ph type="ftr" sz="quarter" idx="11"/>
          </p:nvPr>
        </p:nvSpPr>
        <p:spPr/>
        <p:txBody>
          <a:bodyPr/>
          <a:lstStyle/>
          <a:p>
            <a:r>
              <a:rPr lang="en-US"/>
              <a:t>Prof. Dr. A K M Akhtar Hossain, Dept. of CSE, RU.</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95C7D5A-E317-4AFB-A545-293917338286}" type="datetime1">
              <a:rPr lang="en-US" smtClean="0"/>
              <a:t>15-Oct-26</a:t>
            </a:fld>
            <a:endParaRPr lang="en-US" dirty="0"/>
          </a:p>
        </p:txBody>
      </p:sp>
      <p:sp>
        <p:nvSpPr>
          <p:cNvPr id="5" name="Footer Placeholder 4"/>
          <p:cNvSpPr>
            <a:spLocks noGrp="1"/>
          </p:cNvSpPr>
          <p:nvPr>
            <p:ph type="ftr" sz="quarter" idx="11"/>
          </p:nvPr>
        </p:nvSpPr>
        <p:spPr/>
        <p:txBody>
          <a:bodyPr/>
          <a:lstStyle/>
          <a:p>
            <a:r>
              <a:rPr lang="en-US"/>
              <a:t>Prof. Dr. A K M Akhtar Hossain, Dept. of CSE, RU.</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B6C86B3-C2D4-4343-9A70-B19F86E1CACC}" type="datetime1">
              <a:rPr lang="en-US" smtClean="0"/>
              <a:t>15-Oct-26</a:t>
            </a:fld>
            <a:endParaRPr lang="en-US" dirty="0"/>
          </a:p>
        </p:txBody>
      </p:sp>
      <p:sp>
        <p:nvSpPr>
          <p:cNvPr id="5" name="Footer Placeholder 4"/>
          <p:cNvSpPr>
            <a:spLocks noGrp="1"/>
          </p:cNvSpPr>
          <p:nvPr>
            <p:ph type="ftr" sz="quarter" idx="11"/>
          </p:nvPr>
        </p:nvSpPr>
        <p:spPr/>
        <p:txBody>
          <a:bodyPr/>
          <a:lstStyle/>
          <a:p>
            <a:r>
              <a:rPr lang="en-US"/>
              <a:t>Prof. Dr. A K M Akhtar Hossain, Dept. of CSE, RU.</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1127E7-2C40-4278-9D20-48A0E422FC4B}" type="datetime1">
              <a:rPr lang="en-US" smtClean="0"/>
              <a:t>15-Oct-26</a:t>
            </a:fld>
            <a:endParaRPr lang="en-US" dirty="0"/>
          </a:p>
        </p:txBody>
      </p:sp>
      <p:sp>
        <p:nvSpPr>
          <p:cNvPr id="5" name="Footer Placeholder 4"/>
          <p:cNvSpPr>
            <a:spLocks noGrp="1"/>
          </p:cNvSpPr>
          <p:nvPr>
            <p:ph type="ftr" sz="quarter" idx="11"/>
          </p:nvPr>
        </p:nvSpPr>
        <p:spPr/>
        <p:txBody>
          <a:bodyPr/>
          <a:lstStyle/>
          <a:p>
            <a:r>
              <a:rPr lang="en-US"/>
              <a:t>Prof. Dr. A K M Akhtar Hossain, Dept. of CSE, RU.</a:t>
            </a:r>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6EC757-5A9C-43EF-B3A4-309CD6D822CD}" type="datetime1">
              <a:rPr lang="en-US" smtClean="0"/>
              <a:t>15-Oct-26</a:t>
            </a:fld>
            <a:endParaRPr lang="en-US" dirty="0"/>
          </a:p>
        </p:txBody>
      </p:sp>
      <p:sp>
        <p:nvSpPr>
          <p:cNvPr id="5" name="Footer Placeholder 4"/>
          <p:cNvSpPr>
            <a:spLocks noGrp="1"/>
          </p:cNvSpPr>
          <p:nvPr>
            <p:ph type="ftr" sz="quarter" idx="11"/>
          </p:nvPr>
        </p:nvSpPr>
        <p:spPr/>
        <p:txBody>
          <a:bodyPr/>
          <a:lstStyle/>
          <a:p>
            <a:r>
              <a:rPr lang="en-US"/>
              <a:t>Prof. Dr. A K M Akhtar Hossain, Dept. of CSE, RU.</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46718F4-EB61-441D-90F6-4192CE3D26C2}" type="datetime1">
              <a:rPr lang="en-US" smtClean="0"/>
              <a:t>15-Oct-26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Prof. Dr. A K M Akhtar Hossain, Dept. of CSE, RU.</a:t>
            </a:r>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1689464"/>
            <a:ext cx="7766936" cy="740228"/>
          </a:xfrm>
        </p:spPr>
        <p:txBody>
          <a:bodyPr/>
          <a:lstStyle/>
          <a:p>
            <a:pPr algn="l"/>
            <a:r>
              <a:rPr lang="en-US" sz="4000" b="1" dirty="0">
                <a:solidFill>
                  <a:schemeClr val="tx1"/>
                </a:solidFill>
              </a:rPr>
              <a:t>Agents in Artificial Intelligence</a:t>
            </a:r>
          </a:p>
        </p:txBody>
      </p:sp>
      <p:sp>
        <p:nvSpPr>
          <p:cNvPr id="3" name="Subtitle 2"/>
          <p:cNvSpPr>
            <a:spLocks noGrp="1"/>
          </p:cNvSpPr>
          <p:nvPr>
            <p:ph type="subTitle" idx="1"/>
          </p:nvPr>
        </p:nvSpPr>
        <p:spPr>
          <a:xfrm>
            <a:off x="1507067" y="2682241"/>
            <a:ext cx="7766936" cy="2577736"/>
          </a:xfrm>
        </p:spPr>
        <p:txBody>
          <a:bodyPr>
            <a:normAutofit/>
          </a:bodyPr>
          <a:lstStyle/>
          <a:p>
            <a:pPr algn="ctr"/>
            <a:r>
              <a:rPr lang="en-US" sz="2400" b="1" dirty="0">
                <a:latin typeface="Arial" panose="020B0604020202020204" pitchFamily="34" charset="0"/>
                <a:cs typeface="Arial" panose="020B0604020202020204" pitchFamily="34" charset="0"/>
              </a:rPr>
              <a:t>Class Teacher:</a:t>
            </a:r>
          </a:p>
          <a:p>
            <a:pPr algn="ctr"/>
            <a:r>
              <a:rPr lang="en-US" sz="2400" b="1" dirty="0">
                <a:latin typeface="Arial" panose="020B0604020202020204" pitchFamily="34" charset="0"/>
                <a:cs typeface="Arial" panose="020B0604020202020204" pitchFamily="34" charset="0"/>
              </a:rPr>
              <a:t>Prof. A K M Akhtar Hossain</a:t>
            </a:r>
          </a:p>
          <a:p>
            <a:pPr algn="ctr"/>
            <a:r>
              <a:rPr lang="en-US" sz="2400" b="1" dirty="0">
                <a:latin typeface="Arial" panose="020B0604020202020204" pitchFamily="34" charset="0"/>
                <a:cs typeface="Arial" panose="020B0604020202020204" pitchFamily="34" charset="0"/>
              </a:rPr>
              <a:t>Dept. of CSE </a:t>
            </a:r>
          </a:p>
          <a:p>
            <a:pPr algn="ctr"/>
            <a:r>
              <a:rPr lang="en-US" sz="2400" b="1" dirty="0">
                <a:latin typeface="Arial" panose="020B0604020202020204" pitchFamily="34" charset="0"/>
                <a:cs typeface="Arial" panose="020B0604020202020204" pitchFamily="34" charset="0"/>
              </a:rPr>
              <a:t>University of Rajshahi, Bangladesh</a:t>
            </a:r>
          </a:p>
        </p:txBody>
      </p:sp>
    </p:spTree>
    <p:extLst>
      <p:ext uri="{BB962C8B-B14F-4D97-AF65-F5344CB8AC3E}">
        <p14:creationId xmlns:p14="http://schemas.microsoft.com/office/powerpoint/2010/main" val="3129053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pPr algn="ctr"/>
            <a:r>
              <a:rPr lang="en-US" b="1" dirty="0">
                <a:solidFill>
                  <a:schemeClr val="tx1"/>
                </a:solidFill>
                <a:latin typeface="Arial" panose="020B0604020202020204" pitchFamily="34" charset="0"/>
                <a:cs typeface="Arial" panose="020B0604020202020204" pitchFamily="34" charset="0"/>
              </a:rPr>
              <a:t>Agents in AI</a:t>
            </a:r>
          </a:p>
        </p:txBody>
      </p:sp>
      <p:sp>
        <p:nvSpPr>
          <p:cNvPr id="3" name="Content Placeholder 2"/>
          <p:cNvSpPr>
            <a:spLocks noGrp="1"/>
          </p:cNvSpPr>
          <p:nvPr>
            <p:ph idx="1"/>
          </p:nvPr>
        </p:nvSpPr>
        <p:spPr>
          <a:xfrm>
            <a:off x="677333" y="1436915"/>
            <a:ext cx="9389775" cy="4604448"/>
          </a:xfrm>
        </p:spPr>
        <p:txBody>
          <a:bodyPr>
            <a:normAutofit fontScale="92500" lnSpcReduction="10000"/>
          </a:bodyPr>
          <a:lstStyle/>
          <a:p>
            <a:pPr algn="just"/>
            <a:r>
              <a:rPr lang="en-US" sz="3000" dirty="0"/>
              <a:t>An </a:t>
            </a:r>
            <a:r>
              <a:rPr lang="en-US" sz="3000" b="1" dirty="0">
                <a:highlight>
                  <a:srgbClr val="FFFF00"/>
                </a:highlight>
              </a:rPr>
              <a:t>intelligent agent</a:t>
            </a:r>
            <a:r>
              <a:rPr lang="en-US" sz="3000" dirty="0">
                <a:highlight>
                  <a:srgbClr val="FFFF00"/>
                </a:highlight>
              </a:rPr>
              <a:t> </a:t>
            </a:r>
            <a:r>
              <a:rPr lang="en-US" sz="3000" dirty="0"/>
              <a:t>is an entity that makes a decision, that enables </a:t>
            </a:r>
            <a:r>
              <a:rPr lang="en-US" sz="3000" b="1" dirty="0"/>
              <a:t>artificial intelligence</a:t>
            </a:r>
            <a:r>
              <a:rPr lang="en-US" sz="3000" dirty="0"/>
              <a:t> to be put into action. </a:t>
            </a:r>
          </a:p>
          <a:p>
            <a:pPr algn="just"/>
            <a:r>
              <a:rPr lang="en-US" sz="2800" dirty="0"/>
              <a:t>An  </a:t>
            </a:r>
            <a:r>
              <a:rPr lang="en-US" sz="2800" b="1" dirty="0"/>
              <a:t>intelligent agent /agent</a:t>
            </a:r>
            <a:r>
              <a:rPr lang="en-US" sz="2800" dirty="0"/>
              <a:t> is anything that can perceive its environment through </a:t>
            </a:r>
            <a:r>
              <a:rPr lang="en-US" sz="2800" b="1" dirty="0"/>
              <a:t>sensors</a:t>
            </a:r>
            <a:r>
              <a:rPr lang="en-US" sz="2800" dirty="0"/>
              <a:t> and acts upon that environment through </a:t>
            </a:r>
            <a:r>
              <a:rPr lang="en-US" sz="2800" b="1" dirty="0"/>
              <a:t>effectors.</a:t>
            </a:r>
            <a:endParaRPr lang="en-US" sz="2800" dirty="0"/>
          </a:p>
          <a:p>
            <a:endParaRPr lang="en-US" sz="2400" dirty="0">
              <a:latin typeface="Arial Black" panose="020B0A04020102020204" pitchFamily="34" charset="0"/>
            </a:endParaRPr>
          </a:p>
          <a:p>
            <a:r>
              <a:rPr lang="en-US" sz="2400" dirty="0">
                <a:highlight>
                  <a:srgbClr val="FFFF00"/>
                </a:highlight>
                <a:latin typeface="Arial Black" panose="020B0A04020102020204" pitchFamily="34" charset="0"/>
              </a:rPr>
              <a:t>Basic Types of Agent in Real world Environment:</a:t>
            </a:r>
          </a:p>
          <a:p>
            <a:pPr lvl="2">
              <a:buFont typeface="Wingdings" panose="05000000000000000000" pitchFamily="2" charset="2"/>
              <a:buChar char="v"/>
            </a:pPr>
            <a:r>
              <a:rPr lang="en-US" sz="2400" b="1" dirty="0">
                <a:solidFill>
                  <a:schemeClr val="tx1"/>
                </a:solidFill>
                <a:highlight>
                  <a:srgbClr val="FFFF00"/>
                </a:highlight>
                <a:latin typeface="Arial" panose="020B0604020202020204" pitchFamily="34" charset="0"/>
                <a:cs typeface="Arial" panose="020B0604020202020204" pitchFamily="34" charset="0"/>
              </a:rPr>
              <a:t>A human agent </a:t>
            </a:r>
          </a:p>
          <a:p>
            <a:pPr lvl="2">
              <a:buFont typeface="Wingdings" panose="05000000000000000000" pitchFamily="2" charset="2"/>
              <a:buChar char="v"/>
            </a:pPr>
            <a:r>
              <a:rPr lang="en-US" sz="2400" b="1" dirty="0">
                <a:solidFill>
                  <a:schemeClr val="tx1"/>
                </a:solidFill>
                <a:highlight>
                  <a:srgbClr val="FFFF00"/>
                </a:highlight>
                <a:latin typeface="Arial" panose="020B0604020202020204" pitchFamily="34" charset="0"/>
                <a:cs typeface="Arial" panose="020B0604020202020204" pitchFamily="34" charset="0"/>
              </a:rPr>
              <a:t>An Artificial (robotic) agent </a:t>
            </a:r>
          </a:p>
          <a:p>
            <a:pPr lvl="2">
              <a:buFont typeface="Wingdings" panose="05000000000000000000" pitchFamily="2" charset="2"/>
              <a:buChar char="v"/>
            </a:pPr>
            <a:r>
              <a:rPr lang="en-US" sz="2400" b="1" dirty="0">
                <a:solidFill>
                  <a:schemeClr val="tx1"/>
                </a:solidFill>
                <a:highlight>
                  <a:srgbClr val="FFFF00"/>
                </a:highlight>
                <a:latin typeface="Arial" panose="020B0604020202020204" pitchFamily="34" charset="0"/>
                <a:cs typeface="Arial" panose="020B0604020202020204" pitchFamily="34" charset="0"/>
              </a:rPr>
              <a:t>A software agent </a:t>
            </a:r>
          </a:p>
          <a:p>
            <a:endParaRPr lang="en-US" sz="2400" dirty="0"/>
          </a:p>
        </p:txBody>
      </p:sp>
      <p:sp>
        <p:nvSpPr>
          <p:cNvPr id="4" name="Footer Placeholder 3"/>
          <p:cNvSpPr>
            <a:spLocks noGrp="1"/>
          </p:cNvSpPr>
          <p:nvPr>
            <p:ph type="ftr" sz="quarter" idx="11"/>
          </p:nvPr>
        </p:nvSpPr>
        <p:spPr/>
        <p:txBody>
          <a:bodyPr/>
          <a:lstStyle/>
          <a:p>
            <a:r>
              <a:rPr lang="en-US" dirty="0"/>
              <a:t>Prof. Dr. A K M Akhtar Hossain, Dept. of CSE, RU.</a:t>
            </a:r>
          </a:p>
        </p:txBody>
      </p:sp>
      <p:sp>
        <p:nvSpPr>
          <p:cNvPr id="5" name="Slide Number Placeholder 4"/>
          <p:cNvSpPr>
            <a:spLocks noGrp="1"/>
          </p:cNvSpPr>
          <p:nvPr>
            <p:ph type="sldNum" sz="quarter" idx="12"/>
          </p:nvPr>
        </p:nvSpPr>
        <p:spPr/>
        <p:txBody>
          <a:bodyPr/>
          <a:lstStyle/>
          <a:p>
            <a:fld id="{519954A3-9DFD-4C44-94BA-B95130A3BA1C}" type="slidenum">
              <a:rPr lang="en-US" smtClean="0"/>
              <a:t>2</a:t>
            </a:fld>
            <a:endParaRPr lang="en-US" dirty="0"/>
          </a:p>
        </p:txBody>
      </p:sp>
    </p:spTree>
    <p:extLst>
      <p:ext uri="{BB962C8B-B14F-4D97-AF65-F5344CB8AC3E}">
        <p14:creationId xmlns:p14="http://schemas.microsoft.com/office/powerpoint/2010/main" val="2559769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44731"/>
          </a:xfrm>
        </p:spPr>
        <p:txBody>
          <a:bodyPr/>
          <a:lstStyle/>
          <a:p>
            <a:pPr algn="ctr"/>
            <a:r>
              <a:rPr lang="en-US" b="1" dirty="0">
                <a:solidFill>
                  <a:schemeClr val="tx1"/>
                </a:solidFill>
                <a:latin typeface="Arial" panose="020B0604020202020204" pitchFamily="34" charset="0"/>
                <a:cs typeface="Arial" panose="020B0604020202020204" pitchFamily="34" charset="0"/>
              </a:rPr>
              <a:t>Agents in AI</a:t>
            </a:r>
            <a:endParaRPr lang="en-US" b="1" dirty="0"/>
          </a:p>
        </p:txBody>
      </p:sp>
      <p:sp>
        <p:nvSpPr>
          <p:cNvPr id="3" name="Content Placeholder 2"/>
          <p:cNvSpPr>
            <a:spLocks noGrp="1"/>
          </p:cNvSpPr>
          <p:nvPr>
            <p:ph idx="1"/>
          </p:nvPr>
        </p:nvSpPr>
        <p:spPr>
          <a:xfrm>
            <a:off x="677333" y="1724297"/>
            <a:ext cx="10217090" cy="4317065"/>
          </a:xfrm>
        </p:spPr>
        <p:txBody>
          <a:bodyPr>
            <a:noAutofit/>
          </a:bodyPr>
          <a:lstStyle/>
          <a:p>
            <a:r>
              <a:rPr lang="en-US" sz="2800" dirty="0">
                <a:latin typeface="Arial Black" panose="020B0A04020102020204" pitchFamily="34" charset="0"/>
              </a:rPr>
              <a:t>Basic Types of Agent in Real world Environment:</a:t>
            </a:r>
          </a:p>
          <a:p>
            <a:pPr lvl="0">
              <a:buFont typeface="Wingdings" panose="05000000000000000000" pitchFamily="2" charset="2"/>
              <a:buChar char="v"/>
            </a:pPr>
            <a:r>
              <a:rPr lang="en-US" sz="2800" dirty="0">
                <a:solidFill>
                  <a:schemeClr val="tx1"/>
                </a:solidFill>
                <a:latin typeface="Arial" panose="020B0604020202020204" pitchFamily="34" charset="0"/>
                <a:cs typeface="Arial" panose="020B0604020202020204" pitchFamily="34" charset="0"/>
              </a:rPr>
              <a:t>A </a:t>
            </a:r>
            <a:r>
              <a:rPr lang="en-US" sz="2800" b="1" dirty="0">
                <a:solidFill>
                  <a:schemeClr val="tx1"/>
                </a:solidFill>
                <a:latin typeface="Arial" panose="020B0604020202020204" pitchFamily="34" charset="0"/>
                <a:cs typeface="Arial" panose="020B0604020202020204" pitchFamily="34" charset="0"/>
              </a:rPr>
              <a:t>human agent</a:t>
            </a:r>
            <a:r>
              <a:rPr lang="en-US" sz="2800" dirty="0">
                <a:solidFill>
                  <a:schemeClr val="tx1"/>
                </a:solidFill>
                <a:latin typeface="Arial" panose="020B0604020202020204" pitchFamily="34" charset="0"/>
                <a:cs typeface="Arial" panose="020B0604020202020204" pitchFamily="34" charset="0"/>
              </a:rPr>
              <a:t> has </a:t>
            </a:r>
            <a:r>
              <a:rPr lang="en-US" sz="2800" dirty="0">
                <a:solidFill>
                  <a:schemeClr val="tx1"/>
                </a:solidFill>
                <a:highlight>
                  <a:srgbClr val="FFFF00"/>
                </a:highlight>
                <a:latin typeface="Arial" panose="020B0604020202020204" pitchFamily="34" charset="0"/>
                <a:cs typeface="Arial" panose="020B0604020202020204" pitchFamily="34" charset="0"/>
              </a:rPr>
              <a:t>sensory organs </a:t>
            </a:r>
            <a:r>
              <a:rPr lang="en-US" sz="2800" dirty="0">
                <a:solidFill>
                  <a:schemeClr val="tx1"/>
                </a:solidFill>
                <a:latin typeface="Arial" panose="020B0604020202020204" pitchFamily="34" charset="0"/>
                <a:cs typeface="Arial" panose="020B0604020202020204" pitchFamily="34" charset="0"/>
              </a:rPr>
              <a:t>such as eyes, ears, nose, tongue and skin parallel to the sensors, and other organs such as hands, legs, mouth, for effectors.</a:t>
            </a:r>
          </a:p>
          <a:p>
            <a:pPr lvl="0">
              <a:buFont typeface="Wingdings" panose="05000000000000000000" pitchFamily="2" charset="2"/>
              <a:buChar char="v"/>
            </a:pPr>
            <a:r>
              <a:rPr lang="en-US" sz="2800" dirty="0">
                <a:solidFill>
                  <a:schemeClr val="tx1"/>
                </a:solidFill>
                <a:latin typeface="Arial" panose="020B0604020202020204" pitchFamily="34" charset="0"/>
                <a:cs typeface="Arial" panose="020B0604020202020204" pitchFamily="34" charset="0"/>
              </a:rPr>
              <a:t>An </a:t>
            </a:r>
            <a:r>
              <a:rPr lang="en-US" sz="2800" b="1" dirty="0">
                <a:solidFill>
                  <a:schemeClr val="tx1"/>
                </a:solidFill>
                <a:latin typeface="Arial" panose="020B0604020202020204" pitchFamily="34" charset="0"/>
                <a:cs typeface="Arial" panose="020B0604020202020204" pitchFamily="34" charset="0"/>
              </a:rPr>
              <a:t>Artificial (robotic) agent</a:t>
            </a:r>
            <a:r>
              <a:rPr lang="en-US" sz="2800" dirty="0">
                <a:solidFill>
                  <a:schemeClr val="tx1"/>
                </a:solidFill>
                <a:latin typeface="Arial" panose="020B0604020202020204" pitchFamily="34" charset="0"/>
                <a:cs typeface="Arial" panose="020B0604020202020204" pitchFamily="34" charset="0"/>
              </a:rPr>
              <a:t> </a:t>
            </a:r>
            <a:r>
              <a:rPr lang="en-US" sz="2800" dirty="0">
                <a:solidFill>
                  <a:schemeClr val="tx1"/>
                </a:solidFill>
                <a:highlight>
                  <a:srgbClr val="FFFF00"/>
                </a:highlight>
                <a:latin typeface="Arial" panose="020B0604020202020204" pitchFamily="34" charset="0"/>
                <a:cs typeface="Arial" panose="020B0604020202020204" pitchFamily="34" charset="0"/>
              </a:rPr>
              <a:t>replaces cameras and infrared </a:t>
            </a:r>
            <a:r>
              <a:rPr lang="en-US" sz="2800" dirty="0">
                <a:solidFill>
                  <a:schemeClr val="tx1"/>
                </a:solidFill>
                <a:latin typeface="Arial" panose="020B0604020202020204" pitchFamily="34" charset="0"/>
                <a:cs typeface="Arial" panose="020B0604020202020204" pitchFamily="34" charset="0"/>
              </a:rPr>
              <a:t>range finders for the sensors, and various motors and actuators for effectors.</a:t>
            </a:r>
          </a:p>
          <a:p>
            <a:pPr lvl="0">
              <a:buFont typeface="Wingdings" panose="05000000000000000000" pitchFamily="2" charset="2"/>
              <a:buChar char="v"/>
            </a:pPr>
            <a:r>
              <a:rPr lang="en-US" sz="2800" dirty="0">
                <a:solidFill>
                  <a:schemeClr val="tx1"/>
                </a:solidFill>
                <a:latin typeface="Arial" panose="020B0604020202020204" pitchFamily="34" charset="0"/>
                <a:cs typeface="Arial" panose="020B0604020202020204" pitchFamily="34" charset="0"/>
              </a:rPr>
              <a:t>A </a:t>
            </a:r>
            <a:r>
              <a:rPr lang="en-US" sz="2800" b="1" dirty="0">
                <a:solidFill>
                  <a:schemeClr val="tx1"/>
                </a:solidFill>
                <a:latin typeface="Arial" panose="020B0604020202020204" pitchFamily="34" charset="0"/>
                <a:cs typeface="Arial" panose="020B0604020202020204" pitchFamily="34" charset="0"/>
              </a:rPr>
              <a:t>software agent</a:t>
            </a:r>
            <a:r>
              <a:rPr lang="en-US" sz="2800" dirty="0">
                <a:solidFill>
                  <a:schemeClr val="tx1"/>
                </a:solidFill>
                <a:latin typeface="Arial" panose="020B0604020202020204" pitchFamily="34" charset="0"/>
                <a:cs typeface="Arial" panose="020B0604020202020204" pitchFamily="34" charset="0"/>
              </a:rPr>
              <a:t> has </a:t>
            </a:r>
            <a:r>
              <a:rPr lang="en-US" sz="2800" dirty="0">
                <a:solidFill>
                  <a:schemeClr val="tx1"/>
                </a:solidFill>
                <a:highlight>
                  <a:srgbClr val="FFFF00"/>
                </a:highlight>
                <a:latin typeface="Arial" panose="020B0604020202020204" pitchFamily="34" charset="0"/>
                <a:cs typeface="Arial" panose="020B0604020202020204" pitchFamily="34" charset="0"/>
              </a:rPr>
              <a:t>encoded bit strings </a:t>
            </a:r>
            <a:r>
              <a:rPr lang="en-US" sz="2800" dirty="0">
                <a:solidFill>
                  <a:schemeClr val="tx1"/>
                </a:solidFill>
                <a:latin typeface="Arial" panose="020B0604020202020204" pitchFamily="34" charset="0"/>
                <a:cs typeface="Arial" panose="020B0604020202020204" pitchFamily="34" charset="0"/>
              </a:rPr>
              <a:t>as its programs and actions.</a:t>
            </a:r>
          </a:p>
          <a:p>
            <a:endParaRPr lang="en-US" sz="2800" dirty="0"/>
          </a:p>
        </p:txBody>
      </p:sp>
      <p:sp>
        <p:nvSpPr>
          <p:cNvPr id="4" name="Footer Placeholder 3"/>
          <p:cNvSpPr>
            <a:spLocks noGrp="1"/>
          </p:cNvSpPr>
          <p:nvPr>
            <p:ph type="ftr" sz="quarter" idx="11"/>
          </p:nvPr>
        </p:nvSpPr>
        <p:spPr/>
        <p:txBody>
          <a:bodyPr/>
          <a:lstStyle/>
          <a:p>
            <a:r>
              <a:rPr lang="en-US" dirty="0"/>
              <a:t>Prof. Dr. A K M Akhtar Hossain, Dept. of CSE, RU.</a:t>
            </a:r>
          </a:p>
        </p:txBody>
      </p:sp>
      <p:sp>
        <p:nvSpPr>
          <p:cNvPr id="5" name="Slide Number Placeholder 4"/>
          <p:cNvSpPr>
            <a:spLocks noGrp="1"/>
          </p:cNvSpPr>
          <p:nvPr>
            <p:ph type="sldNum" sz="quarter" idx="12"/>
          </p:nvPr>
        </p:nvSpPr>
        <p:spPr/>
        <p:txBody>
          <a:bodyPr/>
          <a:lstStyle/>
          <a:p>
            <a:fld id="{519954A3-9DFD-4C44-94BA-B95130A3BA1C}" type="slidenum">
              <a:rPr lang="en-US" smtClean="0"/>
              <a:t>3</a:t>
            </a:fld>
            <a:endParaRPr lang="en-US" dirty="0"/>
          </a:p>
        </p:txBody>
      </p:sp>
    </p:spTree>
    <p:extLst>
      <p:ext uri="{BB962C8B-B14F-4D97-AF65-F5344CB8AC3E}">
        <p14:creationId xmlns:p14="http://schemas.microsoft.com/office/powerpoint/2010/main" val="3761692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79566"/>
          </a:xfrm>
        </p:spPr>
        <p:txBody>
          <a:bodyPr/>
          <a:lstStyle/>
          <a:p>
            <a:pPr algn="ctr"/>
            <a:r>
              <a:rPr lang="en-US" dirty="0">
                <a:solidFill>
                  <a:schemeClr val="tx1"/>
                </a:solidFill>
                <a:highlight>
                  <a:srgbClr val="FFFF00"/>
                </a:highlight>
                <a:latin typeface="Arial" panose="020B0604020202020204" pitchFamily="34" charset="0"/>
                <a:cs typeface="Arial" panose="020B0604020202020204" pitchFamily="34" charset="0"/>
              </a:rPr>
              <a:t>Agents in AI</a:t>
            </a:r>
            <a:endParaRPr lang="en-US" dirty="0">
              <a:highlight>
                <a:srgbClr val="FFFF00"/>
              </a:highlight>
            </a:endParaRPr>
          </a:p>
        </p:txBody>
      </p:sp>
      <p:pic>
        <p:nvPicPr>
          <p:cNvPr id="6" name="Content Placeholder 5"/>
          <p:cNvPicPr>
            <a:picLocks noGrp="1" noChangeAspect="1"/>
          </p:cNvPicPr>
          <p:nvPr>
            <p:ph idx="1"/>
          </p:nvPr>
        </p:nvPicPr>
        <p:blipFill>
          <a:blip r:embed="rId2"/>
          <a:stretch>
            <a:fillRect/>
          </a:stretch>
        </p:blipFill>
        <p:spPr>
          <a:xfrm>
            <a:off x="825478" y="2220686"/>
            <a:ext cx="7450953" cy="3376045"/>
          </a:xfrm>
          <a:prstGeom prst="rect">
            <a:avLst/>
          </a:prstGeom>
        </p:spPr>
      </p:pic>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4</a:t>
            </a:fld>
            <a:endParaRPr lang="en-US" dirty="0"/>
          </a:p>
        </p:txBody>
      </p:sp>
    </p:spTree>
    <p:extLst>
      <p:ext uri="{BB962C8B-B14F-4D97-AF65-F5344CB8AC3E}">
        <p14:creationId xmlns:p14="http://schemas.microsoft.com/office/powerpoint/2010/main" val="1251479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83771"/>
          </a:xfrm>
        </p:spPr>
        <p:txBody>
          <a:bodyPr/>
          <a:lstStyle/>
          <a:p>
            <a:pPr algn="ctr"/>
            <a:r>
              <a:rPr lang="en-US" dirty="0">
                <a:solidFill>
                  <a:schemeClr val="tx1"/>
                </a:solidFill>
                <a:latin typeface="Arial" panose="020B0604020202020204" pitchFamily="34" charset="0"/>
                <a:cs typeface="Arial" panose="020B0604020202020204" pitchFamily="34" charset="0"/>
              </a:rPr>
              <a:t>Agents in AI</a:t>
            </a:r>
            <a:endParaRPr lang="en-US" dirty="0"/>
          </a:p>
        </p:txBody>
      </p:sp>
      <p:sp>
        <p:nvSpPr>
          <p:cNvPr id="3" name="Content Placeholder 2"/>
          <p:cNvSpPr>
            <a:spLocks noGrp="1"/>
          </p:cNvSpPr>
          <p:nvPr>
            <p:ph idx="1"/>
          </p:nvPr>
        </p:nvSpPr>
        <p:spPr>
          <a:xfrm>
            <a:off x="677334" y="1576251"/>
            <a:ext cx="8596668" cy="4465111"/>
          </a:xfrm>
        </p:spPr>
        <p:txBody>
          <a:bodyPr>
            <a:normAutofit/>
          </a:bodyPr>
          <a:lstStyle/>
          <a:p>
            <a:r>
              <a:rPr lang="en-US" sz="2400" dirty="0">
                <a:highlight>
                  <a:srgbClr val="FFFF00"/>
                </a:highlight>
              </a:rPr>
              <a:t>Agent Terminology:</a:t>
            </a:r>
          </a:p>
          <a:p>
            <a:pPr lvl="1" algn="just">
              <a:buFont typeface="Wingdings" panose="05000000000000000000" pitchFamily="2" charset="2"/>
              <a:buChar char="v"/>
            </a:pPr>
            <a:r>
              <a:rPr lang="en-US" sz="2200" b="1" dirty="0">
                <a:highlight>
                  <a:srgbClr val="FFFF00"/>
                </a:highlight>
              </a:rPr>
              <a:t>Performance Measure of Agent</a:t>
            </a:r>
            <a:r>
              <a:rPr lang="en-US" sz="2200" dirty="0">
                <a:highlight>
                  <a:srgbClr val="FFFF00"/>
                </a:highlight>
              </a:rPr>
              <a:t> </a:t>
            </a:r>
            <a:r>
              <a:rPr lang="en-US" sz="2200" dirty="0"/>
              <a:t>− It is the criteria, which determines how successful an agent is.</a:t>
            </a:r>
          </a:p>
          <a:p>
            <a:pPr lvl="1" algn="just">
              <a:buFont typeface="Wingdings" panose="05000000000000000000" pitchFamily="2" charset="2"/>
              <a:buChar char="v"/>
            </a:pPr>
            <a:r>
              <a:rPr lang="en-US" sz="2200" b="1" dirty="0">
                <a:highlight>
                  <a:srgbClr val="FFFF00"/>
                </a:highlight>
              </a:rPr>
              <a:t>Behavior of Agent</a:t>
            </a:r>
            <a:r>
              <a:rPr lang="en-US" sz="2200" dirty="0">
                <a:highlight>
                  <a:srgbClr val="FFFF00"/>
                </a:highlight>
              </a:rPr>
              <a:t> </a:t>
            </a:r>
            <a:r>
              <a:rPr lang="en-US" sz="2200" dirty="0"/>
              <a:t>− It is the action that agent performs after any given sequence of percepts.</a:t>
            </a:r>
          </a:p>
          <a:p>
            <a:pPr lvl="1" algn="just">
              <a:buFont typeface="Wingdings" panose="05000000000000000000" pitchFamily="2" charset="2"/>
              <a:buChar char="v"/>
            </a:pPr>
            <a:r>
              <a:rPr lang="en-US" sz="2200" b="1" dirty="0">
                <a:highlight>
                  <a:srgbClr val="FFFF00"/>
                </a:highlight>
              </a:rPr>
              <a:t>Percept</a:t>
            </a:r>
            <a:r>
              <a:rPr lang="en-US" sz="2200" dirty="0"/>
              <a:t> − It is agent’s perceptual inputs at a given instance.</a:t>
            </a:r>
          </a:p>
          <a:p>
            <a:pPr lvl="1" algn="just">
              <a:buFont typeface="Wingdings" panose="05000000000000000000" pitchFamily="2" charset="2"/>
              <a:buChar char="v"/>
            </a:pPr>
            <a:r>
              <a:rPr lang="en-US" sz="2200" b="1" dirty="0">
                <a:highlight>
                  <a:srgbClr val="FFFF00"/>
                </a:highlight>
              </a:rPr>
              <a:t>Percept Sequence</a:t>
            </a:r>
            <a:r>
              <a:rPr lang="en-US" sz="2200" dirty="0">
                <a:highlight>
                  <a:srgbClr val="FFFF00"/>
                </a:highlight>
              </a:rPr>
              <a:t> </a:t>
            </a:r>
            <a:r>
              <a:rPr lang="en-US" sz="2200" dirty="0"/>
              <a:t>− It is the history of all that an agent has perceived till date.</a:t>
            </a:r>
          </a:p>
          <a:p>
            <a:pPr lvl="1" algn="just">
              <a:buFont typeface="Wingdings" panose="05000000000000000000" pitchFamily="2" charset="2"/>
              <a:buChar char="v"/>
            </a:pPr>
            <a:r>
              <a:rPr lang="en-US" sz="2200" b="1" dirty="0">
                <a:highlight>
                  <a:srgbClr val="FFFF00"/>
                </a:highlight>
              </a:rPr>
              <a:t>Agent Function</a:t>
            </a:r>
            <a:r>
              <a:rPr lang="en-US" sz="2200" dirty="0">
                <a:highlight>
                  <a:srgbClr val="FFFF00"/>
                </a:highlight>
              </a:rPr>
              <a:t> </a:t>
            </a:r>
            <a:r>
              <a:rPr lang="en-US" sz="2200" dirty="0"/>
              <a:t>− It is a map from the precept sequence to an action.</a:t>
            </a:r>
          </a:p>
          <a:p>
            <a:endParaRPr lang="en-US" dirty="0"/>
          </a:p>
          <a:p>
            <a:endParaRPr lang="en-US"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5</a:t>
            </a:fld>
            <a:endParaRPr lang="en-US" dirty="0"/>
          </a:p>
        </p:txBody>
      </p:sp>
    </p:spTree>
    <p:extLst>
      <p:ext uri="{BB962C8B-B14F-4D97-AF65-F5344CB8AC3E}">
        <p14:creationId xmlns:p14="http://schemas.microsoft.com/office/powerpoint/2010/main" val="3053410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4103"/>
          </a:xfrm>
        </p:spPr>
        <p:txBody>
          <a:bodyPr/>
          <a:lstStyle/>
          <a:p>
            <a:pPr algn="ctr"/>
            <a:r>
              <a:rPr lang="en-US" dirty="0">
                <a:solidFill>
                  <a:schemeClr val="tx1"/>
                </a:solidFill>
                <a:latin typeface="Arial" panose="020B0604020202020204" pitchFamily="34" charset="0"/>
                <a:cs typeface="Arial" panose="020B0604020202020204" pitchFamily="34" charset="0"/>
              </a:rPr>
              <a:t>Agents in AI</a:t>
            </a:r>
            <a:endParaRPr lang="en-US" dirty="0"/>
          </a:p>
        </p:txBody>
      </p:sp>
      <p:sp>
        <p:nvSpPr>
          <p:cNvPr id="3" name="Content Placeholder 2"/>
          <p:cNvSpPr>
            <a:spLocks noGrp="1"/>
          </p:cNvSpPr>
          <p:nvPr>
            <p:ph idx="1"/>
          </p:nvPr>
        </p:nvSpPr>
        <p:spPr>
          <a:xfrm>
            <a:off x="677334" y="1384663"/>
            <a:ext cx="9685866" cy="4656699"/>
          </a:xfrm>
        </p:spPr>
        <p:txBody>
          <a:bodyPr>
            <a:normAutofit fontScale="92500" lnSpcReduction="10000"/>
          </a:bodyPr>
          <a:lstStyle/>
          <a:p>
            <a:r>
              <a:rPr lang="en-US" sz="2600" b="1" dirty="0">
                <a:highlight>
                  <a:srgbClr val="FFFF00"/>
                </a:highlight>
              </a:rPr>
              <a:t>Rationality:</a:t>
            </a:r>
          </a:p>
          <a:p>
            <a:pPr lvl="1">
              <a:buFont typeface="Wingdings" panose="05000000000000000000" pitchFamily="2" charset="2"/>
              <a:buChar char="v"/>
            </a:pPr>
            <a:r>
              <a:rPr lang="en-US" sz="2200" dirty="0"/>
              <a:t>Rationality is nothing but status of </a:t>
            </a:r>
            <a:r>
              <a:rPr lang="en-US" sz="2200" dirty="0">
                <a:highlight>
                  <a:srgbClr val="FFFF00"/>
                </a:highlight>
              </a:rPr>
              <a:t>being reasonable</a:t>
            </a:r>
            <a:r>
              <a:rPr lang="en-US" sz="2200" dirty="0"/>
              <a:t>, </a:t>
            </a:r>
            <a:r>
              <a:rPr lang="en-US" sz="2200" dirty="0">
                <a:highlight>
                  <a:srgbClr val="FFFF00"/>
                </a:highlight>
              </a:rPr>
              <a:t>sensible</a:t>
            </a:r>
            <a:r>
              <a:rPr lang="en-US" sz="2200" dirty="0"/>
              <a:t>, and </a:t>
            </a:r>
            <a:r>
              <a:rPr lang="en-US" sz="2200" dirty="0">
                <a:highlight>
                  <a:srgbClr val="FFFF00"/>
                </a:highlight>
              </a:rPr>
              <a:t>having</a:t>
            </a:r>
            <a:r>
              <a:rPr lang="en-US" sz="2200" dirty="0"/>
              <a:t> </a:t>
            </a:r>
            <a:r>
              <a:rPr lang="en-US" sz="2200" dirty="0">
                <a:highlight>
                  <a:srgbClr val="FFFF00"/>
                </a:highlight>
              </a:rPr>
              <a:t>good sense of judgment</a:t>
            </a:r>
            <a:r>
              <a:rPr lang="en-US" sz="2200" dirty="0"/>
              <a:t>.</a:t>
            </a:r>
          </a:p>
          <a:p>
            <a:pPr lvl="1">
              <a:buFont typeface="Wingdings" panose="05000000000000000000" pitchFamily="2" charset="2"/>
              <a:buChar char="v"/>
            </a:pPr>
            <a:r>
              <a:rPr lang="en-US" sz="2200" dirty="0"/>
              <a:t>Rationality </a:t>
            </a:r>
            <a:r>
              <a:rPr lang="en-US" sz="2200" dirty="0">
                <a:highlight>
                  <a:srgbClr val="FFFF00"/>
                </a:highlight>
              </a:rPr>
              <a:t>is concerned with expected actions and results </a:t>
            </a:r>
            <a:r>
              <a:rPr lang="en-US" sz="2200" dirty="0"/>
              <a:t>depending upon what the agent has perceived. </a:t>
            </a:r>
          </a:p>
          <a:p>
            <a:pPr lvl="1">
              <a:buFont typeface="Wingdings" panose="05000000000000000000" pitchFamily="2" charset="2"/>
              <a:buChar char="v"/>
            </a:pPr>
            <a:r>
              <a:rPr lang="en-US" sz="2200" dirty="0"/>
              <a:t>Performing actions with the aim of </a:t>
            </a:r>
            <a:r>
              <a:rPr lang="en-US" sz="2200" dirty="0">
                <a:highlight>
                  <a:srgbClr val="FFFF00"/>
                </a:highlight>
              </a:rPr>
              <a:t>obtaining useful information </a:t>
            </a:r>
            <a:r>
              <a:rPr lang="en-US" sz="2200" dirty="0"/>
              <a:t>is an important part of rationality.</a:t>
            </a:r>
          </a:p>
          <a:p>
            <a:r>
              <a:rPr lang="en-US" sz="2600" b="1" dirty="0">
                <a:highlight>
                  <a:srgbClr val="FFFF00"/>
                </a:highlight>
              </a:rPr>
              <a:t>What is Ideal Rational Agent?</a:t>
            </a:r>
          </a:p>
          <a:p>
            <a:r>
              <a:rPr lang="en-US" sz="2400" dirty="0"/>
              <a:t>An ideal rational agent is the one, which is </a:t>
            </a:r>
            <a:r>
              <a:rPr lang="en-US" sz="2400" dirty="0">
                <a:highlight>
                  <a:srgbClr val="FFFF00"/>
                </a:highlight>
              </a:rPr>
              <a:t>capable of doing expected actions to maximize its performance measure,</a:t>
            </a:r>
            <a:r>
              <a:rPr lang="en-US" sz="2400" dirty="0"/>
              <a:t> on the basis of −</a:t>
            </a:r>
          </a:p>
          <a:p>
            <a:pPr lvl="2">
              <a:buFont typeface="Wingdings" panose="05000000000000000000" pitchFamily="2" charset="2"/>
              <a:buChar char="v"/>
            </a:pPr>
            <a:r>
              <a:rPr lang="en-US" sz="2000" dirty="0">
                <a:highlight>
                  <a:srgbClr val="FFFF00"/>
                </a:highlight>
              </a:rPr>
              <a:t>Its percept sequence</a:t>
            </a:r>
          </a:p>
          <a:p>
            <a:pPr lvl="2">
              <a:buFont typeface="Wingdings" panose="05000000000000000000" pitchFamily="2" charset="2"/>
              <a:buChar char="v"/>
            </a:pPr>
            <a:r>
              <a:rPr lang="en-US" sz="2000" dirty="0">
                <a:highlight>
                  <a:srgbClr val="FFFF00"/>
                </a:highlight>
              </a:rPr>
              <a:t>Its built-in knowledge base</a:t>
            </a:r>
          </a:p>
          <a:p>
            <a:endParaRPr lang="en-US"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6</a:t>
            </a:fld>
            <a:endParaRPr lang="en-US" dirty="0"/>
          </a:p>
        </p:txBody>
      </p:sp>
    </p:spTree>
    <p:extLst>
      <p:ext uri="{BB962C8B-B14F-4D97-AF65-F5344CB8AC3E}">
        <p14:creationId xmlns:p14="http://schemas.microsoft.com/office/powerpoint/2010/main" val="1455160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69079"/>
          </a:xfrm>
        </p:spPr>
        <p:txBody>
          <a:bodyPr>
            <a:normAutofit fontScale="90000"/>
          </a:bodyPr>
          <a:lstStyle/>
          <a:p>
            <a:pPr algn="ctr"/>
            <a:r>
              <a:rPr lang="en-US" dirty="0">
                <a:solidFill>
                  <a:schemeClr val="tx1"/>
                </a:solidFill>
                <a:latin typeface="Arial" panose="020B0604020202020204" pitchFamily="34" charset="0"/>
                <a:cs typeface="Arial" panose="020B0604020202020204" pitchFamily="34" charset="0"/>
              </a:rPr>
              <a:t>Agents in AI</a:t>
            </a:r>
            <a:endParaRPr lang="en-US" dirty="0"/>
          </a:p>
        </p:txBody>
      </p:sp>
      <p:sp>
        <p:nvSpPr>
          <p:cNvPr id="3" name="Content Placeholder 2"/>
          <p:cNvSpPr>
            <a:spLocks noGrp="1"/>
          </p:cNvSpPr>
          <p:nvPr>
            <p:ph idx="1"/>
          </p:nvPr>
        </p:nvSpPr>
        <p:spPr>
          <a:xfrm>
            <a:off x="677333" y="1254034"/>
            <a:ext cx="9189477" cy="4981303"/>
          </a:xfrm>
        </p:spPr>
        <p:txBody>
          <a:bodyPr>
            <a:normAutofit lnSpcReduction="10000"/>
          </a:bodyPr>
          <a:lstStyle/>
          <a:p>
            <a:r>
              <a:rPr lang="en-US" sz="2400" b="1" dirty="0">
                <a:highlight>
                  <a:srgbClr val="FFFF00"/>
                </a:highlight>
              </a:rPr>
              <a:t>Rationality of an agent depends on the following:</a:t>
            </a:r>
          </a:p>
          <a:p>
            <a:pPr lvl="1">
              <a:buFont typeface="Wingdings" panose="05000000000000000000" pitchFamily="2" charset="2"/>
              <a:buChar char="v"/>
            </a:pPr>
            <a:r>
              <a:rPr lang="en-US" sz="2400" dirty="0"/>
              <a:t>The </a:t>
            </a:r>
            <a:r>
              <a:rPr lang="en-US" sz="2400" b="1" dirty="0">
                <a:highlight>
                  <a:srgbClr val="FFFF00"/>
                </a:highlight>
              </a:rPr>
              <a:t>performance measures</a:t>
            </a:r>
            <a:r>
              <a:rPr lang="en-US" sz="2400" dirty="0"/>
              <a:t>, which determine the degree of success.</a:t>
            </a:r>
          </a:p>
          <a:p>
            <a:pPr lvl="1">
              <a:buFont typeface="Wingdings" panose="05000000000000000000" pitchFamily="2" charset="2"/>
              <a:buChar char="v"/>
            </a:pPr>
            <a:r>
              <a:rPr lang="en-US" sz="2400" dirty="0"/>
              <a:t>Agent’s </a:t>
            </a:r>
            <a:r>
              <a:rPr lang="en-US" sz="2400" b="1" dirty="0">
                <a:highlight>
                  <a:srgbClr val="FFFF00"/>
                </a:highlight>
              </a:rPr>
              <a:t>Percept Sequence</a:t>
            </a:r>
            <a:r>
              <a:rPr lang="en-US" sz="2400" dirty="0">
                <a:highlight>
                  <a:srgbClr val="FFFF00"/>
                </a:highlight>
              </a:rPr>
              <a:t> </a:t>
            </a:r>
            <a:r>
              <a:rPr lang="en-US" sz="2400" dirty="0"/>
              <a:t>till now.</a:t>
            </a:r>
          </a:p>
          <a:p>
            <a:pPr lvl="1">
              <a:buFont typeface="Wingdings" panose="05000000000000000000" pitchFamily="2" charset="2"/>
              <a:buChar char="v"/>
            </a:pPr>
            <a:r>
              <a:rPr lang="en-US" sz="2400" dirty="0"/>
              <a:t>The agent’s </a:t>
            </a:r>
            <a:r>
              <a:rPr lang="en-US" sz="2400" b="1" dirty="0">
                <a:highlight>
                  <a:srgbClr val="FFFF00"/>
                </a:highlight>
              </a:rPr>
              <a:t>prior knowledge about the environment</a:t>
            </a:r>
            <a:r>
              <a:rPr lang="en-US" sz="2400" dirty="0">
                <a:highlight>
                  <a:srgbClr val="FFFF00"/>
                </a:highlight>
              </a:rPr>
              <a:t>.</a:t>
            </a:r>
          </a:p>
          <a:p>
            <a:pPr lvl="1">
              <a:buFont typeface="Wingdings" panose="05000000000000000000" pitchFamily="2" charset="2"/>
              <a:buChar char="v"/>
            </a:pPr>
            <a:r>
              <a:rPr lang="en-US" sz="2400" dirty="0"/>
              <a:t>The </a:t>
            </a:r>
            <a:r>
              <a:rPr lang="en-US" sz="2400" b="1" dirty="0"/>
              <a:t>actions</a:t>
            </a:r>
            <a:r>
              <a:rPr lang="en-US" sz="2400" dirty="0"/>
              <a:t> that the </a:t>
            </a:r>
            <a:r>
              <a:rPr lang="en-US" sz="2400" b="1" dirty="0">
                <a:highlight>
                  <a:srgbClr val="FFFF00"/>
                </a:highlight>
              </a:rPr>
              <a:t>agent can carry out</a:t>
            </a:r>
            <a:r>
              <a:rPr lang="en-US" sz="2400" dirty="0">
                <a:highlight>
                  <a:srgbClr val="FFFF00"/>
                </a:highlight>
              </a:rPr>
              <a:t>.</a:t>
            </a:r>
          </a:p>
          <a:p>
            <a:r>
              <a:rPr lang="en-US" sz="2400" dirty="0"/>
              <a:t>A </a:t>
            </a:r>
            <a:r>
              <a:rPr lang="en-US" sz="2400" b="1" dirty="0"/>
              <a:t>rational agent </a:t>
            </a:r>
            <a:r>
              <a:rPr lang="en-US" sz="2400" dirty="0"/>
              <a:t>always performs </a:t>
            </a:r>
            <a:r>
              <a:rPr lang="en-US" sz="2400" b="1" dirty="0"/>
              <a:t>right action</a:t>
            </a:r>
            <a:r>
              <a:rPr lang="en-US" sz="2400" dirty="0"/>
              <a:t>, where the </a:t>
            </a:r>
            <a:r>
              <a:rPr lang="en-US" sz="2400" b="1" dirty="0"/>
              <a:t>right action means </a:t>
            </a:r>
            <a:r>
              <a:rPr lang="en-US" sz="2400" dirty="0">
                <a:highlight>
                  <a:srgbClr val="FFFF00"/>
                </a:highlight>
              </a:rPr>
              <a:t>the action that causes the agent to be </a:t>
            </a:r>
            <a:r>
              <a:rPr lang="en-US" sz="2400" b="1" dirty="0">
                <a:highlight>
                  <a:srgbClr val="FFFF00"/>
                </a:highlight>
              </a:rPr>
              <a:t>most successful</a:t>
            </a:r>
            <a:r>
              <a:rPr lang="en-US" sz="2400" b="1" dirty="0"/>
              <a:t> </a:t>
            </a:r>
            <a:r>
              <a:rPr lang="en-US" sz="2400" dirty="0"/>
              <a:t>in the given percept sequence. </a:t>
            </a:r>
          </a:p>
          <a:p>
            <a:r>
              <a:rPr lang="en-US" sz="2400" dirty="0"/>
              <a:t>The </a:t>
            </a:r>
            <a:r>
              <a:rPr lang="en-US" sz="2400" b="1" dirty="0"/>
              <a:t>problem the agent </a:t>
            </a:r>
            <a:r>
              <a:rPr lang="en-US" sz="2400" dirty="0">
                <a:highlight>
                  <a:srgbClr val="FFFF00"/>
                </a:highlight>
              </a:rPr>
              <a:t>solves</a:t>
            </a:r>
            <a:r>
              <a:rPr lang="en-US" sz="2400" dirty="0"/>
              <a:t> is characterized by </a:t>
            </a:r>
            <a:r>
              <a:rPr lang="en-US" sz="2400" b="1" dirty="0">
                <a:highlight>
                  <a:srgbClr val="FFFF00"/>
                </a:highlight>
              </a:rPr>
              <a:t>Performance Measure</a:t>
            </a:r>
            <a:r>
              <a:rPr lang="en-US" sz="2400" dirty="0">
                <a:highlight>
                  <a:srgbClr val="FFFF00"/>
                </a:highlight>
              </a:rPr>
              <a:t>, </a:t>
            </a:r>
            <a:r>
              <a:rPr lang="en-US" sz="2400" b="1" dirty="0">
                <a:highlight>
                  <a:srgbClr val="FFFF00"/>
                </a:highlight>
              </a:rPr>
              <a:t>Environment</a:t>
            </a:r>
            <a:r>
              <a:rPr lang="en-US" sz="2400" dirty="0">
                <a:highlight>
                  <a:srgbClr val="FFFF00"/>
                </a:highlight>
              </a:rPr>
              <a:t>, </a:t>
            </a:r>
            <a:r>
              <a:rPr lang="en-US" sz="2400" b="1" dirty="0">
                <a:highlight>
                  <a:srgbClr val="FFFF00"/>
                </a:highlight>
              </a:rPr>
              <a:t>Actuators,</a:t>
            </a:r>
            <a:r>
              <a:rPr lang="en-US" sz="2400" dirty="0">
                <a:highlight>
                  <a:srgbClr val="FFFF00"/>
                </a:highlight>
              </a:rPr>
              <a:t> and </a:t>
            </a:r>
            <a:r>
              <a:rPr lang="en-US" sz="2400" b="1" dirty="0">
                <a:highlight>
                  <a:srgbClr val="FFFF00"/>
                </a:highlight>
              </a:rPr>
              <a:t>Sensors</a:t>
            </a:r>
            <a:r>
              <a:rPr lang="en-US" sz="2400" dirty="0">
                <a:highlight>
                  <a:srgbClr val="FFFF00"/>
                </a:highlight>
              </a:rPr>
              <a:t>.</a:t>
            </a:r>
          </a:p>
          <a:p>
            <a:endParaRPr lang="en-US" dirty="0"/>
          </a:p>
        </p:txBody>
      </p:sp>
      <p:sp>
        <p:nvSpPr>
          <p:cNvPr id="4" name="Footer Placeholder 3"/>
          <p:cNvSpPr>
            <a:spLocks noGrp="1"/>
          </p:cNvSpPr>
          <p:nvPr>
            <p:ph type="ftr" sz="quarter" idx="11"/>
          </p:nvPr>
        </p:nvSpPr>
        <p:spPr/>
        <p:txBody>
          <a:bodyPr/>
          <a:lstStyle/>
          <a:p>
            <a:r>
              <a:rPr lang="en-US" dirty="0"/>
              <a:t>Prof. Dr. A K M Akhtar Hossain, Dept. of CSE, RU.</a:t>
            </a:r>
          </a:p>
        </p:txBody>
      </p:sp>
      <p:sp>
        <p:nvSpPr>
          <p:cNvPr id="5" name="Slide Number Placeholder 4"/>
          <p:cNvSpPr>
            <a:spLocks noGrp="1"/>
          </p:cNvSpPr>
          <p:nvPr>
            <p:ph type="sldNum" sz="quarter" idx="12"/>
          </p:nvPr>
        </p:nvSpPr>
        <p:spPr/>
        <p:txBody>
          <a:bodyPr/>
          <a:lstStyle/>
          <a:p>
            <a:fld id="{519954A3-9DFD-4C44-94BA-B95130A3BA1C}" type="slidenum">
              <a:rPr lang="en-US" smtClean="0"/>
              <a:t>7</a:t>
            </a:fld>
            <a:endParaRPr lang="en-US" dirty="0"/>
          </a:p>
        </p:txBody>
      </p:sp>
    </p:spTree>
    <p:extLst>
      <p:ext uri="{BB962C8B-B14F-4D97-AF65-F5344CB8AC3E}">
        <p14:creationId xmlns:p14="http://schemas.microsoft.com/office/powerpoint/2010/main" val="428292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44476"/>
            <a:ext cx="8596668" cy="714103"/>
          </a:xfrm>
        </p:spPr>
        <p:txBody>
          <a:bodyPr/>
          <a:lstStyle/>
          <a:p>
            <a:pPr algn="ctr"/>
            <a:r>
              <a:rPr lang="en-US" dirty="0">
                <a:solidFill>
                  <a:schemeClr val="tx1"/>
                </a:solidFill>
                <a:latin typeface="Arial" panose="020B0604020202020204" pitchFamily="34" charset="0"/>
                <a:cs typeface="Arial" panose="020B0604020202020204" pitchFamily="34" charset="0"/>
              </a:rPr>
              <a:t>Agents in AI</a:t>
            </a:r>
            <a:endParaRPr lang="en-US" dirty="0"/>
          </a:p>
        </p:txBody>
      </p:sp>
      <p:sp>
        <p:nvSpPr>
          <p:cNvPr id="3" name="Content Placeholder 2"/>
          <p:cNvSpPr>
            <a:spLocks noGrp="1"/>
          </p:cNvSpPr>
          <p:nvPr>
            <p:ph idx="1"/>
          </p:nvPr>
        </p:nvSpPr>
        <p:spPr>
          <a:xfrm>
            <a:off x="677333" y="958579"/>
            <a:ext cx="10521890" cy="5207090"/>
          </a:xfrm>
        </p:spPr>
        <p:txBody>
          <a:bodyPr>
            <a:noAutofit/>
          </a:bodyPr>
          <a:lstStyle/>
          <a:p>
            <a:r>
              <a:rPr lang="en-US" sz="2400" dirty="0">
                <a:highlight>
                  <a:srgbClr val="FFFF00"/>
                </a:highlight>
              </a:rPr>
              <a:t>Some Terminologies for Agents in AI:</a:t>
            </a:r>
          </a:p>
          <a:p>
            <a:pPr marL="342900" lvl="1" indent="-342900"/>
            <a:r>
              <a:rPr lang="en-US" sz="2400" b="1" dirty="0">
                <a:highlight>
                  <a:srgbClr val="FFFF00"/>
                </a:highlight>
              </a:rPr>
              <a:t>Percept: </a:t>
            </a:r>
            <a:r>
              <a:rPr lang="en-US" sz="2400" dirty="0"/>
              <a:t>It is agent’s perceptual inputs at a given instance.</a:t>
            </a:r>
          </a:p>
          <a:p>
            <a:r>
              <a:rPr lang="en-US" sz="2400" b="1" dirty="0">
                <a:highlight>
                  <a:srgbClr val="FFFF00"/>
                </a:highlight>
              </a:rPr>
              <a:t>Actuator: </a:t>
            </a:r>
            <a:r>
              <a:rPr lang="en-US" sz="2400" dirty="0"/>
              <a:t>An </a:t>
            </a:r>
            <a:r>
              <a:rPr lang="en-US" sz="2400" b="1" dirty="0"/>
              <a:t>actuator</a:t>
            </a:r>
            <a:r>
              <a:rPr lang="en-US" sz="2400" dirty="0"/>
              <a:t> is a device that </a:t>
            </a:r>
            <a:r>
              <a:rPr lang="en-US" sz="2400" dirty="0">
                <a:highlight>
                  <a:srgbClr val="FFFF00"/>
                </a:highlight>
              </a:rPr>
              <a:t>makes something move or operate</a:t>
            </a:r>
            <a:r>
              <a:rPr lang="en-US" sz="2400" dirty="0"/>
              <a:t>.  An </a:t>
            </a:r>
            <a:r>
              <a:rPr lang="en-US" sz="2400" b="1" dirty="0"/>
              <a:t>actuator</a:t>
            </a:r>
            <a:r>
              <a:rPr lang="en-US" sz="2400" dirty="0"/>
              <a:t> is a device that </a:t>
            </a:r>
            <a:r>
              <a:rPr lang="en-US" sz="2400" dirty="0">
                <a:highlight>
                  <a:srgbClr val="FFFF00"/>
                </a:highlight>
              </a:rPr>
              <a:t>uses a form of power to convert a control signal into mechanical motion.</a:t>
            </a:r>
            <a:r>
              <a:rPr lang="en-US" sz="2400" dirty="0"/>
              <a:t> </a:t>
            </a:r>
            <a:endParaRPr lang="en-US" sz="2400" b="1" dirty="0"/>
          </a:p>
          <a:p>
            <a:r>
              <a:rPr lang="en-US" sz="2400" b="1" dirty="0">
                <a:highlight>
                  <a:srgbClr val="FFFF00"/>
                </a:highlight>
              </a:rPr>
              <a:t>Sensor</a:t>
            </a:r>
            <a:r>
              <a:rPr lang="en-US" sz="2400" b="1" dirty="0"/>
              <a:t>:</a:t>
            </a:r>
            <a:r>
              <a:rPr lang="en-US" sz="2400" dirty="0"/>
              <a:t> A </a:t>
            </a:r>
            <a:r>
              <a:rPr lang="en-US" sz="2400" b="1" dirty="0"/>
              <a:t>sensor</a:t>
            </a:r>
            <a:r>
              <a:rPr lang="en-US" sz="2400" dirty="0"/>
              <a:t> is a device </a:t>
            </a:r>
            <a:r>
              <a:rPr lang="en-US" sz="2400" dirty="0">
                <a:highlight>
                  <a:srgbClr val="FFFF00"/>
                </a:highlight>
              </a:rPr>
              <a:t>that detects the change in the environment and responds</a:t>
            </a:r>
            <a:r>
              <a:rPr lang="en-US" sz="2400" dirty="0"/>
              <a:t> to some output on the other system.</a:t>
            </a:r>
            <a:endParaRPr lang="en-US" sz="2400" b="1" dirty="0"/>
          </a:p>
          <a:p>
            <a:r>
              <a:rPr lang="en-US" sz="2400" b="1" dirty="0">
                <a:highlight>
                  <a:srgbClr val="FFFF00"/>
                </a:highlight>
              </a:rPr>
              <a:t>Effector: </a:t>
            </a:r>
            <a:r>
              <a:rPr lang="en-US" sz="2400" dirty="0"/>
              <a:t>An </a:t>
            </a:r>
            <a:r>
              <a:rPr lang="en-US" sz="2400" b="1" dirty="0"/>
              <a:t>effector</a:t>
            </a:r>
            <a:r>
              <a:rPr lang="en-US" sz="2400" dirty="0"/>
              <a:t> is any device that affects the environment. </a:t>
            </a:r>
          </a:p>
          <a:p>
            <a:pPr lvl="1">
              <a:buFont typeface="Wingdings" panose="05000000000000000000" pitchFamily="2" charset="2"/>
              <a:buChar char="v"/>
            </a:pPr>
            <a:r>
              <a:rPr lang="en-US" sz="2000" dirty="0"/>
              <a:t>Robots control their </a:t>
            </a:r>
            <a:r>
              <a:rPr lang="en-US" sz="2000" b="1" dirty="0"/>
              <a:t>effectors</a:t>
            </a:r>
            <a:r>
              <a:rPr lang="en-US" sz="2000" dirty="0"/>
              <a:t>, which are also known as </a:t>
            </a:r>
            <a:r>
              <a:rPr lang="en-US" sz="2000" dirty="0">
                <a:highlight>
                  <a:srgbClr val="FFFF00"/>
                </a:highlight>
              </a:rPr>
              <a:t>end </a:t>
            </a:r>
            <a:r>
              <a:rPr lang="en-US" sz="2000" b="1" dirty="0">
                <a:highlight>
                  <a:srgbClr val="FFFF00"/>
                </a:highlight>
              </a:rPr>
              <a:t>effectors</a:t>
            </a:r>
            <a:r>
              <a:rPr lang="en-US" sz="2000" dirty="0"/>
              <a:t>. </a:t>
            </a:r>
          </a:p>
          <a:p>
            <a:pPr lvl="1">
              <a:buFont typeface="Wingdings" panose="05000000000000000000" pitchFamily="2" charset="2"/>
              <a:buChar char="v"/>
            </a:pPr>
            <a:r>
              <a:rPr lang="en-US" sz="2000" b="1" dirty="0"/>
              <a:t>Effectors</a:t>
            </a:r>
            <a:r>
              <a:rPr lang="en-US" sz="2000" dirty="0"/>
              <a:t> include</a:t>
            </a:r>
            <a:r>
              <a:rPr lang="en-US" sz="2000" dirty="0">
                <a:highlight>
                  <a:srgbClr val="FFFF00"/>
                </a:highlight>
              </a:rPr>
              <a:t> legs, wheels, arms, fingers, wings and fins. </a:t>
            </a:r>
          </a:p>
          <a:p>
            <a:pPr lvl="1">
              <a:buFont typeface="Wingdings" panose="05000000000000000000" pitchFamily="2" charset="2"/>
              <a:buChar char="v"/>
            </a:pPr>
            <a:r>
              <a:rPr lang="en-US" sz="2000" dirty="0"/>
              <a:t>Controllers cause the </a:t>
            </a:r>
            <a:r>
              <a:rPr lang="en-US" sz="2000" b="1" dirty="0"/>
              <a:t>effectors</a:t>
            </a:r>
            <a:r>
              <a:rPr lang="en-US" sz="2000" dirty="0"/>
              <a:t> to </a:t>
            </a:r>
            <a:r>
              <a:rPr lang="en-US" sz="2000" dirty="0">
                <a:highlight>
                  <a:srgbClr val="FFFF00"/>
                </a:highlight>
              </a:rPr>
              <a:t>produce desired effects </a:t>
            </a:r>
            <a:r>
              <a:rPr lang="en-US" sz="2000" dirty="0"/>
              <a:t>on the environment.</a:t>
            </a:r>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8</a:t>
            </a:fld>
            <a:endParaRPr lang="en-US" dirty="0"/>
          </a:p>
        </p:txBody>
      </p:sp>
    </p:spTree>
    <p:extLst>
      <p:ext uri="{BB962C8B-B14F-4D97-AF65-F5344CB8AC3E}">
        <p14:creationId xmlns:p14="http://schemas.microsoft.com/office/powerpoint/2010/main" val="900209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83771"/>
          </a:xfrm>
        </p:spPr>
        <p:txBody>
          <a:bodyPr/>
          <a:lstStyle/>
          <a:p>
            <a:pPr algn="ctr"/>
            <a:r>
              <a:rPr lang="en-US" dirty="0">
                <a:solidFill>
                  <a:schemeClr val="tx1"/>
                </a:solidFill>
                <a:latin typeface="Arial" panose="020B0604020202020204" pitchFamily="34" charset="0"/>
                <a:cs typeface="Arial" panose="020B0604020202020204" pitchFamily="34" charset="0"/>
              </a:rPr>
              <a:t>Agents in AI</a:t>
            </a:r>
            <a:endParaRPr lang="en-US" dirty="0"/>
          </a:p>
        </p:txBody>
      </p:sp>
      <p:sp>
        <p:nvSpPr>
          <p:cNvPr id="3" name="Content Placeholder 2"/>
          <p:cNvSpPr>
            <a:spLocks noGrp="1"/>
          </p:cNvSpPr>
          <p:nvPr>
            <p:ph idx="1"/>
          </p:nvPr>
        </p:nvSpPr>
        <p:spPr>
          <a:xfrm>
            <a:off x="677334" y="1497875"/>
            <a:ext cx="9285272" cy="4543488"/>
          </a:xfrm>
        </p:spPr>
        <p:txBody>
          <a:bodyPr>
            <a:normAutofit/>
          </a:bodyPr>
          <a:lstStyle/>
          <a:p>
            <a:r>
              <a:rPr lang="en-US" sz="2400" b="1" dirty="0">
                <a:highlight>
                  <a:srgbClr val="FFFF00"/>
                </a:highlight>
              </a:rPr>
              <a:t>The Structure of Intelligent Agents:</a:t>
            </a:r>
          </a:p>
          <a:p>
            <a:pPr lvl="1">
              <a:buFont typeface="Wingdings" panose="05000000000000000000" pitchFamily="2" charset="2"/>
              <a:buChar char="v"/>
            </a:pPr>
            <a:r>
              <a:rPr lang="en-US" sz="2600" dirty="0"/>
              <a:t>Agent’s structure can be viewed as −</a:t>
            </a:r>
          </a:p>
          <a:p>
            <a:pPr lvl="2">
              <a:buFont typeface="Wingdings" panose="05000000000000000000" pitchFamily="2" charset="2"/>
              <a:buChar char="v"/>
            </a:pPr>
            <a:r>
              <a:rPr lang="en-US" sz="2400" b="1" dirty="0">
                <a:highlight>
                  <a:srgbClr val="FFFF00"/>
                </a:highlight>
              </a:rPr>
              <a:t>Agent = Architecture + Agent Program</a:t>
            </a:r>
          </a:p>
          <a:p>
            <a:pPr lvl="2">
              <a:buFont typeface="Wingdings" panose="05000000000000000000" pitchFamily="2" charset="2"/>
              <a:buChar char="v"/>
            </a:pPr>
            <a:r>
              <a:rPr lang="en-US" sz="2400" b="1" dirty="0">
                <a:highlight>
                  <a:srgbClr val="FFFF00"/>
                </a:highlight>
              </a:rPr>
              <a:t>Architecture</a:t>
            </a:r>
            <a:r>
              <a:rPr lang="en-US" sz="2400" dirty="0"/>
              <a:t> = the machinery that an </a:t>
            </a:r>
            <a:r>
              <a:rPr lang="en-US" sz="2400" dirty="0">
                <a:highlight>
                  <a:srgbClr val="FFFF00"/>
                </a:highlight>
              </a:rPr>
              <a:t>agent executes on</a:t>
            </a:r>
            <a:r>
              <a:rPr lang="en-US" sz="2400" dirty="0"/>
              <a:t>.</a:t>
            </a:r>
          </a:p>
          <a:p>
            <a:pPr lvl="2">
              <a:buFont typeface="Wingdings" panose="05000000000000000000" pitchFamily="2" charset="2"/>
              <a:buChar char="v"/>
            </a:pPr>
            <a:r>
              <a:rPr lang="en-US" sz="2400" b="1" dirty="0">
                <a:highlight>
                  <a:srgbClr val="FFFF00"/>
                </a:highlight>
              </a:rPr>
              <a:t>Agent Program </a:t>
            </a:r>
            <a:r>
              <a:rPr lang="en-US" sz="2400" dirty="0"/>
              <a:t>= an i</a:t>
            </a:r>
            <a:r>
              <a:rPr lang="en-US" sz="2400" dirty="0">
                <a:highlight>
                  <a:srgbClr val="FFFF00"/>
                </a:highlight>
              </a:rPr>
              <a:t>mplementation</a:t>
            </a:r>
            <a:r>
              <a:rPr lang="en-US" sz="2400" dirty="0"/>
              <a:t> of an agent function.</a:t>
            </a:r>
          </a:p>
          <a:p>
            <a:endParaRPr lang="en-US"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9</a:t>
            </a:fld>
            <a:endParaRPr lang="en-US" dirty="0"/>
          </a:p>
        </p:txBody>
      </p:sp>
    </p:spTree>
    <p:extLst>
      <p:ext uri="{BB962C8B-B14F-4D97-AF65-F5344CB8AC3E}">
        <p14:creationId xmlns:p14="http://schemas.microsoft.com/office/powerpoint/2010/main" val="3683134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53143"/>
          </a:xfrm>
        </p:spPr>
        <p:txBody>
          <a:bodyPr/>
          <a:lstStyle/>
          <a:p>
            <a:pPr algn="ctr"/>
            <a:r>
              <a:rPr lang="en-US" dirty="0">
                <a:solidFill>
                  <a:schemeClr val="tx1"/>
                </a:solidFill>
                <a:latin typeface="Arial" panose="020B0604020202020204" pitchFamily="34" charset="0"/>
                <a:cs typeface="Arial" panose="020B0604020202020204" pitchFamily="34" charset="0"/>
              </a:rPr>
              <a:t>Agents in AI</a:t>
            </a:r>
            <a:endParaRPr lang="en-US" dirty="0"/>
          </a:p>
        </p:txBody>
      </p:sp>
      <p:sp>
        <p:nvSpPr>
          <p:cNvPr id="3" name="Content Placeholder 2"/>
          <p:cNvSpPr>
            <a:spLocks noGrp="1"/>
          </p:cNvSpPr>
          <p:nvPr>
            <p:ph idx="1"/>
          </p:nvPr>
        </p:nvSpPr>
        <p:spPr>
          <a:xfrm>
            <a:off x="677334" y="1489166"/>
            <a:ext cx="8596668" cy="4552197"/>
          </a:xfrm>
        </p:spPr>
        <p:txBody>
          <a:bodyPr/>
          <a:lstStyle/>
          <a:p>
            <a:r>
              <a:rPr lang="en-US" sz="2800" b="1" dirty="0">
                <a:highlight>
                  <a:srgbClr val="FFFF00"/>
                </a:highlight>
              </a:rPr>
              <a:t>The Structure of Intelligent Agents:</a:t>
            </a:r>
          </a:p>
          <a:p>
            <a:pPr lvl="2">
              <a:buFont typeface="Wingdings" panose="05000000000000000000" pitchFamily="2" charset="2"/>
              <a:buChar char="v"/>
            </a:pPr>
            <a:r>
              <a:rPr lang="en-US" sz="2800" b="1" dirty="0">
                <a:highlight>
                  <a:srgbClr val="FFFF00"/>
                </a:highlight>
              </a:rPr>
              <a:t>Simple Reflex Agents</a:t>
            </a:r>
          </a:p>
          <a:p>
            <a:pPr lvl="2">
              <a:buFont typeface="Wingdings" panose="05000000000000000000" pitchFamily="2" charset="2"/>
              <a:buChar char="v"/>
            </a:pPr>
            <a:r>
              <a:rPr lang="en-US" sz="2800" b="1" dirty="0">
                <a:highlight>
                  <a:srgbClr val="FFFF00"/>
                </a:highlight>
              </a:rPr>
              <a:t>Model Based Reflex Agents</a:t>
            </a:r>
          </a:p>
          <a:p>
            <a:pPr lvl="2">
              <a:buFont typeface="Wingdings" panose="05000000000000000000" pitchFamily="2" charset="2"/>
              <a:buChar char="v"/>
            </a:pPr>
            <a:r>
              <a:rPr lang="en-US" sz="2800" b="1" dirty="0">
                <a:highlight>
                  <a:srgbClr val="FFFF00"/>
                </a:highlight>
              </a:rPr>
              <a:t>Goal Based Agents</a:t>
            </a:r>
          </a:p>
          <a:p>
            <a:pPr lvl="2">
              <a:buFont typeface="Wingdings" panose="05000000000000000000" pitchFamily="2" charset="2"/>
              <a:buChar char="v"/>
            </a:pPr>
            <a:r>
              <a:rPr lang="en-US" sz="2800" b="1" dirty="0">
                <a:highlight>
                  <a:srgbClr val="FFFF00"/>
                </a:highlight>
              </a:rPr>
              <a:t>Utility Based Agents</a:t>
            </a:r>
          </a:p>
          <a:p>
            <a:pPr lvl="2">
              <a:buFont typeface="Wingdings" panose="05000000000000000000" pitchFamily="2" charset="2"/>
              <a:buChar char="v"/>
            </a:pPr>
            <a:r>
              <a:rPr lang="en-US" sz="2800" b="1" dirty="0">
                <a:solidFill>
                  <a:schemeClr val="tx1"/>
                </a:solidFill>
                <a:highlight>
                  <a:srgbClr val="FFFF00"/>
                </a:highlight>
              </a:rPr>
              <a:t>Learning Based Agents:</a:t>
            </a:r>
            <a:br>
              <a:rPr lang="en-US" sz="2800" b="1" dirty="0">
                <a:solidFill>
                  <a:schemeClr val="tx1"/>
                </a:solidFill>
                <a:highlight>
                  <a:srgbClr val="FFFF00"/>
                </a:highlight>
              </a:rPr>
            </a:br>
            <a:endParaRPr lang="en-US" sz="2800" b="1" dirty="0">
              <a:highlight>
                <a:srgbClr val="FFFF00"/>
              </a:highlight>
            </a:endParaRPr>
          </a:p>
          <a:p>
            <a:pPr lvl="1"/>
            <a:endParaRPr lang="en-US" sz="2800"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10</a:t>
            </a:fld>
            <a:endParaRPr lang="en-US" dirty="0"/>
          </a:p>
        </p:txBody>
      </p:sp>
    </p:spTree>
    <p:extLst>
      <p:ext uri="{BB962C8B-B14F-4D97-AF65-F5344CB8AC3E}">
        <p14:creationId xmlns:p14="http://schemas.microsoft.com/office/powerpoint/2010/main" val="4109748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18011"/>
            <a:ext cx="8596668" cy="740229"/>
          </a:xfrm>
        </p:spPr>
        <p:txBody>
          <a:bodyPr>
            <a:normAutofit/>
          </a:bodyPr>
          <a:lstStyle/>
          <a:p>
            <a:r>
              <a:rPr lang="en-US" b="1" dirty="0">
                <a:solidFill>
                  <a:schemeClr val="tx1"/>
                </a:solidFill>
              </a:rPr>
              <a:t>The Structure of Intelligent Agents:</a:t>
            </a:r>
          </a:p>
        </p:txBody>
      </p:sp>
      <p:sp>
        <p:nvSpPr>
          <p:cNvPr id="3" name="Content Placeholder 2"/>
          <p:cNvSpPr>
            <a:spLocks noGrp="1"/>
          </p:cNvSpPr>
          <p:nvPr>
            <p:ph idx="1"/>
          </p:nvPr>
        </p:nvSpPr>
        <p:spPr>
          <a:xfrm>
            <a:off x="677334" y="1341120"/>
            <a:ext cx="8596668" cy="4700243"/>
          </a:xfrm>
        </p:spPr>
        <p:txBody>
          <a:bodyPr/>
          <a:lstStyle/>
          <a:p>
            <a:r>
              <a:rPr lang="en-US" sz="2800" b="1" dirty="0">
                <a:highlight>
                  <a:srgbClr val="FFFF00"/>
                </a:highlight>
              </a:rPr>
              <a:t>Simple Reflex Agents</a:t>
            </a:r>
          </a:p>
          <a:p>
            <a:pPr lvl="1"/>
            <a:r>
              <a:rPr lang="en-US" sz="2400" dirty="0"/>
              <a:t>They </a:t>
            </a:r>
            <a:r>
              <a:rPr lang="en-US" sz="2400" b="1" dirty="0">
                <a:highlight>
                  <a:srgbClr val="FFFF00"/>
                </a:highlight>
              </a:rPr>
              <a:t>choose actions </a:t>
            </a:r>
            <a:r>
              <a:rPr lang="en-US" sz="2400" dirty="0">
                <a:highlight>
                  <a:srgbClr val="FFFF00"/>
                </a:highlight>
              </a:rPr>
              <a:t>only based on the </a:t>
            </a:r>
            <a:r>
              <a:rPr lang="en-US" sz="2400" b="1" dirty="0">
                <a:highlight>
                  <a:srgbClr val="FFFF00"/>
                </a:highlight>
              </a:rPr>
              <a:t>current percept</a:t>
            </a:r>
            <a:r>
              <a:rPr lang="en-US" sz="2400" dirty="0">
                <a:highlight>
                  <a:srgbClr val="FFFF00"/>
                </a:highlight>
              </a:rPr>
              <a:t>.</a:t>
            </a:r>
          </a:p>
          <a:p>
            <a:pPr lvl="1"/>
            <a:r>
              <a:rPr lang="en-US" sz="2400" dirty="0"/>
              <a:t>They are </a:t>
            </a:r>
            <a:r>
              <a:rPr lang="en-US" sz="2400" dirty="0">
                <a:highlight>
                  <a:srgbClr val="FFFF00"/>
                </a:highlight>
              </a:rPr>
              <a:t>rational only if </a:t>
            </a:r>
            <a:r>
              <a:rPr lang="en-US" sz="2400" dirty="0"/>
              <a:t>a </a:t>
            </a:r>
            <a:r>
              <a:rPr lang="en-US" sz="2400" b="1" dirty="0">
                <a:highlight>
                  <a:srgbClr val="FFFF00"/>
                </a:highlight>
              </a:rPr>
              <a:t>correct decision </a:t>
            </a:r>
            <a:r>
              <a:rPr lang="en-US" sz="2400" dirty="0"/>
              <a:t>is made only on the </a:t>
            </a:r>
            <a:r>
              <a:rPr lang="en-US" sz="2400" dirty="0">
                <a:highlight>
                  <a:srgbClr val="FFFF00"/>
                </a:highlight>
              </a:rPr>
              <a:t>basis of </a:t>
            </a:r>
            <a:r>
              <a:rPr lang="en-US" sz="2400" b="1" dirty="0">
                <a:highlight>
                  <a:srgbClr val="FFFF00"/>
                </a:highlight>
              </a:rPr>
              <a:t>current precept</a:t>
            </a:r>
            <a:r>
              <a:rPr lang="en-US" sz="2400" dirty="0">
                <a:highlight>
                  <a:srgbClr val="FFFF00"/>
                </a:highlight>
              </a:rPr>
              <a:t>.</a:t>
            </a:r>
          </a:p>
          <a:p>
            <a:pPr lvl="1"/>
            <a:r>
              <a:rPr lang="en-US" sz="2400" dirty="0"/>
              <a:t>Their environment is </a:t>
            </a:r>
            <a:r>
              <a:rPr lang="en-US" sz="2400" dirty="0">
                <a:highlight>
                  <a:srgbClr val="FFFF00"/>
                </a:highlight>
              </a:rPr>
              <a:t>completely </a:t>
            </a:r>
            <a:r>
              <a:rPr lang="en-US" sz="2400" b="1" dirty="0">
                <a:highlight>
                  <a:srgbClr val="FFFF00"/>
                </a:highlight>
              </a:rPr>
              <a:t>observable</a:t>
            </a:r>
            <a:r>
              <a:rPr lang="en-US" sz="2400" dirty="0"/>
              <a:t>.</a:t>
            </a:r>
          </a:p>
          <a:p>
            <a:endParaRPr lang="en-US" sz="2400" dirty="0"/>
          </a:p>
          <a:p>
            <a:endParaRPr lang="en-US" sz="2400" b="1"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11</a:t>
            </a:fld>
            <a:endParaRPr lang="en-US" dirty="0"/>
          </a:p>
        </p:txBody>
      </p:sp>
    </p:spTree>
    <p:extLst>
      <p:ext uri="{BB962C8B-B14F-4D97-AF65-F5344CB8AC3E}">
        <p14:creationId xmlns:p14="http://schemas.microsoft.com/office/powerpoint/2010/main" val="1669730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83178"/>
            <a:ext cx="8596668" cy="644433"/>
          </a:xfrm>
        </p:spPr>
        <p:txBody>
          <a:bodyPr>
            <a:normAutofit/>
          </a:bodyPr>
          <a:lstStyle/>
          <a:p>
            <a:pPr algn="ctr"/>
            <a:r>
              <a:rPr lang="en-US" b="1" dirty="0">
                <a:solidFill>
                  <a:schemeClr val="tx1"/>
                </a:solidFill>
                <a:highlight>
                  <a:srgbClr val="FFFF00"/>
                </a:highlight>
              </a:rPr>
              <a:t>Simple Reflex Agents</a:t>
            </a:r>
          </a:p>
        </p:txBody>
      </p:sp>
      <p:pic>
        <p:nvPicPr>
          <p:cNvPr id="6" name="Content Placeholder 5"/>
          <p:cNvPicPr>
            <a:picLocks noGrp="1" noChangeAspect="1"/>
          </p:cNvPicPr>
          <p:nvPr>
            <p:ph idx="1"/>
          </p:nvPr>
        </p:nvPicPr>
        <p:blipFill>
          <a:blip r:embed="rId2"/>
          <a:stretch>
            <a:fillRect/>
          </a:stretch>
        </p:blipFill>
        <p:spPr>
          <a:xfrm>
            <a:off x="1256506" y="1370806"/>
            <a:ext cx="8836728" cy="4670556"/>
          </a:xfrm>
          <a:prstGeom prst="rect">
            <a:avLst/>
          </a:prstGeom>
        </p:spPr>
      </p:pic>
      <p:sp>
        <p:nvSpPr>
          <p:cNvPr id="4" name="Footer Placeholder 3"/>
          <p:cNvSpPr>
            <a:spLocks noGrp="1"/>
          </p:cNvSpPr>
          <p:nvPr>
            <p:ph type="ftr" sz="quarter" idx="11"/>
          </p:nvPr>
        </p:nvSpPr>
        <p:spPr/>
        <p:txBody>
          <a:bodyPr/>
          <a:lstStyle/>
          <a:p>
            <a:r>
              <a:rPr lang="en-US" dirty="0"/>
              <a:t>Prof. Dr. A K M Akhtar Hossain, Dept. of CSE, RU.</a:t>
            </a:r>
          </a:p>
        </p:txBody>
      </p:sp>
      <p:sp>
        <p:nvSpPr>
          <p:cNvPr id="5" name="Slide Number Placeholder 4"/>
          <p:cNvSpPr>
            <a:spLocks noGrp="1"/>
          </p:cNvSpPr>
          <p:nvPr>
            <p:ph type="sldNum" sz="quarter" idx="12"/>
          </p:nvPr>
        </p:nvSpPr>
        <p:spPr/>
        <p:txBody>
          <a:bodyPr/>
          <a:lstStyle/>
          <a:p>
            <a:fld id="{519954A3-9DFD-4C44-94BA-B95130A3BA1C}" type="slidenum">
              <a:rPr lang="en-US" smtClean="0"/>
              <a:t>12</a:t>
            </a:fld>
            <a:endParaRPr lang="en-US" dirty="0"/>
          </a:p>
        </p:txBody>
      </p:sp>
    </p:spTree>
    <p:extLst>
      <p:ext uri="{BB962C8B-B14F-4D97-AF65-F5344CB8AC3E}">
        <p14:creationId xmlns:p14="http://schemas.microsoft.com/office/powerpoint/2010/main" val="4067016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48937"/>
          </a:xfrm>
        </p:spPr>
        <p:txBody>
          <a:bodyPr/>
          <a:lstStyle/>
          <a:p>
            <a:pPr algn="ctr"/>
            <a:r>
              <a:rPr lang="en-US" b="1" dirty="0">
                <a:solidFill>
                  <a:schemeClr val="tx1"/>
                </a:solidFill>
              </a:rPr>
              <a:t>The Structure of Intelligent Agents:</a:t>
            </a:r>
            <a:endParaRPr lang="en-US" dirty="0"/>
          </a:p>
        </p:txBody>
      </p:sp>
      <p:sp>
        <p:nvSpPr>
          <p:cNvPr id="3" name="Content Placeholder 2"/>
          <p:cNvSpPr>
            <a:spLocks noGrp="1"/>
          </p:cNvSpPr>
          <p:nvPr>
            <p:ph idx="1"/>
          </p:nvPr>
        </p:nvSpPr>
        <p:spPr>
          <a:xfrm>
            <a:off x="677334" y="1358537"/>
            <a:ext cx="8596668" cy="4682825"/>
          </a:xfrm>
        </p:spPr>
        <p:txBody>
          <a:bodyPr/>
          <a:lstStyle/>
          <a:p>
            <a:r>
              <a:rPr lang="en-US" sz="2400" b="1" dirty="0">
                <a:highlight>
                  <a:srgbClr val="FFFF00"/>
                </a:highlight>
              </a:rPr>
              <a:t>Model Based Reflex Agents</a:t>
            </a:r>
            <a:r>
              <a:rPr lang="en-US" sz="2400" b="1" dirty="0"/>
              <a:t>:</a:t>
            </a:r>
          </a:p>
          <a:p>
            <a:pPr lvl="1">
              <a:buFont typeface="Wingdings" panose="05000000000000000000" pitchFamily="2" charset="2"/>
              <a:buChar char="v"/>
            </a:pPr>
            <a:r>
              <a:rPr lang="en-US" sz="2200" dirty="0"/>
              <a:t>They </a:t>
            </a:r>
            <a:r>
              <a:rPr lang="en-US" sz="2200" dirty="0">
                <a:highlight>
                  <a:srgbClr val="FFFF00"/>
                </a:highlight>
              </a:rPr>
              <a:t>use a model </a:t>
            </a:r>
            <a:r>
              <a:rPr lang="en-US" sz="2200" dirty="0"/>
              <a:t>of the world to </a:t>
            </a:r>
            <a:r>
              <a:rPr lang="en-US" sz="2200" b="1" dirty="0">
                <a:highlight>
                  <a:srgbClr val="FFFF00"/>
                </a:highlight>
              </a:rPr>
              <a:t>choose their actions</a:t>
            </a:r>
            <a:r>
              <a:rPr lang="en-US" sz="2200" dirty="0"/>
              <a:t>. They </a:t>
            </a:r>
            <a:r>
              <a:rPr lang="en-US" sz="2200" dirty="0">
                <a:highlight>
                  <a:srgbClr val="FFFF00"/>
                </a:highlight>
              </a:rPr>
              <a:t>maintain an </a:t>
            </a:r>
            <a:r>
              <a:rPr lang="en-US" sz="2200" b="1" dirty="0">
                <a:highlight>
                  <a:srgbClr val="FFFF00"/>
                </a:highlight>
              </a:rPr>
              <a:t>internal state</a:t>
            </a:r>
            <a:r>
              <a:rPr lang="en-US" sz="2200" dirty="0"/>
              <a:t>.</a:t>
            </a:r>
          </a:p>
          <a:p>
            <a:pPr lvl="1">
              <a:buFont typeface="Wingdings" panose="05000000000000000000" pitchFamily="2" charset="2"/>
              <a:buChar char="v"/>
            </a:pPr>
            <a:r>
              <a:rPr lang="en-US" sz="2200" b="1" dirty="0">
                <a:highlight>
                  <a:srgbClr val="FFFF00"/>
                </a:highlight>
              </a:rPr>
              <a:t>Model</a:t>
            </a:r>
            <a:r>
              <a:rPr lang="en-US" sz="2200" dirty="0"/>
              <a:t> − knowledge about “</a:t>
            </a:r>
            <a:r>
              <a:rPr lang="en-US" sz="2200" b="1" dirty="0">
                <a:highlight>
                  <a:srgbClr val="FFFF00"/>
                </a:highlight>
              </a:rPr>
              <a:t>how the things happen in the world</a:t>
            </a:r>
            <a:r>
              <a:rPr lang="en-US" sz="2200" dirty="0">
                <a:highlight>
                  <a:srgbClr val="FFFF00"/>
                </a:highlight>
              </a:rPr>
              <a:t>”.</a:t>
            </a:r>
          </a:p>
          <a:p>
            <a:pPr lvl="1">
              <a:buFont typeface="Wingdings" panose="05000000000000000000" pitchFamily="2" charset="2"/>
              <a:buChar char="v"/>
            </a:pPr>
            <a:r>
              <a:rPr lang="en-US" sz="2200" b="1" dirty="0">
                <a:highlight>
                  <a:srgbClr val="FFFF00"/>
                </a:highlight>
              </a:rPr>
              <a:t>Internal State</a:t>
            </a:r>
            <a:r>
              <a:rPr lang="en-US" sz="2200" dirty="0">
                <a:highlight>
                  <a:srgbClr val="FFFF00"/>
                </a:highlight>
              </a:rPr>
              <a:t> </a:t>
            </a:r>
            <a:r>
              <a:rPr lang="en-US" sz="2200" dirty="0"/>
              <a:t>− It is a representation </a:t>
            </a:r>
            <a:r>
              <a:rPr lang="en-US" sz="2200" dirty="0">
                <a:highlight>
                  <a:srgbClr val="FFFF00"/>
                </a:highlight>
              </a:rPr>
              <a:t>of unobserved aspects of </a:t>
            </a:r>
            <a:r>
              <a:rPr lang="en-US" sz="2200" b="1" dirty="0">
                <a:highlight>
                  <a:srgbClr val="FFFF00"/>
                </a:highlight>
              </a:rPr>
              <a:t>current state </a:t>
            </a:r>
            <a:r>
              <a:rPr lang="en-US" sz="2200" dirty="0">
                <a:highlight>
                  <a:srgbClr val="FFFF00"/>
                </a:highlight>
              </a:rPr>
              <a:t>depending on </a:t>
            </a:r>
            <a:r>
              <a:rPr lang="en-US" sz="2200" b="1" dirty="0">
                <a:highlight>
                  <a:srgbClr val="FFFF00"/>
                </a:highlight>
              </a:rPr>
              <a:t>percept history</a:t>
            </a:r>
            <a:r>
              <a:rPr lang="en-US" sz="2200" dirty="0"/>
              <a:t>.</a:t>
            </a:r>
          </a:p>
          <a:p>
            <a:pPr>
              <a:buFont typeface="Wingdings" panose="05000000000000000000" pitchFamily="2" charset="2"/>
              <a:buChar char="q"/>
            </a:pPr>
            <a:r>
              <a:rPr lang="en-US" sz="2400" b="1" dirty="0">
                <a:highlight>
                  <a:srgbClr val="FFFF00"/>
                </a:highlight>
              </a:rPr>
              <a:t>Updating the state requires the information about</a:t>
            </a:r>
            <a:r>
              <a:rPr lang="en-US" sz="2400" b="1" dirty="0"/>
              <a:t> −</a:t>
            </a:r>
            <a:endParaRPr lang="en-US" sz="2400" dirty="0"/>
          </a:p>
          <a:p>
            <a:pPr lvl="1">
              <a:buFont typeface="Wingdings" panose="05000000000000000000" pitchFamily="2" charset="2"/>
              <a:buChar char="v"/>
            </a:pPr>
            <a:r>
              <a:rPr lang="en-US" sz="2400" dirty="0"/>
              <a:t>How the </a:t>
            </a:r>
            <a:r>
              <a:rPr lang="en-US" sz="2400" dirty="0">
                <a:highlight>
                  <a:srgbClr val="FFFF00"/>
                </a:highlight>
              </a:rPr>
              <a:t>world evolves</a:t>
            </a:r>
            <a:r>
              <a:rPr lang="en-US" sz="2400" dirty="0"/>
              <a:t>.</a:t>
            </a:r>
          </a:p>
          <a:p>
            <a:pPr lvl="1">
              <a:buFont typeface="Wingdings" panose="05000000000000000000" pitchFamily="2" charset="2"/>
              <a:buChar char="v"/>
            </a:pPr>
            <a:r>
              <a:rPr lang="en-US" sz="2400" dirty="0"/>
              <a:t>How the </a:t>
            </a:r>
            <a:r>
              <a:rPr lang="en-US" sz="2400" dirty="0">
                <a:highlight>
                  <a:srgbClr val="FFFF00"/>
                </a:highlight>
              </a:rPr>
              <a:t>agent’s actions affect the world</a:t>
            </a:r>
            <a:r>
              <a:rPr lang="en-US" sz="2400" dirty="0"/>
              <a:t>.</a:t>
            </a:r>
          </a:p>
          <a:p>
            <a:pPr lvl="1">
              <a:buFont typeface="Wingdings" panose="05000000000000000000" pitchFamily="2" charset="2"/>
              <a:buChar char="v"/>
            </a:pPr>
            <a:endParaRPr lang="en-US" sz="2200"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13</a:t>
            </a:fld>
            <a:endParaRPr lang="en-US" dirty="0"/>
          </a:p>
        </p:txBody>
      </p:sp>
    </p:spTree>
    <p:extLst>
      <p:ext uri="{BB962C8B-B14F-4D97-AF65-F5344CB8AC3E}">
        <p14:creationId xmlns:p14="http://schemas.microsoft.com/office/powerpoint/2010/main" val="2045057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66057"/>
          </a:xfrm>
        </p:spPr>
        <p:txBody>
          <a:bodyPr>
            <a:normAutofit fontScale="90000"/>
          </a:bodyPr>
          <a:lstStyle/>
          <a:p>
            <a:pPr algn="ctr"/>
            <a:r>
              <a:rPr lang="en-US" b="1" dirty="0">
                <a:solidFill>
                  <a:schemeClr val="tx1"/>
                </a:solidFill>
                <a:highlight>
                  <a:srgbClr val="FFFF00"/>
                </a:highlight>
              </a:rPr>
              <a:t>Model Based Reflex Agents:</a:t>
            </a:r>
            <a:br>
              <a:rPr lang="en-US" b="1" dirty="0">
                <a:solidFill>
                  <a:schemeClr val="tx1"/>
                </a:solidFill>
                <a:highlight>
                  <a:srgbClr val="FFFF00"/>
                </a:highlight>
              </a:rPr>
            </a:br>
            <a:endParaRPr lang="en-US" dirty="0">
              <a:solidFill>
                <a:schemeClr val="tx1"/>
              </a:solidFill>
              <a:highlight>
                <a:srgbClr val="FFFF00"/>
              </a:highlight>
            </a:endParaRPr>
          </a:p>
        </p:txBody>
      </p:sp>
      <p:sp>
        <p:nvSpPr>
          <p:cNvPr id="4" name="Footer Placeholder 3"/>
          <p:cNvSpPr>
            <a:spLocks noGrp="1"/>
          </p:cNvSpPr>
          <p:nvPr>
            <p:ph type="ftr" sz="quarter" idx="11"/>
          </p:nvPr>
        </p:nvSpPr>
        <p:spPr/>
        <p:txBody>
          <a:bodyPr/>
          <a:lstStyle/>
          <a:p>
            <a:r>
              <a:rPr lang="en-US" dirty="0"/>
              <a:t>Prof. Dr. A K M Akhtar Hossain, Dept. of CSE, RU.</a:t>
            </a:r>
          </a:p>
        </p:txBody>
      </p:sp>
      <p:sp>
        <p:nvSpPr>
          <p:cNvPr id="5" name="Slide Number Placeholder 4"/>
          <p:cNvSpPr>
            <a:spLocks noGrp="1"/>
          </p:cNvSpPr>
          <p:nvPr>
            <p:ph type="sldNum" sz="quarter" idx="12"/>
          </p:nvPr>
        </p:nvSpPr>
        <p:spPr/>
        <p:txBody>
          <a:bodyPr/>
          <a:lstStyle/>
          <a:p>
            <a:fld id="{519954A3-9DFD-4C44-94BA-B95130A3BA1C}" type="slidenum">
              <a:rPr lang="en-US" smtClean="0"/>
              <a:t>14</a:t>
            </a:fld>
            <a:endParaRPr lang="en-US" dirty="0"/>
          </a:p>
        </p:txBody>
      </p:sp>
      <p:pic>
        <p:nvPicPr>
          <p:cNvPr id="6" name="Content Placeholder 5" descr="Model Based Reflex Agents"/>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80457" y="1515291"/>
            <a:ext cx="7585166" cy="4075612"/>
          </a:xfrm>
          <a:prstGeom prst="rect">
            <a:avLst/>
          </a:prstGeom>
          <a:noFill/>
          <a:ln>
            <a:noFill/>
          </a:ln>
        </p:spPr>
      </p:pic>
    </p:spTree>
    <p:extLst>
      <p:ext uri="{BB962C8B-B14F-4D97-AF65-F5344CB8AC3E}">
        <p14:creationId xmlns:p14="http://schemas.microsoft.com/office/powerpoint/2010/main" val="3538760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18309"/>
          </a:xfrm>
        </p:spPr>
        <p:txBody>
          <a:bodyPr>
            <a:normAutofit fontScale="90000"/>
          </a:bodyPr>
          <a:lstStyle/>
          <a:p>
            <a:r>
              <a:rPr lang="en-US" b="1" dirty="0">
                <a:solidFill>
                  <a:schemeClr val="tx1"/>
                </a:solidFill>
              </a:rPr>
              <a:t>The Structure of Intelligent Agents:</a:t>
            </a:r>
            <a:endParaRPr lang="en-US" dirty="0"/>
          </a:p>
        </p:txBody>
      </p:sp>
      <p:sp>
        <p:nvSpPr>
          <p:cNvPr id="3" name="Content Placeholder 2"/>
          <p:cNvSpPr>
            <a:spLocks noGrp="1"/>
          </p:cNvSpPr>
          <p:nvPr>
            <p:ph idx="1"/>
          </p:nvPr>
        </p:nvSpPr>
        <p:spPr>
          <a:xfrm>
            <a:off x="677334" y="1550127"/>
            <a:ext cx="8596668" cy="4491236"/>
          </a:xfrm>
        </p:spPr>
        <p:txBody>
          <a:bodyPr/>
          <a:lstStyle/>
          <a:p>
            <a:r>
              <a:rPr lang="en-US" sz="2800" b="1" dirty="0">
                <a:highlight>
                  <a:srgbClr val="FFFF00"/>
                </a:highlight>
              </a:rPr>
              <a:t>Goal Based Agents:</a:t>
            </a:r>
          </a:p>
          <a:p>
            <a:pPr lvl="1">
              <a:buFont typeface="Wingdings" panose="05000000000000000000" pitchFamily="2" charset="2"/>
              <a:buChar char="v"/>
            </a:pPr>
            <a:r>
              <a:rPr lang="en-US" sz="2400" dirty="0"/>
              <a:t>They </a:t>
            </a:r>
            <a:r>
              <a:rPr lang="en-US" sz="2400" b="1" dirty="0">
                <a:highlight>
                  <a:srgbClr val="FFFF00"/>
                </a:highlight>
              </a:rPr>
              <a:t>choose their actions </a:t>
            </a:r>
            <a:r>
              <a:rPr lang="en-US" sz="2400" dirty="0">
                <a:highlight>
                  <a:srgbClr val="FFFF00"/>
                </a:highlight>
              </a:rPr>
              <a:t>in order to </a:t>
            </a:r>
            <a:r>
              <a:rPr lang="en-US" sz="2400" b="1" dirty="0">
                <a:highlight>
                  <a:srgbClr val="FFFF00"/>
                </a:highlight>
              </a:rPr>
              <a:t>achieve goals</a:t>
            </a:r>
            <a:r>
              <a:rPr lang="en-US" sz="2400" dirty="0"/>
              <a:t>. </a:t>
            </a:r>
          </a:p>
          <a:p>
            <a:pPr lvl="1">
              <a:buFont typeface="Wingdings" panose="05000000000000000000" pitchFamily="2" charset="2"/>
              <a:buChar char="v"/>
            </a:pPr>
            <a:r>
              <a:rPr lang="en-US" sz="2400" b="1" dirty="0"/>
              <a:t>Goal-based approach </a:t>
            </a:r>
            <a:r>
              <a:rPr lang="en-US" sz="2400" dirty="0"/>
              <a:t>is </a:t>
            </a:r>
            <a:r>
              <a:rPr lang="en-US" sz="2400" dirty="0">
                <a:highlight>
                  <a:srgbClr val="FFFF00"/>
                </a:highlight>
              </a:rPr>
              <a:t>more flexible than reflex</a:t>
            </a:r>
            <a:r>
              <a:rPr lang="en-US" sz="2400" dirty="0"/>
              <a:t> agent since the </a:t>
            </a:r>
            <a:r>
              <a:rPr lang="en-US" sz="2400" b="1" dirty="0">
                <a:highlight>
                  <a:srgbClr val="FFFF00"/>
                </a:highlight>
              </a:rPr>
              <a:t>knowledge supporting a decision </a:t>
            </a:r>
            <a:r>
              <a:rPr lang="en-US" sz="2400" dirty="0"/>
              <a:t>is explicitly modeled, thereby </a:t>
            </a:r>
            <a:r>
              <a:rPr lang="en-US" sz="2400" dirty="0">
                <a:highlight>
                  <a:srgbClr val="FFFF00"/>
                </a:highlight>
              </a:rPr>
              <a:t>allowing for </a:t>
            </a:r>
            <a:r>
              <a:rPr lang="en-US" sz="2400" b="1" dirty="0">
                <a:highlight>
                  <a:srgbClr val="FFFF00"/>
                </a:highlight>
              </a:rPr>
              <a:t>modifications</a:t>
            </a:r>
            <a:r>
              <a:rPr lang="en-US" sz="2400" dirty="0"/>
              <a:t>.</a:t>
            </a:r>
          </a:p>
          <a:p>
            <a:pPr lvl="1">
              <a:buFont typeface="Wingdings" panose="05000000000000000000" pitchFamily="2" charset="2"/>
              <a:buChar char="v"/>
            </a:pPr>
            <a:r>
              <a:rPr lang="en-US" sz="2400" b="1" dirty="0">
                <a:highlight>
                  <a:srgbClr val="FFFF00"/>
                </a:highlight>
              </a:rPr>
              <a:t>Goal</a:t>
            </a:r>
            <a:r>
              <a:rPr lang="en-US" sz="2400" dirty="0">
                <a:highlight>
                  <a:srgbClr val="FFFF00"/>
                </a:highlight>
              </a:rPr>
              <a:t> </a:t>
            </a:r>
            <a:r>
              <a:rPr lang="en-US" sz="2400" dirty="0"/>
              <a:t>− It is the description of </a:t>
            </a:r>
            <a:r>
              <a:rPr lang="en-US" sz="2400" b="1" dirty="0"/>
              <a:t>d</a:t>
            </a:r>
            <a:r>
              <a:rPr lang="en-US" sz="2400" b="1" dirty="0">
                <a:highlight>
                  <a:srgbClr val="FFFF00"/>
                </a:highlight>
              </a:rPr>
              <a:t>esirable situations</a:t>
            </a:r>
            <a:r>
              <a:rPr lang="en-US" sz="2400" dirty="0"/>
              <a:t>.</a:t>
            </a:r>
          </a:p>
          <a:p>
            <a:endParaRPr lang="en-US"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15</a:t>
            </a:fld>
            <a:endParaRPr lang="en-US" dirty="0"/>
          </a:p>
        </p:txBody>
      </p:sp>
    </p:spTree>
    <p:extLst>
      <p:ext uri="{BB962C8B-B14F-4D97-AF65-F5344CB8AC3E}">
        <p14:creationId xmlns:p14="http://schemas.microsoft.com/office/powerpoint/2010/main" val="3502045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09600"/>
          </a:xfrm>
        </p:spPr>
        <p:txBody>
          <a:bodyPr>
            <a:normAutofit fontScale="90000"/>
          </a:bodyPr>
          <a:lstStyle/>
          <a:p>
            <a:pPr algn="ctr"/>
            <a:r>
              <a:rPr lang="en-US" dirty="0">
                <a:solidFill>
                  <a:schemeClr val="tx1"/>
                </a:solidFill>
                <a:highlight>
                  <a:srgbClr val="FFFF00"/>
                </a:highlight>
              </a:rPr>
              <a:t>Goal Based Agents</a:t>
            </a:r>
            <a:br>
              <a:rPr lang="en-US" dirty="0">
                <a:solidFill>
                  <a:schemeClr val="tx1"/>
                </a:solidFill>
                <a:highlight>
                  <a:srgbClr val="FFFF00"/>
                </a:highlight>
              </a:rPr>
            </a:br>
            <a:endParaRPr lang="en-US" dirty="0">
              <a:solidFill>
                <a:schemeClr val="tx1"/>
              </a:solidFill>
              <a:highlight>
                <a:srgbClr val="FFFF00"/>
              </a:highlight>
            </a:endParaRPr>
          </a:p>
        </p:txBody>
      </p:sp>
      <p:sp>
        <p:nvSpPr>
          <p:cNvPr id="4" name="Footer Placeholder 3"/>
          <p:cNvSpPr>
            <a:spLocks noGrp="1"/>
          </p:cNvSpPr>
          <p:nvPr>
            <p:ph type="ftr" sz="quarter" idx="11"/>
          </p:nvPr>
        </p:nvSpPr>
        <p:spPr/>
        <p:txBody>
          <a:bodyPr/>
          <a:lstStyle/>
          <a:p>
            <a:r>
              <a:rPr lang="en-US" dirty="0"/>
              <a:t>Prof. Dr. A K M Akhtar Hossain, Dept. of CSE, RU.</a:t>
            </a:r>
          </a:p>
        </p:txBody>
      </p:sp>
      <p:sp>
        <p:nvSpPr>
          <p:cNvPr id="5" name="Slide Number Placeholder 4"/>
          <p:cNvSpPr>
            <a:spLocks noGrp="1"/>
          </p:cNvSpPr>
          <p:nvPr>
            <p:ph type="sldNum" sz="quarter" idx="12"/>
          </p:nvPr>
        </p:nvSpPr>
        <p:spPr/>
        <p:txBody>
          <a:bodyPr/>
          <a:lstStyle/>
          <a:p>
            <a:fld id="{519954A3-9DFD-4C44-94BA-B95130A3BA1C}" type="slidenum">
              <a:rPr lang="en-US" smtClean="0"/>
              <a:t>16</a:t>
            </a:fld>
            <a:endParaRPr lang="en-US" dirty="0"/>
          </a:p>
        </p:txBody>
      </p:sp>
      <p:pic>
        <p:nvPicPr>
          <p:cNvPr id="6" name="Content Placeholder 5" descr="Goal Based Reflex Agents"/>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6023" y="1445623"/>
            <a:ext cx="8604068" cy="4450080"/>
          </a:xfrm>
          <a:prstGeom prst="rect">
            <a:avLst/>
          </a:prstGeom>
          <a:noFill/>
          <a:ln>
            <a:noFill/>
          </a:ln>
        </p:spPr>
      </p:pic>
    </p:spTree>
    <p:extLst>
      <p:ext uri="{BB962C8B-B14F-4D97-AF65-F5344CB8AC3E}">
        <p14:creationId xmlns:p14="http://schemas.microsoft.com/office/powerpoint/2010/main" val="1555226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22514"/>
          </a:xfrm>
        </p:spPr>
        <p:txBody>
          <a:bodyPr>
            <a:normAutofit fontScale="90000"/>
          </a:bodyPr>
          <a:lstStyle/>
          <a:p>
            <a:r>
              <a:rPr lang="en-US" b="1" dirty="0">
                <a:solidFill>
                  <a:schemeClr val="tx1"/>
                </a:solidFill>
              </a:rPr>
              <a:t>The Structure of Intelligent Agents:</a:t>
            </a:r>
            <a:endParaRPr lang="en-US" dirty="0"/>
          </a:p>
        </p:txBody>
      </p:sp>
      <p:sp>
        <p:nvSpPr>
          <p:cNvPr id="3" name="Content Placeholder 2"/>
          <p:cNvSpPr>
            <a:spLocks noGrp="1"/>
          </p:cNvSpPr>
          <p:nvPr>
            <p:ph idx="1"/>
          </p:nvPr>
        </p:nvSpPr>
        <p:spPr>
          <a:xfrm>
            <a:off x="677334" y="1471749"/>
            <a:ext cx="8596668" cy="4569613"/>
          </a:xfrm>
        </p:spPr>
        <p:txBody>
          <a:bodyPr/>
          <a:lstStyle/>
          <a:p>
            <a:r>
              <a:rPr lang="en-US" sz="2800" b="1" dirty="0">
                <a:highlight>
                  <a:srgbClr val="FFFF00"/>
                </a:highlight>
              </a:rPr>
              <a:t>Utility Based Agents:</a:t>
            </a:r>
          </a:p>
          <a:p>
            <a:pPr lvl="1"/>
            <a:r>
              <a:rPr lang="en-US" sz="2400" dirty="0">
                <a:highlight>
                  <a:srgbClr val="FFFF00"/>
                </a:highlight>
              </a:rPr>
              <a:t>They </a:t>
            </a:r>
            <a:r>
              <a:rPr lang="en-US" sz="2400" b="1" dirty="0">
                <a:highlight>
                  <a:srgbClr val="FFFF00"/>
                </a:highlight>
              </a:rPr>
              <a:t>choose actions </a:t>
            </a:r>
            <a:r>
              <a:rPr lang="en-US" sz="2400" dirty="0">
                <a:highlight>
                  <a:srgbClr val="FFFF00"/>
                </a:highlight>
              </a:rPr>
              <a:t>based on a </a:t>
            </a:r>
            <a:r>
              <a:rPr lang="en-US" sz="2400" b="1" dirty="0">
                <a:highlight>
                  <a:srgbClr val="FFFF00"/>
                </a:highlight>
              </a:rPr>
              <a:t>preference</a:t>
            </a:r>
            <a:r>
              <a:rPr lang="en-US" sz="2400" dirty="0">
                <a:highlight>
                  <a:srgbClr val="FFFF00"/>
                </a:highlight>
              </a:rPr>
              <a:t> (utility) for </a:t>
            </a:r>
            <a:r>
              <a:rPr lang="en-US" sz="2400" b="1" dirty="0">
                <a:highlight>
                  <a:srgbClr val="FFFF00"/>
                </a:highlight>
              </a:rPr>
              <a:t>each state</a:t>
            </a:r>
            <a:r>
              <a:rPr lang="en-US" sz="2400" dirty="0">
                <a:highlight>
                  <a:srgbClr val="FFFF00"/>
                </a:highlight>
              </a:rPr>
              <a:t>.</a:t>
            </a:r>
          </a:p>
          <a:p>
            <a:pPr lvl="1"/>
            <a:r>
              <a:rPr lang="en-US" sz="2400" dirty="0">
                <a:highlight>
                  <a:srgbClr val="FFFF00"/>
                </a:highlight>
              </a:rPr>
              <a:t>Goals are </a:t>
            </a:r>
            <a:r>
              <a:rPr lang="en-US" sz="2400" b="1" dirty="0">
                <a:highlight>
                  <a:srgbClr val="FFFF00"/>
                </a:highlight>
              </a:rPr>
              <a:t>inadequate</a:t>
            </a:r>
            <a:r>
              <a:rPr lang="en-US" sz="2400" dirty="0"/>
              <a:t> when −</a:t>
            </a:r>
          </a:p>
          <a:p>
            <a:pPr lvl="1"/>
            <a:r>
              <a:rPr lang="en-US" sz="2400" dirty="0"/>
              <a:t>There are </a:t>
            </a:r>
            <a:r>
              <a:rPr lang="en-US" sz="2400" b="1" dirty="0">
                <a:highlight>
                  <a:srgbClr val="FFFF00"/>
                </a:highlight>
              </a:rPr>
              <a:t>conflicting goals</a:t>
            </a:r>
            <a:r>
              <a:rPr lang="en-US" sz="2400" dirty="0"/>
              <a:t>, out of which only few can be achieved.</a:t>
            </a:r>
          </a:p>
          <a:p>
            <a:pPr lvl="1"/>
            <a:r>
              <a:rPr lang="en-US" sz="2400" dirty="0"/>
              <a:t>Goals have </a:t>
            </a:r>
            <a:r>
              <a:rPr lang="en-US" sz="2400" dirty="0">
                <a:highlight>
                  <a:srgbClr val="FFFF00"/>
                </a:highlight>
              </a:rPr>
              <a:t>some </a:t>
            </a:r>
            <a:r>
              <a:rPr lang="en-US" sz="2400" b="1" dirty="0">
                <a:highlight>
                  <a:srgbClr val="FFFF00"/>
                </a:highlight>
              </a:rPr>
              <a:t>uncertainty</a:t>
            </a:r>
            <a:r>
              <a:rPr lang="en-US" sz="2400" dirty="0"/>
              <a:t> of being achieved and you need </a:t>
            </a:r>
            <a:r>
              <a:rPr lang="en-US" sz="2400" dirty="0">
                <a:highlight>
                  <a:srgbClr val="FFFF00"/>
                </a:highlight>
              </a:rPr>
              <a:t>to consider </a:t>
            </a:r>
            <a:r>
              <a:rPr lang="en-US" sz="2400" b="1" dirty="0">
                <a:highlight>
                  <a:srgbClr val="FFFF00"/>
                </a:highlight>
              </a:rPr>
              <a:t>likelihood of success </a:t>
            </a:r>
            <a:r>
              <a:rPr lang="en-US" sz="2400" dirty="0">
                <a:highlight>
                  <a:srgbClr val="FFFF00"/>
                </a:highlight>
              </a:rPr>
              <a:t>against the </a:t>
            </a:r>
            <a:r>
              <a:rPr lang="en-US" sz="2400" b="1" dirty="0">
                <a:highlight>
                  <a:srgbClr val="FFFF00"/>
                </a:highlight>
              </a:rPr>
              <a:t>importance of a goal</a:t>
            </a:r>
            <a:r>
              <a:rPr lang="en-US" sz="2400" dirty="0">
                <a:highlight>
                  <a:srgbClr val="FFFF00"/>
                </a:highlight>
              </a:rPr>
              <a:t>.</a:t>
            </a:r>
          </a:p>
          <a:p>
            <a:endParaRPr lang="en-US" sz="2400"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17</a:t>
            </a:fld>
            <a:endParaRPr lang="en-US" dirty="0"/>
          </a:p>
        </p:txBody>
      </p:sp>
    </p:spTree>
    <p:extLst>
      <p:ext uri="{BB962C8B-B14F-4D97-AF65-F5344CB8AC3E}">
        <p14:creationId xmlns:p14="http://schemas.microsoft.com/office/powerpoint/2010/main" val="3632805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40229"/>
          </a:xfrm>
        </p:spPr>
        <p:txBody>
          <a:bodyPr>
            <a:normAutofit fontScale="90000"/>
          </a:bodyPr>
          <a:lstStyle/>
          <a:p>
            <a:pPr algn="ctr"/>
            <a:r>
              <a:rPr lang="en-US" b="1" dirty="0">
                <a:solidFill>
                  <a:schemeClr val="tx1"/>
                </a:solidFill>
                <a:highlight>
                  <a:srgbClr val="FFFF00"/>
                </a:highlight>
              </a:rPr>
              <a:t>Utility Based Agents:</a:t>
            </a:r>
            <a:br>
              <a:rPr lang="en-US" b="1" dirty="0">
                <a:solidFill>
                  <a:schemeClr val="tx1"/>
                </a:solidFill>
                <a:highlight>
                  <a:srgbClr val="FFFF00"/>
                </a:highlight>
              </a:rPr>
            </a:br>
            <a:endParaRPr lang="en-US" dirty="0">
              <a:solidFill>
                <a:schemeClr val="tx1"/>
              </a:solidFill>
              <a:highlight>
                <a:srgbClr val="FFFF00"/>
              </a:highlight>
            </a:endParaRPr>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18</a:t>
            </a:fld>
            <a:endParaRPr lang="en-US" dirty="0"/>
          </a:p>
        </p:txBody>
      </p:sp>
      <p:pic>
        <p:nvPicPr>
          <p:cNvPr id="6" name="Content Placeholder 5" descr="Utility Based Agents"/>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6649" y="1596830"/>
            <a:ext cx="8029303" cy="4197530"/>
          </a:xfrm>
          <a:prstGeom prst="rect">
            <a:avLst/>
          </a:prstGeom>
          <a:noFill/>
          <a:ln>
            <a:noFill/>
          </a:ln>
        </p:spPr>
      </p:pic>
    </p:spTree>
    <p:extLst>
      <p:ext uri="{BB962C8B-B14F-4D97-AF65-F5344CB8AC3E}">
        <p14:creationId xmlns:p14="http://schemas.microsoft.com/office/powerpoint/2010/main" val="934761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highlight>
                  <a:srgbClr val="FFFF00"/>
                </a:highlight>
              </a:rPr>
              <a:t>Learning-based Agent</a:t>
            </a:r>
            <a:endParaRPr lang="en-US" dirty="0">
              <a:highlight>
                <a:srgbClr val="FFFF00"/>
              </a:highlight>
            </a:endParaRPr>
          </a:p>
        </p:txBody>
      </p:sp>
      <p:sp>
        <p:nvSpPr>
          <p:cNvPr id="3" name="Content Placeholder 2"/>
          <p:cNvSpPr>
            <a:spLocks noGrp="1"/>
          </p:cNvSpPr>
          <p:nvPr>
            <p:ph idx="1"/>
          </p:nvPr>
        </p:nvSpPr>
        <p:spPr/>
        <p:txBody>
          <a:bodyPr>
            <a:normAutofit/>
          </a:bodyPr>
          <a:lstStyle/>
          <a:p>
            <a:r>
              <a:rPr lang="en-US" sz="2800" dirty="0"/>
              <a:t>A </a:t>
            </a:r>
            <a:r>
              <a:rPr lang="en-US" sz="2800" b="1" dirty="0"/>
              <a:t>learning-based agent</a:t>
            </a:r>
            <a:r>
              <a:rPr lang="en-US" sz="2800" dirty="0"/>
              <a:t> is an agent </a:t>
            </a:r>
            <a:r>
              <a:rPr lang="en-US" sz="2800" dirty="0">
                <a:highlight>
                  <a:srgbClr val="FFFF00"/>
                </a:highlight>
              </a:rPr>
              <a:t>capable of learning from experience. </a:t>
            </a:r>
          </a:p>
          <a:p>
            <a:r>
              <a:rPr lang="en-US" sz="2800" dirty="0"/>
              <a:t>It has the capability of </a:t>
            </a:r>
            <a:r>
              <a:rPr lang="en-US" sz="2800" dirty="0">
                <a:highlight>
                  <a:srgbClr val="FFFF00"/>
                </a:highlight>
              </a:rPr>
              <a:t>automatic information acquisition and integration into the system. </a:t>
            </a:r>
          </a:p>
          <a:p>
            <a:r>
              <a:rPr lang="en-US" sz="2800" dirty="0"/>
              <a:t>Any agent designed and expected to be successful in an. </a:t>
            </a:r>
            <a:r>
              <a:rPr lang="en-US" sz="2800" dirty="0">
                <a:highlight>
                  <a:srgbClr val="FFFF00"/>
                </a:highlight>
              </a:rPr>
              <a:t>uncertain environment is considered to be learning agent</a:t>
            </a:r>
          </a:p>
          <a:p>
            <a:endParaRPr lang="en-US" sz="2800"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19</a:t>
            </a:fld>
            <a:endParaRPr lang="en-US" dirty="0"/>
          </a:p>
        </p:txBody>
      </p:sp>
    </p:spTree>
    <p:extLst>
      <p:ext uri="{BB962C8B-B14F-4D97-AF65-F5344CB8AC3E}">
        <p14:creationId xmlns:p14="http://schemas.microsoft.com/office/powerpoint/2010/main" val="706863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26831"/>
          </a:xfrm>
        </p:spPr>
        <p:txBody>
          <a:bodyPr>
            <a:normAutofit fontScale="90000"/>
          </a:bodyPr>
          <a:lstStyle/>
          <a:p>
            <a:r>
              <a:rPr lang="en-US" b="1" dirty="0">
                <a:solidFill>
                  <a:schemeClr val="tx1"/>
                </a:solidFill>
                <a:highlight>
                  <a:srgbClr val="FFFF00"/>
                </a:highlight>
              </a:rPr>
              <a:t>Learning Based Agents:</a:t>
            </a:r>
            <a:br>
              <a:rPr lang="en-US" b="1" dirty="0">
                <a:solidFill>
                  <a:schemeClr val="tx1"/>
                </a:solidFill>
                <a:highlight>
                  <a:srgbClr val="FFFF00"/>
                </a:highlight>
              </a:rPr>
            </a:br>
            <a:endParaRPr lang="en-US" dirty="0">
              <a:solidFill>
                <a:schemeClr val="tx1"/>
              </a:solidFill>
              <a:highlight>
                <a:srgbClr val="FFFF00"/>
              </a:highlight>
            </a:endParaRPr>
          </a:p>
        </p:txBody>
      </p:sp>
      <p:sp>
        <p:nvSpPr>
          <p:cNvPr id="3" name="Content Placeholder 2"/>
          <p:cNvSpPr>
            <a:spLocks noGrp="1"/>
          </p:cNvSpPr>
          <p:nvPr>
            <p:ph idx="1"/>
          </p:nvPr>
        </p:nvSpPr>
        <p:spPr>
          <a:xfrm>
            <a:off x="1" y="1219201"/>
            <a:ext cx="9863014" cy="4525107"/>
          </a:xfrm>
        </p:spPr>
        <p:txBody>
          <a:bodyPr>
            <a:normAutofit fontScale="25000" lnSpcReduction="20000"/>
          </a:bodyPr>
          <a:lstStyle/>
          <a:p>
            <a:endParaRPr lang="en-US" dirty="0"/>
          </a:p>
          <a:p>
            <a:r>
              <a:rPr lang="en-US" dirty="0"/>
              <a:t> </a:t>
            </a:r>
          </a:p>
          <a:p>
            <a:pPr>
              <a:lnSpc>
                <a:spcPct val="120000"/>
              </a:lnSpc>
            </a:pPr>
            <a:r>
              <a:rPr lang="en-US" sz="9600" dirty="0"/>
              <a:t>An AI agent with learning capabilities or the ability to learn from its experiences in the past is referred to as a "learning agent."  </a:t>
            </a:r>
          </a:p>
          <a:p>
            <a:r>
              <a:rPr lang="en-US" sz="9600" dirty="0"/>
              <a:t>A learning based agent primarily consists of these </a:t>
            </a:r>
            <a:r>
              <a:rPr lang="en-US" sz="9600" dirty="0">
                <a:highlight>
                  <a:srgbClr val="FFFF00"/>
                </a:highlight>
              </a:rPr>
              <a:t>four conceptual parts:</a:t>
            </a:r>
          </a:p>
          <a:p>
            <a:pPr marL="1143000" lvl="1" indent="-742950">
              <a:buFont typeface="+mj-lt"/>
              <a:buAutoNum type="arabicPeriod"/>
            </a:pPr>
            <a:r>
              <a:rPr lang="en-US" sz="8000" b="1" dirty="0">
                <a:highlight>
                  <a:srgbClr val="FFFF00"/>
                </a:highlight>
              </a:rPr>
              <a:t>Element of learning</a:t>
            </a:r>
          </a:p>
          <a:p>
            <a:pPr marL="1143000" lvl="1" indent="-742950">
              <a:buFont typeface="+mj-lt"/>
              <a:buAutoNum type="arabicPeriod"/>
            </a:pPr>
            <a:r>
              <a:rPr lang="en-US" sz="8000" b="1" dirty="0">
                <a:highlight>
                  <a:srgbClr val="FFFF00"/>
                </a:highlight>
              </a:rPr>
              <a:t>Critic</a:t>
            </a:r>
          </a:p>
          <a:p>
            <a:pPr marL="1143000" lvl="1" indent="-742950">
              <a:buFont typeface="+mj-lt"/>
              <a:buAutoNum type="arabicPeriod"/>
            </a:pPr>
            <a:r>
              <a:rPr lang="en-US" sz="8000" b="1" dirty="0">
                <a:highlight>
                  <a:srgbClr val="FFFF00"/>
                </a:highlight>
              </a:rPr>
              <a:t>Element of performance</a:t>
            </a:r>
          </a:p>
          <a:p>
            <a:pPr marL="1143000" lvl="1" indent="-742950">
              <a:buFont typeface="+mj-lt"/>
              <a:buAutoNum type="arabicPeriod"/>
            </a:pPr>
            <a:r>
              <a:rPr lang="en-US" sz="8000" b="1" dirty="0">
                <a:highlight>
                  <a:srgbClr val="FFFF00"/>
                </a:highlight>
              </a:rPr>
              <a:t>Problem Generator</a:t>
            </a:r>
          </a:p>
          <a:p>
            <a:pPr marL="742950" indent="-742950">
              <a:buFont typeface="+mj-lt"/>
              <a:buAutoNum type="arabicPeriod"/>
            </a:pPr>
            <a:endParaRPr lang="en-US" sz="4200" dirty="0"/>
          </a:p>
          <a:p>
            <a:r>
              <a:rPr lang="en-US" sz="4200" dirty="0"/>
              <a:t> </a:t>
            </a:r>
          </a:p>
          <a:p>
            <a:endParaRPr lang="en-US"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20</a:t>
            </a:fld>
            <a:endParaRPr lang="en-US" dirty="0"/>
          </a:p>
        </p:txBody>
      </p:sp>
    </p:spTree>
    <p:extLst>
      <p:ext uri="{BB962C8B-B14F-4D97-AF65-F5344CB8AC3E}">
        <p14:creationId xmlns:p14="http://schemas.microsoft.com/office/powerpoint/2010/main" val="933561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22215"/>
          </a:xfrm>
        </p:spPr>
        <p:txBody>
          <a:bodyPr>
            <a:normAutofit fontScale="90000"/>
          </a:bodyPr>
          <a:lstStyle/>
          <a:p>
            <a:r>
              <a:rPr lang="en-US" b="1" dirty="0">
                <a:solidFill>
                  <a:schemeClr val="tx1"/>
                </a:solidFill>
              </a:rPr>
              <a:t>Learning Based Agents:</a:t>
            </a:r>
            <a:br>
              <a:rPr lang="en-US" b="1" dirty="0">
                <a:solidFill>
                  <a:schemeClr val="tx1"/>
                </a:solidFill>
              </a:rPr>
            </a:br>
            <a:endParaRPr lang="en-US" dirty="0"/>
          </a:p>
        </p:txBody>
      </p:sp>
      <p:sp>
        <p:nvSpPr>
          <p:cNvPr id="3" name="Content Placeholder 2"/>
          <p:cNvSpPr>
            <a:spLocks noGrp="1"/>
          </p:cNvSpPr>
          <p:nvPr>
            <p:ph idx="1"/>
          </p:nvPr>
        </p:nvSpPr>
        <p:spPr>
          <a:xfrm>
            <a:off x="677334" y="1727201"/>
            <a:ext cx="8596668" cy="3884245"/>
          </a:xfrm>
        </p:spPr>
        <p:txBody>
          <a:bodyPr/>
          <a:lstStyle/>
          <a:p>
            <a:r>
              <a:rPr lang="en-US" b="1" dirty="0">
                <a:highlight>
                  <a:srgbClr val="FFFF00"/>
                </a:highlight>
              </a:rPr>
              <a:t>Element of learning: </a:t>
            </a:r>
            <a:r>
              <a:rPr lang="en-US" dirty="0"/>
              <a:t>It is accountable for producing advancements by absorbing environmental knowledge.</a:t>
            </a:r>
          </a:p>
          <a:p>
            <a:r>
              <a:rPr lang="en-US" dirty="0"/>
              <a:t> </a:t>
            </a:r>
          </a:p>
          <a:p>
            <a:r>
              <a:rPr lang="en-US" b="1" dirty="0">
                <a:highlight>
                  <a:srgbClr val="FFFF00"/>
                </a:highlight>
              </a:rPr>
              <a:t>Critic: </a:t>
            </a:r>
            <a:r>
              <a:rPr lang="en-US" dirty="0"/>
              <a:t>The learning component uses criticism to gauge how well the agent is performing in relation to a predetermined performance benchmark.</a:t>
            </a:r>
          </a:p>
          <a:p>
            <a:r>
              <a:rPr lang="en-US" dirty="0"/>
              <a:t> </a:t>
            </a:r>
          </a:p>
          <a:p>
            <a:r>
              <a:rPr lang="en-US" b="1" dirty="0">
                <a:highlight>
                  <a:srgbClr val="FFFF00"/>
                </a:highlight>
              </a:rPr>
              <a:t>Element of performance: </a:t>
            </a:r>
            <a:r>
              <a:rPr lang="en-US" dirty="0"/>
              <a:t>It is in charge of choosing an external action.</a:t>
            </a:r>
          </a:p>
          <a:p>
            <a:r>
              <a:rPr lang="en-US" dirty="0"/>
              <a:t> </a:t>
            </a:r>
          </a:p>
          <a:p>
            <a:r>
              <a:rPr lang="en-US" b="1" dirty="0">
                <a:highlight>
                  <a:srgbClr val="FFFF00"/>
                </a:highlight>
              </a:rPr>
              <a:t>Problem Generator:</a:t>
            </a:r>
            <a:r>
              <a:rPr lang="en-US" dirty="0">
                <a:highlight>
                  <a:srgbClr val="FFFF00"/>
                </a:highlight>
              </a:rPr>
              <a:t> </a:t>
            </a:r>
            <a:r>
              <a:rPr lang="en-US" dirty="0"/>
              <a:t>This element is in charge of making recommendations for activities that will result in novel and educational experiences.</a:t>
            </a:r>
          </a:p>
          <a:p>
            <a:endParaRPr lang="en-US"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21</a:t>
            </a:fld>
            <a:endParaRPr lang="en-US" dirty="0"/>
          </a:p>
        </p:txBody>
      </p:sp>
    </p:spTree>
    <p:extLst>
      <p:ext uri="{BB962C8B-B14F-4D97-AF65-F5344CB8AC3E}">
        <p14:creationId xmlns:p14="http://schemas.microsoft.com/office/powerpoint/2010/main" val="4100113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90954"/>
          </a:xfrm>
        </p:spPr>
        <p:txBody>
          <a:bodyPr>
            <a:normAutofit fontScale="90000"/>
          </a:bodyPr>
          <a:lstStyle/>
          <a:p>
            <a:r>
              <a:rPr lang="en-US" b="1" dirty="0">
                <a:solidFill>
                  <a:schemeClr val="tx1"/>
                </a:solidFill>
                <a:highlight>
                  <a:srgbClr val="FFFF00"/>
                </a:highlight>
              </a:rPr>
              <a:t>Learning Based Agents:</a:t>
            </a:r>
            <a:br>
              <a:rPr lang="en-US" b="1" dirty="0">
                <a:solidFill>
                  <a:schemeClr val="tx1"/>
                </a:solidFill>
                <a:highlight>
                  <a:srgbClr val="FFFF00"/>
                </a:highlight>
              </a:rPr>
            </a:br>
            <a:endParaRPr lang="en-US" dirty="0">
              <a:highlight>
                <a:srgbClr val="FFFF00"/>
              </a:highlight>
            </a:endParaRPr>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22</a:t>
            </a:fld>
            <a:endParaRPr lang="en-US" dirty="0"/>
          </a:p>
        </p:txBody>
      </p:sp>
      <p:pic>
        <p:nvPicPr>
          <p:cNvPr id="6" name="Content Placeholder 5" descr="Learning agents "/>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44062" y="1422400"/>
            <a:ext cx="7682523" cy="4618962"/>
          </a:xfrm>
          <a:prstGeom prst="rect">
            <a:avLst/>
          </a:prstGeom>
          <a:noFill/>
          <a:ln>
            <a:noFill/>
          </a:ln>
        </p:spPr>
      </p:pic>
    </p:spTree>
    <p:extLst>
      <p:ext uri="{BB962C8B-B14F-4D97-AF65-F5344CB8AC3E}">
        <p14:creationId xmlns:p14="http://schemas.microsoft.com/office/powerpoint/2010/main" val="319636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43840"/>
            <a:ext cx="8596668" cy="636363"/>
          </a:xfrm>
        </p:spPr>
        <p:txBody>
          <a:bodyPr>
            <a:normAutofit fontScale="90000"/>
          </a:bodyPr>
          <a:lstStyle/>
          <a:p>
            <a:r>
              <a:rPr lang="en-US" b="1" dirty="0">
                <a:solidFill>
                  <a:schemeClr val="tx1"/>
                </a:solidFill>
                <a:highlight>
                  <a:srgbClr val="FFFF00"/>
                </a:highlight>
                <a:latin typeface="Arial" panose="020B0604020202020204" pitchFamily="34" charset="0"/>
                <a:cs typeface="Arial" panose="020B0604020202020204" pitchFamily="34" charset="0"/>
              </a:rPr>
              <a:t>Agents and Environment in AI</a:t>
            </a:r>
          </a:p>
        </p:txBody>
      </p:sp>
      <p:sp>
        <p:nvSpPr>
          <p:cNvPr id="3" name="Content Placeholder 2"/>
          <p:cNvSpPr>
            <a:spLocks noGrp="1"/>
          </p:cNvSpPr>
          <p:nvPr>
            <p:ph idx="1"/>
          </p:nvPr>
        </p:nvSpPr>
        <p:spPr>
          <a:xfrm>
            <a:off x="677334" y="1245327"/>
            <a:ext cx="8596668" cy="4796036"/>
          </a:xfrm>
        </p:spPr>
        <p:txBody>
          <a:bodyPr>
            <a:normAutofit lnSpcReduction="10000"/>
          </a:bodyPr>
          <a:lstStyle/>
          <a:p>
            <a:r>
              <a:rPr lang="en-US" sz="2800" b="1" dirty="0">
                <a:highlight>
                  <a:srgbClr val="FFFF00"/>
                </a:highlight>
              </a:rPr>
              <a:t>The Nature of Environments:</a:t>
            </a:r>
          </a:p>
          <a:p>
            <a:pPr lvl="1" algn="just"/>
            <a:r>
              <a:rPr lang="en-US" sz="2200" dirty="0"/>
              <a:t>Some programs operate in the entirely </a:t>
            </a:r>
            <a:r>
              <a:rPr lang="en-US" sz="2200" b="1" dirty="0"/>
              <a:t>artificial environment</a:t>
            </a:r>
            <a:r>
              <a:rPr lang="en-US" sz="2200" dirty="0"/>
              <a:t> confined to keyboard input, database, computer file systems and character output on a screen.</a:t>
            </a:r>
          </a:p>
          <a:p>
            <a:pPr lvl="1" algn="just"/>
            <a:r>
              <a:rPr lang="en-US" sz="2200" dirty="0"/>
              <a:t> In contrast, some </a:t>
            </a:r>
            <a:r>
              <a:rPr lang="en-US" sz="2200" b="1" dirty="0"/>
              <a:t>software agents </a:t>
            </a:r>
            <a:r>
              <a:rPr lang="en-US" sz="2200" dirty="0"/>
              <a:t>(</a:t>
            </a:r>
            <a:r>
              <a:rPr lang="en-US" sz="2200" b="1" dirty="0"/>
              <a:t>software robots </a:t>
            </a:r>
            <a:r>
              <a:rPr lang="en-US" sz="2200" dirty="0"/>
              <a:t>or </a:t>
            </a:r>
            <a:r>
              <a:rPr lang="en-US" sz="2200" b="1" dirty="0"/>
              <a:t>softbots)</a:t>
            </a:r>
            <a:r>
              <a:rPr lang="en-US" sz="2200" dirty="0"/>
              <a:t> exist in rich, unlimited </a:t>
            </a:r>
            <a:r>
              <a:rPr lang="en-US" sz="2200" b="1" dirty="0"/>
              <a:t>softbots domains</a:t>
            </a:r>
            <a:r>
              <a:rPr lang="en-US" sz="2200" dirty="0"/>
              <a:t>. </a:t>
            </a:r>
          </a:p>
          <a:p>
            <a:pPr lvl="1" algn="just"/>
            <a:r>
              <a:rPr lang="en-US" sz="2200" dirty="0"/>
              <a:t>The </a:t>
            </a:r>
            <a:r>
              <a:rPr lang="en-US" sz="2200" b="1" dirty="0"/>
              <a:t>simulator</a:t>
            </a:r>
            <a:r>
              <a:rPr lang="en-US" sz="2200" dirty="0"/>
              <a:t> has a very </a:t>
            </a:r>
            <a:r>
              <a:rPr lang="en-US" sz="2200" b="1" dirty="0"/>
              <a:t>detailed</a:t>
            </a:r>
            <a:r>
              <a:rPr lang="en-US" sz="2200" dirty="0"/>
              <a:t>, </a:t>
            </a:r>
            <a:r>
              <a:rPr lang="en-US" sz="2200" b="1" dirty="0"/>
              <a:t>complex environment</a:t>
            </a:r>
            <a:r>
              <a:rPr lang="en-US" sz="2200" dirty="0"/>
              <a:t>. </a:t>
            </a:r>
          </a:p>
          <a:p>
            <a:pPr lvl="1" algn="just"/>
            <a:r>
              <a:rPr lang="en-US" sz="2200" dirty="0"/>
              <a:t>The </a:t>
            </a:r>
            <a:r>
              <a:rPr lang="en-US" sz="2200" b="1" dirty="0"/>
              <a:t>software agent </a:t>
            </a:r>
            <a:r>
              <a:rPr lang="en-US" sz="2200" dirty="0"/>
              <a:t>needs to choose from a </a:t>
            </a:r>
            <a:r>
              <a:rPr lang="en-US" sz="2200" b="1" dirty="0"/>
              <a:t>long array of actions </a:t>
            </a:r>
            <a:r>
              <a:rPr lang="en-US" sz="2200" dirty="0"/>
              <a:t>in real time. </a:t>
            </a:r>
          </a:p>
          <a:p>
            <a:pPr lvl="1" algn="just"/>
            <a:r>
              <a:rPr lang="en-US" sz="2200" dirty="0"/>
              <a:t>A </a:t>
            </a:r>
            <a:r>
              <a:rPr lang="en-US" sz="2200" b="1" dirty="0"/>
              <a:t>softbot designed </a:t>
            </a:r>
            <a:r>
              <a:rPr lang="en-US" sz="2200" dirty="0"/>
              <a:t>to scan the online preferences of the customer and show interesting items to the customer works in the </a:t>
            </a:r>
            <a:r>
              <a:rPr lang="en-US" sz="2200" b="1" dirty="0"/>
              <a:t>real </a:t>
            </a:r>
            <a:r>
              <a:rPr lang="en-US" sz="2200" dirty="0"/>
              <a:t>as well as an </a:t>
            </a:r>
            <a:r>
              <a:rPr lang="en-US" sz="2200" b="1" dirty="0"/>
              <a:t>artificial environment</a:t>
            </a:r>
            <a:r>
              <a:rPr lang="en-US" sz="2200" dirty="0"/>
              <a:t>.</a:t>
            </a:r>
          </a:p>
          <a:p>
            <a:pPr lvl="1" algn="just"/>
            <a:endParaRPr lang="en-US"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23</a:t>
            </a:fld>
            <a:endParaRPr lang="en-US" dirty="0"/>
          </a:p>
        </p:txBody>
      </p:sp>
    </p:spTree>
    <p:extLst>
      <p:ext uri="{BB962C8B-B14F-4D97-AF65-F5344CB8AC3E}">
        <p14:creationId xmlns:p14="http://schemas.microsoft.com/office/powerpoint/2010/main" val="49139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40229"/>
          </a:xfrm>
        </p:spPr>
        <p:txBody>
          <a:bodyPr>
            <a:normAutofit fontScale="90000"/>
          </a:bodyPr>
          <a:lstStyle/>
          <a:p>
            <a:r>
              <a:rPr lang="en-US" b="1" dirty="0">
                <a:solidFill>
                  <a:schemeClr val="tx1"/>
                </a:solidFill>
              </a:rPr>
              <a:t>The Nature of Environments:</a:t>
            </a:r>
            <a:br>
              <a:rPr lang="en-US" b="1" dirty="0">
                <a:solidFill>
                  <a:schemeClr val="tx1"/>
                </a:solidFill>
              </a:rPr>
            </a:br>
            <a:endParaRPr lang="en-US" dirty="0">
              <a:solidFill>
                <a:schemeClr val="tx1"/>
              </a:solidFill>
            </a:endParaRPr>
          </a:p>
        </p:txBody>
      </p:sp>
      <p:sp>
        <p:nvSpPr>
          <p:cNvPr id="3" name="Content Placeholder 2"/>
          <p:cNvSpPr>
            <a:spLocks noGrp="1"/>
          </p:cNvSpPr>
          <p:nvPr>
            <p:ph idx="1"/>
          </p:nvPr>
        </p:nvSpPr>
        <p:spPr>
          <a:xfrm>
            <a:off x="677334" y="1672047"/>
            <a:ext cx="8596668" cy="4369316"/>
          </a:xfrm>
        </p:spPr>
        <p:txBody>
          <a:bodyPr>
            <a:normAutofit/>
          </a:bodyPr>
          <a:lstStyle/>
          <a:p>
            <a:r>
              <a:rPr lang="en-US" sz="2800" dirty="0"/>
              <a:t>The most famous </a:t>
            </a:r>
            <a:r>
              <a:rPr lang="en-US" sz="2800" b="1" dirty="0"/>
              <a:t>artificial environment</a:t>
            </a:r>
            <a:r>
              <a:rPr lang="en-US" sz="2800" dirty="0"/>
              <a:t> is the </a:t>
            </a:r>
            <a:r>
              <a:rPr lang="en-US" sz="2800" b="1" dirty="0">
                <a:highlight>
                  <a:srgbClr val="FFFF00"/>
                </a:highlight>
              </a:rPr>
              <a:t>Turing Test environment</a:t>
            </a:r>
            <a:r>
              <a:rPr lang="en-US" sz="2800" dirty="0"/>
              <a:t>, in which </a:t>
            </a:r>
            <a:r>
              <a:rPr lang="en-US" sz="2800" b="1" dirty="0"/>
              <a:t>one real </a:t>
            </a:r>
            <a:r>
              <a:rPr lang="en-US" sz="2800" dirty="0"/>
              <a:t>and other </a:t>
            </a:r>
            <a:r>
              <a:rPr lang="en-US" sz="2800" b="1" dirty="0"/>
              <a:t>artificial agents </a:t>
            </a:r>
            <a:r>
              <a:rPr lang="en-US" sz="2800" dirty="0"/>
              <a:t>are </a:t>
            </a:r>
            <a:r>
              <a:rPr lang="en-US" sz="2800" b="1" dirty="0"/>
              <a:t>tested on equal ground</a:t>
            </a:r>
            <a:r>
              <a:rPr lang="en-US" sz="2800" dirty="0"/>
              <a:t>. </a:t>
            </a:r>
          </a:p>
          <a:p>
            <a:r>
              <a:rPr lang="en-US" sz="2800" dirty="0"/>
              <a:t>This is a very </a:t>
            </a:r>
            <a:r>
              <a:rPr lang="en-US" sz="2800" b="1" dirty="0"/>
              <a:t>challenging environment </a:t>
            </a:r>
            <a:r>
              <a:rPr lang="en-US" sz="2800" dirty="0"/>
              <a:t>as it is </a:t>
            </a:r>
            <a:r>
              <a:rPr lang="en-US" sz="2800" b="1" dirty="0"/>
              <a:t>highly difficult </a:t>
            </a:r>
            <a:r>
              <a:rPr lang="en-US" sz="2800" dirty="0"/>
              <a:t>for a </a:t>
            </a:r>
            <a:r>
              <a:rPr lang="en-US" sz="2800" b="1" dirty="0"/>
              <a:t>software agent to perform </a:t>
            </a:r>
            <a:r>
              <a:rPr lang="en-US" sz="2800" dirty="0"/>
              <a:t>as well as a human.</a:t>
            </a:r>
          </a:p>
          <a:p>
            <a:endParaRPr lang="en-US" sz="2800"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24</a:t>
            </a:fld>
            <a:endParaRPr lang="en-US" dirty="0"/>
          </a:p>
        </p:txBody>
      </p:sp>
    </p:spTree>
    <p:extLst>
      <p:ext uri="{BB962C8B-B14F-4D97-AF65-F5344CB8AC3E}">
        <p14:creationId xmlns:p14="http://schemas.microsoft.com/office/powerpoint/2010/main" val="9164638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tx1"/>
                </a:solidFill>
                <a:highlight>
                  <a:srgbClr val="FFFF00"/>
                </a:highlight>
              </a:rPr>
              <a:t>What are the challenges arising to design agents for multi-agent environments?</a:t>
            </a:r>
          </a:p>
        </p:txBody>
      </p:sp>
      <p:sp>
        <p:nvSpPr>
          <p:cNvPr id="3" name="Content Placeholder 2"/>
          <p:cNvSpPr>
            <a:spLocks noGrp="1"/>
          </p:cNvSpPr>
          <p:nvPr>
            <p:ph idx="1"/>
          </p:nvPr>
        </p:nvSpPr>
        <p:spPr>
          <a:xfrm>
            <a:off x="677334" y="1820985"/>
            <a:ext cx="8596668" cy="4220377"/>
          </a:xfrm>
        </p:spPr>
        <p:txBody>
          <a:bodyPr>
            <a:normAutofit/>
          </a:bodyPr>
          <a:lstStyle/>
          <a:p>
            <a:endParaRPr lang="en-US" dirty="0"/>
          </a:p>
          <a:p>
            <a:pPr>
              <a:buFont typeface="Wingdings" panose="05000000000000000000" pitchFamily="2" charset="2"/>
              <a:buChar char="v"/>
            </a:pPr>
            <a:r>
              <a:rPr lang="en-US" sz="2800" b="1" dirty="0"/>
              <a:t>1.</a:t>
            </a:r>
            <a:r>
              <a:rPr lang="en-US" sz="3200" b="1" dirty="0">
                <a:highlight>
                  <a:srgbClr val="FFFF00"/>
                </a:highlight>
              </a:rPr>
              <a:t>Non-Stationary Environment:</a:t>
            </a:r>
          </a:p>
          <a:p>
            <a:pPr marL="0" indent="0">
              <a:buNone/>
            </a:pPr>
            <a:endParaRPr lang="en-US" dirty="0"/>
          </a:p>
          <a:p>
            <a:r>
              <a:rPr lang="en-US" sz="2800" dirty="0"/>
              <a:t>Because </a:t>
            </a:r>
            <a:r>
              <a:rPr lang="en-US" sz="2800" dirty="0">
                <a:highlight>
                  <a:srgbClr val="FFFF00"/>
                </a:highlight>
              </a:rPr>
              <a:t>multiple agents act simultaneously</a:t>
            </a:r>
            <a:r>
              <a:rPr lang="en-US" sz="2800" dirty="0"/>
              <a:t>, the environment keeps changing.</a:t>
            </a:r>
          </a:p>
          <a:p>
            <a:r>
              <a:rPr lang="en-US" sz="2800" dirty="0"/>
              <a:t>The </a:t>
            </a:r>
            <a:r>
              <a:rPr lang="en-US" sz="2800" dirty="0">
                <a:highlight>
                  <a:srgbClr val="FFFF00"/>
                </a:highlight>
              </a:rPr>
              <a:t>agent cannot assume </a:t>
            </a:r>
            <a:r>
              <a:rPr lang="en-US" sz="2800" dirty="0"/>
              <a:t>that </a:t>
            </a:r>
            <a:r>
              <a:rPr lang="en-US" sz="2800" dirty="0">
                <a:highlight>
                  <a:srgbClr val="FFFF00"/>
                </a:highlight>
              </a:rPr>
              <a:t>rules or patterns remain stable, making learning and prediction harder.</a:t>
            </a:r>
          </a:p>
          <a:p>
            <a:endParaRPr lang="en-US" sz="2800"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25</a:t>
            </a:fld>
            <a:endParaRPr lang="en-US" dirty="0"/>
          </a:p>
        </p:txBody>
      </p:sp>
    </p:spTree>
    <p:extLst>
      <p:ext uri="{BB962C8B-B14F-4D97-AF65-F5344CB8AC3E}">
        <p14:creationId xmlns:p14="http://schemas.microsoft.com/office/powerpoint/2010/main" val="33365595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tx1"/>
                </a:solidFill>
                <a:highlight>
                  <a:srgbClr val="FFFF00"/>
                </a:highlight>
              </a:rPr>
              <a:t>The challenges arising to design agents for multi-agent environments:</a:t>
            </a:r>
            <a:br>
              <a:rPr lang="en-US" dirty="0">
                <a:solidFill>
                  <a:schemeClr val="tx1"/>
                </a:solidFill>
              </a:rPr>
            </a:br>
            <a:endParaRPr lang="en-US" dirty="0">
              <a:solidFill>
                <a:schemeClr val="tx1"/>
              </a:solidFill>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800" b="1" dirty="0">
                <a:highlight>
                  <a:srgbClr val="FFFF00"/>
                </a:highlight>
              </a:rPr>
              <a:t>2. Coordination and Cooperation Difficulties</a:t>
            </a:r>
          </a:p>
          <a:p>
            <a:r>
              <a:rPr lang="en-US" sz="2800" dirty="0"/>
              <a:t>Agents must </a:t>
            </a:r>
            <a:r>
              <a:rPr lang="en-US" sz="2800" dirty="0">
                <a:highlight>
                  <a:srgbClr val="FFFF00"/>
                </a:highlight>
              </a:rPr>
              <a:t>synchronize actions, share tasks, and avoid conflicts.</a:t>
            </a:r>
          </a:p>
          <a:p>
            <a:r>
              <a:rPr lang="en-US" sz="2800" dirty="0">
                <a:highlight>
                  <a:srgbClr val="FFFF00"/>
                </a:highlight>
              </a:rPr>
              <a:t>Poor coordination </a:t>
            </a:r>
            <a:r>
              <a:rPr lang="en-US" sz="2800" dirty="0"/>
              <a:t>can </a:t>
            </a:r>
            <a:r>
              <a:rPr lang="en-US" sz="2800" dirty="0">
                <a:highlight>
                  <a:srgbClr val="FFFF00"/>
                </a:highlight>
              </a:rPr>
              <a:t>lead to deadlocks, collisions, or inefficiency.</a:t>
            </a:r>
          </a:p>
          <a:p>
            <a:endParaRPr lang="en-US" sz="2800"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26</a:t>
            </a:fld>
            <a:endParaRPr lang="en-US" dirty="0"/>
          </a:p>
        </p:txBody>
      </p:sp>
    </p:spTree>
    <p:extLst>
      <p:ext uri="{BB962C8B-B14F-4D97-AF65-F5344CB8AC3E}">
        <p14:creationId xmlns:p14="http://schemas.microsoft.com/office/powerpoint/2010/main" val="39695787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The challenges arising  ……   …..</a:t>
            </a:r>
            <a:endParaRPr lang="en-US" dirty="0"/>
          </a:p>
        </p:txBody>
      </p:sp>
      <p:sp>
        <p:nvSpPr>
          <p:cNvPr id="3" name="Content Placeholder 2"/>
          <p:cNvSpPr>
            <a:spLocks noGrp="1"/>
          </p:cNvSpPr>
          <p:nvPr>
            <p:ph idx="1"/>
          </p:nvPr>
        </p:nvSpPr>
        <p:spPr/>
        <p:txBody>
          <a:bodyPr/>
          <a:lstStyle/>
          <a:p>
            <a:r>
              <a:rPr lang="en-US" sz="2800" b="1" dirty="0"/>
              <a:t>3. </a:t>
            </a:r>
            <a:r>
              <a:rPr lang="en-US" sz="2800" b="1" dirty="0">
                <a:highlight>
                  <a:srgbClr val="FFFF00"/>
                </a:highlight>
              </a:rPr>
              <a:t>Communication Challenges</a:t>
            </a:r>
          </a:p>
          <a:p>
            <a:r>
              <a:rPr lang="en-US" sz="2800" dirty="0"/>
              <a:t>Agents often </a:t>
            </a:r>
            <a:r>
              <a:rPr lang="en-US" sz="2800" dirty="0">
                <a:highlight>
                  <a:srgbClr val="FFFF00"/>
                </a:highlight>
              </a:rPr>
              <a:t>need to exchange information</a:t>
            </a:r>
            <a:r>
              <a:rPr lang="en-US" sz="2800" dirty="0"/>
              <a:t>. Issues include:</a:t>
            </a:r>
          </a:p>
          <a:p>
            <a:pPr lvl="0"/>
            <a:r>
              <a:rPr lang="en-US" sz="2800" dirty="0">
                <a:highlight>
                  <a:srgbClr val="FFFF00"/>
                </a:highlight>
              </a:rPr>
              <a:t>Limited bandwidth</a:t>
            </a:r>
          </a:p>
          <a:p>
            <a:pPr lvl="0"/>
            <a:r>
              <a:rPr lang="en-US" sz="2800" dirty="0">
                <a:highlight>
                  <a:srgbClr val="FFFF00"/>
                </a:highlight>
              </a:rPr>
              <a:t>Delayed or noisy messages</a:t>
            </a:r>
          </a:p>
          <a:p>
            <a:pPr lvl="0"/>
            <a:r>
              <a:rPr lang="en-US" sz="2800" dirty="0">
                <a:highlight>
                  <a:srgbClr val="FFFF00"/>
                </a:highlight>
              </a:rPr>
              <a:t>High communication cost</a:t>
            </a:r>
          </a:p>
          <a:p>
            <a:pPr lvl="0"/>
            <a:r>
              <a:rPr lang="en-US" sz="2800" dirty="0">
                <a:highlight>
                  <a:srgbClr val="FFFF00"/>
                </a:highlight>
              </a:rPr>
              <a:t>Designing effective protocols</a:t>
            </a:r>
          </a:p>
          <a:p>
            <a:endParaRPr lang="en-US"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27</a:t>
            </a:fld>
            <a:endParaRPr lang="en-US" dirty="0"/>
          </a:p>
        </p:txBody>
      </p:sp>
    </p:spTree>
    <p:extLst>
      <p:ext uri="{BB962C8B-B14F-4D97-AF65-F5344CB8AC3E}">
        <p14:creationId xmlns:p14="http://schemas.microsoft.com/office/powerpoint/2010/main" val="12398985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The challenges arising ….   …..</a:t>
            </a:r>
            <a:endParaRPr lang="en-US" dirty="0"/>
          </a:p>
        </p:txBody>
      </p:sp>
      <p:sp>
        <p:nvSpPr>
          <p:cNvPr id="3" name="Content Placeholder 2"/>
          <p:cNvSpPr>
            <a:spLocks noGrp="1"/>
          </p:cNvSpPr>
          <p:nvPr>
            <p:ph idx="1"/>
          </p:nvPr>
        </p:nvSpPr>
        <p:spPr/>
        <p:txBody>
          <a:bodyPr/>
          <a:lstStyle/>
          <a:p>
            <a:r>
              <a:rPr lang="en-US" sz="2800" b="1" dirty="0">
                <a:highlight>
                  <a:srgbClr val="FFFF00"/>
                </a:highlight>
              </a:rPr>
              <a:t>4. Competition and Conflicting Goals</a:t>
            </a:r>
            <a:endParaRPr lang="en-US" sz="2800" dirty="0">
              <a:highlight>
                <a:srgbClr val="FFFF00"/>
              </a:highlight>
            </a:endParaRPr>
          </a:p>
          <a:p>
            <a:r>
              <a:rPr lang="en-US" sz="2800" dirty="0"/>
              <a:t>Agents may pursue </a:t>
            </a:r>
            <a:r>
              <a:rPr lang="en-US" sz="2800" dirty="0">
                <a:highlight>
                  <a:srgbClr val="FFFF00"/>
                </a:highlight>
              </a:rPr>
              <a:t>different or opposing goals.</a:t>
            </a:r>
            <a:br>
              <a:rPr lang="en-US" sz="2800" dirty="0">
                <a:highlight>
                  <a:srgbClr val="FFFF00"/>
                </a:highlight>
              </a:rPr>
            </a:br>
            <a:r>
              <a:rPr lang="en-US" sz="2800" dirty="0"/>
              <a:t>This leads to challenges like:</a:t>
            </a:r>
          </a:p>
          <a:p>
            <a:pPr lvl="0"/>
            <a:r>
              <a:rPr lang="en-US" sz="2800" dirty="0">
                <a:highlight>
                  <a:srgbClr val="FFFF00"/>
                </a:highlight>
              </a:rPr>
              <a:t>Adversarial behavior</a:t>
            </a:r>
          </a:p>
          <a:p>
            <a:pPr lvl="0"/>
            <a:r>
              <a:rPr lang="en-US" sz="2800" dirty="0">
                <a:highlight>
                  <a:srgbClr val="FFFF00"/>
                </a:highlight>
              </a:rPr>
              <a:t>Deception</a:t>
            </a:r>
          </a:p>
          <a:p>
            <a:pPr lvl="0"/>
            <a:r>
              <a:rPr lang="en-US" sz="2800" dirty="0">
                <a:highlight>
                  <a:srgbClr val="FFFF00"/>
                </a:highlight>
              </a:rPr>
              <a:t>Resource contention</a:t>
            </a:r>
          </a:p>
          <a:p>
            <a:endParaRPr lang="en-US"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28</a:t>
            </a:fld>
            <a:endParaRPr lang="en-US" dirty="0"/>
          </a:p>
        </p:txBody>
      </p:sp>
    </p:spTree>
    <p:extLst>
      <p:ext uri="{BB962C8B-B14F-4D97-AF65-F5344CB8AC3E}">
        <p14:creationId xmlns:p14="http://schemas.microsoft.com/office/powerpoint/2010/main" val="14748871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The challenges arising ….   …..</a:t>
            </a:r>
            <a:endParaRPr lang="en-US" dirty="0"/>
          </a:p>
        </p:txBody>
      </p:sp>
      <p:sp>
        <p:nvSpPr>
          <p:cNvPr id="3" name="Content Placeholder 2"/>
          <p:cNvSpPr>
            <a:spLocks noGrp="1"/>
          </p:cNvSpPr>
          <p:nvPr>
            <p:ph idx="1"/>
          </p:nvPr>
        </p:nvSpPr>
        <p:spPr>
          <a:xfrm>
            <a:off x="677334" y="1461477"/>
            <a:ext cx="8596668" cy="4579885"/>
          </a:xfrm>
        </p:spPr>
        <p:txBody>
          <a:bodyPr>
            <a:normAutofit/>
          </a:bodyPr>
          <a:lstStyle/>
          <a:p>
            <a:r>
              <a:rPr lang="en-US" sz="2400" b="1" dirty="0">
                <a:highlight>
                  <a:srgbClr val="FFFF00"/>
                </a:highlight>
              </a:rPr>
              <a:t>5. Partial Observability</a:t>
            </a:r>
            <a:endParaRPr lang="en-US" sz="2400" dirty="0">
              <a:highlight>
                <a:srgbClr val="FFFF00"/>
              </a:highlight>
            </a:endParaRPr>
          </a:p>
          <a:p>
            <a:r>
              <a:rPr lang="en-US" sz="2400" dirty="0"/>
              <a:t>Each agent </a:t>
            </a:r>
            <a:r>
              <a:rPr lang="en-US" sz="2400" dirty="0">
                <a:highlight>
                  <a:srgbClr val="FFFF00"/>
                </a:highlight>
              </a:rPr>
              <a:t>has limited information </a:t>
            </a:r>
            <a:r>
              <a:rPr lang="en-US" sz="2400" dirty="0"/>
              <a:t>about the world and other agents’ states.</a:t>
            </a:r>
            <a:br>
              <a:rPr lang="en-US" sz="2400" dirty="0"/>
            </a:br>
            <a:r>
              <a:rPr lang="en-US" sz="2400" dirty="0"/>
              <a:t>They must </a:t>
            </a:r>
            <a:r>
              <a:rPr lang="en-US" sz="2400" dirty="0">
                <a:highlight>
                  <a:srgbClr val="FFFF00"/>
                </a:highlight>
              </a:rPr>
              <a:t>infer missing information or maintain belief states.</a:t>
            </a:r>
          </a:p>
          <a:p>
            <a:r>
              <a:rPr lang="en-US" sz="2400" b="1" dirty="0">
                <a:highlight>
                  <a:srgbClr val="FFFF00"/>
                </a:highlight>
              </a:rPr>
              <a:t>6. Scalability</a:t>
            </a:r>
            <a:endParaRPr lang="en-US" sz="2400" dirty="0">
              <a:highlight>
                <a:srgbClr val="FFFF00"/>
              </a:highlight>
            </a:endParaRPr>
          </a:p>
          <a:p>
            <a:r>
              <a:rPr lang="en-US" sz="2400" dirty="0"/>
              <a:t>As the number of agents increases:</a:t>
            </a:r>
          </a:p>
          <a:p>
            <a:pPr lvl="0"/>
            <a:r>
              <a:rPr lang="en-US" sz="2400" dirty="0">
                <a:highlight>
                  <a:srgbClr val="FFFF00"/>
                </a:highlight>
              </a:rPr>
              <a:t>Interactions grow rapidly</a:t>
            </a:r>
          </a:p>
          <a:p>
            <a:pPr lvl="0"/>
            <a:r>
              <a:rPr lang="en-US" sz="2400" dirty="0">
                <a:highlight>
                  <a:srgbClr val="FFFF00"/>
                </a:highlight>
              </a:rPr>
              <a:t>Computation becomes expensive</a:t>
            </a:r>
          </a:p>
          <a:p>
            <a:pPr lvl="0"/>
            <a:r>
              <a:rPr lang="en-US" sz="2400" dirty="0">
                <a:highlight>
                  <a:srgbClr val="FFFF00"/>
                </a:highlight>
              </a:rPr>
              <a:t>Coordination becomes more complex</a:t>
            </a:r>
          </a:p>
          <a:p>
            <a:endParaRPr lang="en-US"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29</a:t>
            </a:fld>
            <a:endParaRPr lang="en-US" dirty="0"/>
          </a:p>
        </p:txBody>
      </p:sp>
    </p:spTree>
    <p:extLst>
      <p:ext uri="{BB962C8B-B14F-4D97-AF65-F5344CB8AC3E}">
        <p14:creationId xmlns:p14="http://schemas.microsoft.com/office/powerpoint/2010/main" val="9414437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The challenges arising ….   …..</a:t>
            </a:r>
            <a:endParaRPr lang="en-US" dirty="0"/>
          </a:p>
        </p:txBody>
      </p:sp>
      <p:sp>
        <p:nvSpPr>
          <p:cNvPr id="3" name="Content Placeholder 2"/>
          <p:cNvSpPr>
            <a:spLocks noGrp="1"/>
          </p:cNvSpPr>
          <p:nvPr>
            <p:ph idx="1"/>
          </p:nvPr>
        </p:nvSpPr>
        <p:spPr/>
        <p:txBody>
          <a:bodyPr>
            <a:normAutofit fontScale="92500"/>
          </a:bodyPr>
          <a:lstStyle/>
          <a:p>
            <a:r>
              <a:rPr lang="en-US" sz="2400" b="1" dirty="0">
                <a:highlight>
                  <a:srgbClr val="FFFF00"/>
                </a:highlight>
              </a:rPr>
              <a:t>7. Emergent and Unpredictable Behavior</a:t>
            </a:r>
            <a:endParaRPr lang="en-US" sz="2400" dirty="0">
              <a:highlight>
                <a:srgbClr val="FFFF00"/>
              </a:highlight>
            </a:endParaRPr>
          </a:p>
          <a:p>
            <a:r>
              <a:rPr lang="en-US" sz="2400" dirty="0">
                <a:highlight>
                  <a:srgbClr val="FFFF00"/>
                </a:highlight>
              </a:rPr>
              <a:t>Unexpected</a:t>
            </a:r>
            <a:r>
              <a:rPr lang="en-US" sz="2400" dirty="0"/>
              <a:t> global behavior can </a:t>
            </a:r>
            <a:r>
              <a:rPr lang="en-US" sz="2400" dirty="0">
                <a:highlight>
                  <a:srgbClr val="FFFF00"/>
                </a:highlight>
              </a:rPr>
              <a:t>arise from simple local interactions.</a:t>
            </a:r>
            <a:br>
              <a:rPr lang="en-US" sz="2400" dirty="0"/>
            </a:br>
            <a:r>
              <a:rPr lang="en-US" sz="2400" dirty="0"/>
              <a:t>Such emergent behavior is </a:t>
            </a:r>
            <a:r>
              <a:rPr lang="en-US" sz="2400" dirty="0">
                <a:highlight>
                  <a:srgbClr val="FFFF00"/>
                </a:highlight>
              </a:rPr>
              <a:t>hard to analyze, predict, or control</a:t>
            </a:r>
            <a:r>
              <a:rPr lang="en-US" sz="2400" dirty="0"/>
              <a:t>.</a:t>
            </a:r>
          </a:p>
          <a:p>
            <a:r>
              <a:rPr lang="en-US" sz="2400" b="1" dirty="0">
                <a:highlight>
                  <a:srgbClr val="FFFF00"/>
                </a:highlight>
              </a:rPr>
              <a:t>8. Multi-Agent Learning Complexity</a:t>
            </a:r>
            <a:endParaRPr lang="en-US" sz="2400" dirty="0">
              <a:highlight>
                <a:srgbClr val="FFFF00"/>
              </a:highlight>
            </a:endParaRPr>
          </a:p>
          <a:p>
            <a:r>
              <a:rPr lang="en-US" sz="2400" dirty="0"/>
              <a:t>Learning becomes difficult because:</a:t>
            </a:r>
          </a:p>
          <a:p>
            <a:pPr lvl="0"/>
            <a:r>
              <a:rPr lang="en-US" sz="2400" dirty="0"/>
              <a:t>Rewards depend on many agents’ actions</a:t>
            </a:r>
          </a:p>
          <a:p>
            <a:pPr lvl="0"/>
            <a:r>
              <a:rPr lang="en-US" sz="2400" dirty="0"/>
              <a:t>Policies must adapt as others change</a:t>
            </a:r>
          </a:p>
          <a:p>
            <a:pPr lvl="0"/>
            <a:r>
              <a:rPr lang="en-US" sz="2400" dirty="0"/>
              <a:t>Joint action spaces are huge</a:t>
            </a:r>
          </a:p>
          <a:p>
            <a:endParaRPr lang="en-US"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30</a:t>
            </a:fld>
            <a:endParaRPr lang="en-US" dirty="0"/>
          </a:p>
        </p:txBody>
      </p:sp>
    </p:spTree>
    <p:extLst>
      <p:ext uri="{BB962C8B-B14F-4D97-AF65-F5344CB8AC3E}">
        <p14:creationId xmlns:p14="http://schemas.microsoft.com/office/powerpoint/2010/main" val="28432792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The challenges arising ….   …..</a:t>
            </a:r>
            <a:endParaRPr lang="en-US" dirty="0"/>
          </a:p>
        </p:txBody>
      </p:sp>
      <p:sp>
        <p:nvSpPr>
          <p:cNvPr id="3" name="Content Placeholder 2"/>
          <p:cNvSpPr>
            <a:spLocks noGrp="1"/>
          </p:cNvSpPr>
          <p:nvPr>
            <p:ph idx="1"/>
          </p:nvPr>
        </p:nvSpPr>
        <p:spPr>
          <a:xfrm>
            <a:off x="677334" y="1641231"/>
            <a:ext cx="8596668" cy="4400131"/>
          </a:xfrm>
        </p:spPr>
        <p:txBody>
          <a:bodyPr>
            <a:normAutofit fontScale="92500" lnSpcReduction="10000"/>
          </a:bodyPr>
          <a:lstStyle/>
          <a:p>
            <a:r>
              <a:rPr lang="en-US" sz="2400" b="1" dirty="0">
                <a:highlight>
                  <a:srgbClr val="FFFF00"/>
                </a:highlight>
              </a:rPr>
              <a:t>9. Conflict Resolution</a:t>
            </a:r>
            <a:endParaRPr lang="en-US" sz="2400" dirty="0">
              <a:highlight>
                <a:srgbClr val="FFFF00"/>
              </a:highlight>
            </a:endParaRPr>
          </a:p>
          <a:p>
            <a:r>
              <a:rPr lang="en-US" sz="2400" dirty="0"/>
              <a:t>Agents may </a:t>
            </a:r>
            <a:r>
              <a:rPr lang="en-US" sz="2400" dirty="0">
                <a:highlight>
                  <a:srgbClr val="FFFF00"/>
                </a:highlight>
              </a:rPr>
              <a:t>compete for shared or limited resources.</a:t>
            </a:r>
            <a:br>
              <a:rPr lang="en-US" sz="2400" dirty="0">
                <a:highlight>
                  <a:srgbClr val="FFFF00"/>
                </a:highlight>
              </a:rPr>
            </a:br>
            <a:r>
              <a:rPr lang="en-US" sz="2400" dirty="0"/>
              <a:t>Mechanisms </a:t>
            </a:r>
            <a:r>
              <a:rPr lang="en-US" sz="2400" dirty="0">
                <a:highlight>
                  <a:srgbClr val="FFFF00"/>
                </a:highlight>
              </a:rPr>
              <a:t>for negotiation, arbitration, or resource allocation become essential</a:t>
            </a:r>
            <a:r>
              <a:rPr lang="en-US" sz="2400" dirty="0"/>
              <a:t>.</a:t>
            </a:r>
          </a:p>
          <a:p>
            <a:endParaRPr lang="en-US" sz="2400" dirty="0"/>
          </a:p>
          <a:p>
            <a:r>
              <a:rPr lang="en-US" sz="2400" b="1" dirty="0">
                <a:highlight>
                  <a:srgbClr val="FFFF00"/>
                </a:highlight>
              </a:rPr>
              <a:t>10. Ensuring Safety, Fairness, and Ethics</a:t>
            </a:r>
            <a:endParaRPr lang="en-US" sz="2400" dirty="0">
              <a:highlight>
                <a:srgbClr val="FFFF00"/>
              </a:highlight>
            </a:endParaRPr>
          </a:p>
          <a:p>
            <a:r>
              <a:rPr lang="en-US" sz="2400" dirty="0"/>
              <a:t>Agents must behave </a:t>
            </a:r>
            <a:r>
              <a:rPr lang="en-US" sz="2400" dirty="0">
                <a:highlight>
                  <a:srgbClr val="FFFF00"/>
                </a:highlight>
              </a:rPr>
              <a:t>safely in shared environments.</a:t>
            </a:r>
            <a:br>
              <a:rPr lang="en-US" sz="2400" dirty="0">
                <a:highlight>
                  <a:srgbClr val="FFFF00"/>
                </a:highlight>
              </a:rPr>
            </a:br>
            <a:r>
              <a:rPr lang="en-US" sz="2400" dirty="0"/>
              <a:t>Challenges include:</a:t>
            </a:r>
          </a:p>
          <a:p>
            <a:pPr lvl="0"/>
            <a:r>
              <a:rPr lang="en-US" sz="2400" dirty="0">
                <a:highlight>
                  <a:srgbClr val="FFFF00"/>
                </a:highlight>
              </a:rPr>
              <a:t>Avoiding harmful actions</a:t>
            </a:r>
          </a:p>
          <a:p>
            <a:pPr lvl="0"/>
            <a:r>
              <a:rPr lang="en-US" sz="2400" dirty="0">
                <a:highlight>
                  <a:srgbClr val="FFFF00"/>
                </a:highlight>
              </a:rPr>
              <a:t>Maintaining fairness</a:t>
            </a:r>
          </a:p>
          <a:p>
            <a:pPr lvl="0"/>
            <a:r>
              <a:rPr lang="en-US" sz="2400" dirty="0">
                <a:highlight>
                  <a:srgbClr val="FFFF00"/>
                </a:highlight>
              </a:rPr>
              <a:t>Handling adversarial agents</a:t>
            </a:r>
          </a:p>
          <a:p>
            <a:endParaRPr lang="en-US" dirty="0"/>
          </a:p>
          <a:p>
            <a:endParaRPr lang="en-US"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31</a:t>
            </a:fld>
            <a:endParaRPr lang="en-US" dirty="0"/>
          </a:p>
        </p:txBody>
      </p:sp>
    </p:spTree>
    <p:extLst>
      <p:ext uri="{BB962C8B-B14F-4D97-AF65-F5344CB8AC3E}">
        <p14:creationId xmlns:p14="http://schemas.microsoft.com/office/powerpoint/2010/main" val="18559751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00298"/>
            <a:ext cx="8596668" cy="705394"/>
          </a:xfrm>
        </p:spPr>
        <p:txBody>
          <a:bodyPr>
            <a:normAutofit fontScale="90000"/>
          </a:bodyPr>
          <a:lstStyle/>
          <a:p>
            <a:pPr algn="ctr"/>
            <a:r>
              <a:rPr lang="en-US" b="1" dirty="0">
                <a:solidFill>
                  <a:schemeClr val="tx1"/>
                </a:solidFill>
                <a:highlight>
                  <a:srgbClr val="FFFF00"/>
                </a:highlight>
                <a:latin typeface="Arial" panose="020B0604020202020204" pitchFamily="34" charset="0"/>
                <a:cs typeface="Arial" panose="020B0604020202020204" pitchFamily="34" charset="0"/>
              </a:rPr>
              <a:t>Turing Test</a:t>
            </a:r>
            <a:br>
              <a:rPr lang="en-US" b="1" dirty="0">
                <a:solidFill>
                  <a:schemeClr val="tx1"/>
                </a:solidFill>
                <a:latin typeface="Arial" panose="020B0604020202020204" pitchFamily="34" charset="0"/>
                <a:cs typeface="Arial" panose="020B0604020202020204" pitchFamily="34" charset="0"/>
              </a:rPr>
            </a:br>
            <a:endParaRPr lang="en-US"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123406"/>
            <a:ext cx="9433318" cy="4917957"/>
          </a:xfrm>
        </p:spPr>
        <p:txBody>
          <a:bodyPr>
            <a:noAutofit/>
          </a:bodyPr>
          <a:lstStyle/>
          <a:p>
            <a:r>
              <a:rPr lang="en-US" sz="2400" dirty="0"/>
              <a:t>The </a:t>
            </a:r>
            <a:r>
              <a:rPr lang="en-US" sz="2400" dirty="0">
                <a:highlight>
                  <a:srgbClr val="FFFF00"/>
                </a:highlight>
              </a:rPr>
              <a:t>success</a:t>
            </a:r>
            <a:r>
              <a:rPr lang="en-US" sz="2400" dirty="0"/>
              <a:t> of an intelligent behavior of a system can be </a:t>
            </a:r>
            <a:r>
              <a:rPr lang="en-US" sz="2400" dirty="0">
                <a:highlight>
                  <a:srgbClr val="FFFF00"/>
                </a:highlight>
              </a:rPr>
              <a:t>measured with Turing Test</a:t>
            </a:r>
            <a:r>
              <a:rPr lang="en-US" sz="2400" dirty="0"/>
              <a:t>.</a:t>
            </a:r>
          </a:p>
          <a:p>
            <a:r>
              <a:rPr lang="en-US" sz="2400" dirty="0"/>
              <a:t>Two persons and a machine to be </a:t>
            </a:r>
            <a:r>
              <a:rPr lang="en-US" sz="2400" b="1" dirty="0"/>
              <a:t>evaluated participate </a:t>
            </a:r>
            <a:r>
              <a:rPr lang="en-US" sz="2400" dirty="0"/>
              <a:t>in the test. Out of the </a:t>
            </a:r>
            <a:r>
              <a:rPr lang="en-US" sz="2400" b="1" dirty="0"/>
              <a:t>two persons</a:t>
            </a:r>
            <a:r>
              <a:rPr lang="en-US" sz="2400" dirty="0"/>
              <a:t>, one plays the role of the </a:t>
            </a:r>
            <a:r>
              <a:rPr lang="en-US" sz="2400" b="1" dirty="0"/>
              <a:t>tester.</a:t>
            </a:r>
            <a:r>
              <a:rPr lang="en-US" sz="2400" dirty="0"/>
              <a:t> </a:t>
            </a:r>
          </a:p>
          <a:p>
            <a:r>
              <a:rPr lang="en-US" sz="2400" dirty="0"/>
              <a:t>Each of them sits in </a:t>
            </a:r>
            <a:r>
              <a:rPr lang="en-US" sz="2400" b="1" dirty="0"/>
              <a:t>different rooms</a:t>
            </a:r>
            <a:r>
              <a:rPr lang="en-US" sz="2400" dirty="0"/>
              <a:t>. The </a:t>
            </a:r>
            <a:r>
              <a:rPr lang="en-US" sz="2400" b="1" dirty="0"/>
              <a:t>tester</a:t>
            </a:r>
            <a:r>
              <a:rPr lang="en-US" sz="2400" dirty="0"/>
              <a:t> is </a:t>
            </a:r>
            <a:r>
              <a:rPr lang="en-US" sz="2400" b="1" dirty="0"/>
              <a:t>unaware of who </a:t>
            </a:r>
            <a:r>
              <a:rPr lang="en-US" sz="2400" dirty="0"/>
              <a:t>is </a:t>
            </a:r>
            <a:r>
              <a:rPr lang="en-US" sz="2400" b="1" dirty="0"/>
              <a:t>machine</a:t>
            </a:r>
            <a:r>
              <a:rPr lang="en-US" sz="2400" dirty="0"/>
              <a:t> and </a:t>
            </a:r>
            <a:r>
              <a:rPr lang="en-US" sz="2400" b="1" dirty="0"/>
              <a:t>who is a human</a:t>
            </a:r>
            <a:r>
              <a:rPr lang="en-US" sz="2400" dirty="0"/>
              <a:t>. </a:t>
            </a:r>
          </a:p>
          <a:p>
            <a:r>
              <a:rPr lang="en-US" sz="2400" dirty="0"/>
              <a:t>He interrogates the questions by typing and sending them to </a:t>
            </a:r>
            <a:r>
              <a:rPr lang="en-US" sz="2400" b="1" dirty="0"/>
              <a:t>both intelligences</a:t>
            </a:r>
            <a:r>
              <a:rPr lang="en-US" sz="2400" dirty="0"/>
              <a:t>, to which he receives typed responses.</a:t>
            </a:r>
          </a:p>
          <a:p>
            <a:r>
              <a:rPr lang="en-US" sz="2400" dirty="0"/>
              <a:t>This test aims at fooling the tester. If the tester fails to determine </a:t>
            </a:r>
            <a:r>
              <a:rPr lang="en-US" sz="2400" b="1" dirty="0"/>
              <a:t>machine’s response </a:t>
            </a:r>
            <a:r>
              <a:rPr lang="en-US" sz="2400" dirty="0"/>
              <a:t>from the </a:t>
            </a:r>
            <a:r>
              <a:rPr lang="en-US" sz="2400" b="1" dirty="0"/>
              <a:t>human response</a:t>
            </a:r>
            <a:r>
              <a:rPr lang="en-US" sz="2400" dirty="0"/>
              <a:t>, then the machine is said to be intelligent.</a:t>
            </a:r>
          </a:p>
          <a:p>
            <a:endParaRPr lang="en-US" sz="2400" b="1"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32</a:t>
            </a:fld>
            <a:endParaRPr lang="en-US" dirty="0"/>
          </a:p>
        </p:txBody>
      </p:sp>
    </p:spTree>
    <p:extLst>
      <p:ext uri="{BB962C8B-B14F-4D97-AF65-F5344CB8AC3E}">
        <p14:creationId xmlns:p14="http://schemas.microsoft.com/office/powerpoint/2010/main" val="42597252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Arial" panose="020B0604020202020204" pitchFamily="34" charset="0"/>
                <a:cs typeface="Arial" panose="020B0604020202020204" pitchFamily="34" charset="0"/>
              </a:rPr>
              <a:t>Turing Test</a:t>
            </a:r>
            <a:endParaRPr lang="en-US" dirty="0"/>
          </a:p>
        </p:txBody>
      </p:sp>
      <p:pic>
        <p:nvPicPr>
          <p:cNvPr id="6" name="Content Placeholder 5"/>
          <p:cNvPicPr>
            <a:picLocks noGrp="1" noChangeAspect="1"/>
          </p:cNvPicPr>
          <p:nvPr>
            <p:ph idx="1"/>
          </p:nvPr>
        </p:nvPicPr>
        <p:blipFill>
          <a:blip r:embed="rId2"/>
          <a:stretch>
            <a:fillRect/>
          </a:stretch>
        </p:blipFill>
        <p:spPr>
          <a:xfrm>
            <a:off x="1625601" y="1425708"/>
            <a:ext cx="7729414" cy="4616318"/>
          </a:xfrm>
          <a:prstGeom prst="rect">
            <a:avLst/>
          </a:prstGeom>
        </p:spPr>
      </p:pic>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33</a:t>
            </a:fld>
            <a:endParaRPr lang="en-US" dirty="0"/>
          </a:p>
        </p:txBody>
      </p:sp>
    </p:spTree>
    <p:extLst>
      <p:ext uri="{BB962C8B-B14F-4D97-AF65-F5344CB8AC3E}">
        <p14:creationId xmlns:p14="http://schemas.microsoft.com/office/powerpoint/2010/main" val="15988937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61851"/>
          </a:xfrm>
        </p:spPr>
        <p:txBody>
          <a:bodyPr>
            <a:normAutofit fontScale="90000"/>
          </a:bodyPr>
          <a:lstStyle/>
          <a:p>
            <a:pPr algn="ctr"/>
            <a:r>
              <a:rPr lang="en-US" b="1" dirty="0">
                <a:solidFill>
                  <a:schemeClr val="tx1"/>
                </a:solidFill>
                <a:highlight>
                  <a:srgbClr val="FFFF00"/>
                </a:highlight>
              </a:rPr>
              <a:t>Properties of Environment</a:t>
            </a:r>
            <a:br>
              <a:rPr lang="en-US" b="1" dirty="0">
                <a:solidFill>
                  <a:schemeClr val="tx1"/>
                </a:solidFill>
              </a:rPr>
            </a:br>
            <a:endParaRPr lang="en-US" b="1" dirty="0">
              <a:solidFill>
                <a:schemeClr val="tx1"/>
              </a:solidFill>
            </a:endParaRPr>
          </a:p>
        </p:txBody>
      </p:sp>
      <p:sp>
        <p:nvSpPr>
          <p:cNvPr id="3" name="Content Placeholder 2"/>
          <p:cNvSpPr>
            <a:spLocks noGrp="1"/>
          </p:cNvSpPr>
          <p:nvPr>
            <p:ph idx="1"/>
          </p:nvPr>
        </p:nvSpPr>
        <p:spPr>
          <a:xfrm>
            <a:off x="677333" y="1410789"/>
            <a:ext cx="8910803" cy="4630573"/>
          </a:xfrm>
        </p:spPr>
        <p:txBody>
          <a:bodyPr>
            <a:normAutofit/>
          </a:bodyPr>
          <a:lstStyle/>
          <a:p>
            <a:r>
              <a:rPr lang="en-US" sz="2400" b="1" dirty="0">
                <a:highlight>
                  <a:srgbClr val="FFFF00"/>
                </a:highlight>
              </a:rPr>
              <a:t>The environment has multifold properties </a:t>
            </a:r>
            <a:r>
              <a:rPr lang="en-US" sz="2400" b="1" dirty="0"/>
              <a:t>−</a:t>
            </a:r>
          </a:p>
          <a:p>
            <a:pPr lvl="1"/>
            <a:r>
              <a:rPr lang="en-US" sz="2200" b="1" dirty="0">
                <a:highlight>
                  <a:srgbClr val="FFFF00"/>
                </a:highlight>
              </a:rPr>
              <a:t>Discrete / Continuous</a:t>
            </a:r>
            <a:r>
              <a:rPr lang="en-US" sz="2200" dirty="0">
                <a:highlight>
                  <a:srgbClr val="FFFF00"/>
                </a:highlight>
              </a:rPr>
              <a:t> </a:t>
            </a:r>
            <a:r>
              <a:rPr lang="en-US" sz="2200" dirty="0"/>
              <a:t>− If there are a limited number of distinct, clearly defined, states of the environment, the environment is </a:t>
            </a:r>
            <a:r>
              <a:rPr lang="en-US" sz="2200" dirty="0">
                <a:highlight>
                  <a:srgbClr val="FFFF00"/>
                </a:highlight>
              </a:rPr>
              <a:t>discrete (For example, chess</a:t>
            </a:r>
            <a:r>
              <a:rPr lang="en-US" sz="2200" dirty="0"/>
              <a:t>); otherwise it is </a:t>
            </a:r>
            <a:r>
              <a:rPr lang="en-US" sz="2200" dirty="0">
                <a:highlight>
                  <a:srgbClr val="FFFF00"/>
                </a:highlight>
              </a:rPr>
              <a:t>continuous (For example, driving).</a:t>
            </a:r>
          </a:p>
          <a:p>
            <a:pPr lvl="1"/>
            <a:r>
              <a:rPr lang="en-US" sz="2200" b="1" dirty="0">
                <a:highlight>
                  <a:srgbClr val="FFFF00"/>
                </a:highlight>
              </a:rPr>
              <a:t>Observable / Partially Observable</a:t>
            </a:r>
            <a:r>
              <a:rPr lang="en-US" sz="2200" dirty="0">
                <a:highlight>
                  <a:srgbClr val="FFFF00"/>
                </a:highlight>
              </a:rPr>
              <a:t> </a:t>
            </a:r>
            <a:r>
              <a:rPr lang="en-US" sz="2200" dirty="0"/>
              <a:t>− If it is possible to determine the complete state of the environment at each time point from the percepts it is observable; otherwise it is only partially observable.</a:t>
            </a:r>
          </a:p>
          <a:p>
            <a:pPr lvl="1"/>
            <a:r>
              <a:rPr lang="en-US" sz="2200" b="1" dirty="0">
                <a:highlight>
                  <a:srgbClr val="FFFF00"/>
                </a:highlight>
              </a:rPr>
              <a:t>Static / Dynamic</a:t>
            </a:r>
            <a:r>
              <a:rPr lang="en-US" sz="2200" dirty="0">
                <a:highlight>
                  <a:srgbClr val="FFFF00"/>
                </a:highlight>
              </a:rPr>
              <a:t> </a:t>
            </a:r>
            <a:r>
              <a:rPr lang="en-US" sz="2200" dirty="0"/>
              <a:t>− If the environment does not change while an agent is acting, then it is static; otherwise it is dynamic.</a:t>
            </a:r>
          </a:p>
          <a:p>
            <a:endParaRPr lang="en-US"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34</a:t>
            </a:fld>
            <a:endParaRPr lang="en-US" dirty="0"/>
          </a:p>
        </p:txBody>
      </p:sp>
    </p:spTree>
    <p:extLst>
      <p:ext uri="{BB962C8B-B14F-4D97-AF65-F5344CB8AC3E}">
        <p14:creationId xmlns:p14="http://schemas.microsoft.com/office/powerpoint/2010/main" val="36688281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18309"/>
          </a:xfrm>
        </p:spPr>
        <p:txBody>
          <a:bodyPr>
            <a:normAutofit fontScale="90000"/>
          </a:bodyPr>
          <a:lstStyle/>
          <a:p>
            <a:pPr algn="ctr"/>
            <a:r>
              <a:rPr lang="en-US" b="1" dirty="0">
                <a:solidFill>
                  <a:schemeClr val="tx1"/>
                </a:solidFill>
                <a:highlight>
                  <a:srgbClr val="FFFF00"/>
                </a:highlight>
              </a:rPr>
              <a:t>Properties of Environment</a:t>
            </a:r>
            <a:br>
              <a:rPr lang="en-US" b="1" dirty="0">
                <a:solidFill>
                  <a:schemeClr val="tx1"/>
                </a:solidFill>
              </a:rPr>
            </a:br>
            <a:endParaRPr lang="en-US" b="1" dirty="0">
              <a:solidFill>
                <a:schemeClr val="tx1"/>
              </a:solidFill>
            </a:endParaRPr>
          </a:p>
        </p:txBody>
      </p:sp>
      <p:sp>
        <p:nvSpPr>
          <p:cNvPr id="3" name="Content Placeholder 2"/>
          <p:cNvSpPr>
            <a:spLocks noGrp="1"/>
          </p:cNvSpPr>
          <p:nvPr>
            <p:ph idx="1"/>
          </p:nvPr>
        </p:nvSpPr>
        <p:spPr>
          <a:xfrm>
            <a:off x="677334" y="1288869"/>
            <a:ext cx="9442026" cy="4752494"/>
          </a:xfrm>
        </p:spPr>
        <p:txBody>
          <a:bodyPr>
            <a:normAutofit fontScale="92500" lnSpcReduction="20000"/>
          </a:bodyPr>
          <a:lstStyle/>
          <a:p>
            <a:pPr lvl="0"/>
            <a:r>
              <a:rPr lang="en-US" sz="2400" b="1" dirty="0">
                <a:highlight>
                  <a:srgbClr val="FFFF00"/>
                </a:highlight>
              </a:rPr>
              <a:t>Single agent / Multiple agents</a:t>
            </a:r>
            <a:r>
              <a:rPr lang="en-US" sz="2400" dirty="0">
                <a:highlight>
                  <a:srgbClr val="FFFF00"/>
                </a:highlight>
              </a:rPr>
              <a:t> </a:t>
            </a:r>
            <a:r>
              <a:rPr lang="en-US" sz="2400" dirty="0"/>
              <a:t>− The environment may contain other agents which may be of the same or different kind as that of the agent.</a:t>
            </a:r>
          </a:p>
          <a:p>
            <a:pPr lvl="0"/>
            <a:r>
              <a:rPr lang="en-US" sz="2400" b="1" dirty="0">
                <a:highlight>
                  <a:srgbClr val="FFFF00"/>
                </a:highlight>
              </a:rPr>
              <a:t>Accessible / Inaccessible</a:t>
            </a:r>
            <a:r>
              <a:rPr lang="en-US" sz="2400" dirty="0">
                <a:highlight>
                  <a:srgbClr val="FFFF00"/>
                </a:highlight>
              </a:rPr>
              <a:t> </a:t>
            </a:r>
            <a:r>
              <a:rPr lang="en-US" sz="2400" dirty="0"/>
              <a:t>− If the agent’s sensory apparatus can have access to the complete state of the environment, then the environment is accessible to that agent.</a:t>
            </a:r>
          </a:p>
          <a:p>
            <a:pPr lvl="0"/>
            <a:r>
              <a:rPr lang="en-US" sz="2400" b="1" dirty="0">
                <a:highlight>
                  <a:srgbClr val="FFFF00"/>
                </a:highlight>
              </a:rPr>
              <a:t>Deterministic / Non-deterministic</a:t>
            </a:r>
            <a:r>
              <a:rPr lang="en-US" sz="2400" dirty="0">
                <a:highlight>
                  <a:srgbClr val="FFFF00"/>
                </a:highlight>
              </a:rPr>
              <a:t> </a:t>
            </a:r>
            <a:r>
              <a:rPr lang="en-US" sz="2400" dirty="0"/>
              <a:t>− If the </a:t>
            </a:r>
            <a:r>
              <a:rPr lang="en-US" sz="2400" dirty="0">
                <a:highlight>
                  <a:srgbClr val="FFFF00"/>
                </a:highlight>
              </a:rPr>
              <a:t>next state of the environment is completely determined</a:t>
            </a:r>
            <a:r>
              <a:rPr lang="en-US" sz="2400" dirty="0"/>
              <a:t> </a:t>
            </a:r>
            <a:r>
              <a:rPr lang="en-US" sz="2400" dirty="0">
                <a:highlight>
                  <a:srgbClr val="FFFF00"/>
                </a:highlight>
              </a:rPr>
              <a:t>by the current state </a:t>
            </a:r>
            <a:r>
              <a:rPr lang="en-US" sz="2400" dirty="0"/>
              <a:t>and the actions of the agent, then the </a:t>
            </a:r>
            <a:r>
              <a:rPr lang="en-US" sz="2400" dirty="0">
                <a:highlight>
                  <a:srgbClr val="FFFF00"/>
                </a:highlight>
              </a:rPr>
              <a:t>environment is deterministic</a:t>
            </a:r>
            <a:r>
              <a:rPr lang="en-US" sz="2400" dirty="0"/>
              <a:t>; </a:t>
            </a:r>
            <a:r>
              <a:rPr lang="en-US" sz="2400" dirty="0">
                <a:highlight>
                  <a:srgbClr val="FFFF00"/>
                </a:highlight>
              </a:rPr>
              <a:t>otherwise</a:t>
            </a:r>
            <a:r>
              <a:rPr lang="en-US" sz="2400" dirty="0"/>
              <a:t> it is </a:t>
            </a:r>
            <a:r>
              <a:rPr lang="en-US" sz="2400" dirty="0">
                <a:highlight>
                  <a:srgbClr val="FFFF00"/>
                </a:highlight>
              </a:rPr>
              <a:t>non-deterministic.</a:t>
            </a:r>
          </a:p>
          <a:p>
            <a:pPr lvl="0"/>
            <a:r>
              <a:rPr lang="en-US" sz="2400" b="1" dirty="0">
                <a:highlight>
                  <a:srgbClr val="FFFF00"/>
                </a:highlight>
              </a:rPr>
              <a:t>Episodic / Non-episodic</a:t>
            </a:r>
            <a:r>
              <a:rPr lang="en-US" sz="2400" dirty="0">
                <a:highlight>
                  <a:srgbClr val="FFFF00"/>
                </a:highlight>
              </a:rPr>
              <a:t> </a:t>
            </a:r>
            <a:r>
              <a:rPr lang="en-US" sz="2400" dirty="0"/>
              <a:t>− In an episodic environment, </a:t>
            </a:r>
            <a:r>
              <a:rPr lang="en-US" sz="2400" dirty="0">
                <a:highlight>
                  <a:srgbClr val="FFFF00"/>
                </a:highlight>
              </a:rPr>
              <a:t>each episode consists of the agent perceiving and then acting.</a:t>
            </a:r>
            <a:r>
              <a:rPr lang="en-US" sz="2400" dirty="0"/>
              <a:t> The quality of its action depends just on the episode itself. Subsequent episodes do not depend on the actions in the previous episodes. Episodic environments are much simpler because the agent does not need to think ahead.</a:t>
            </a:r>
          </a:p>
          <a:p>
            <a:endParaRPr lang="en-US" dirty="0"/>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35</a:t>
            </a:fld>
            <a:endParaRPr lang="en-US" dirty="0"/>
          </a:p>
        </p:txBody>
      </p:sp>
    </p:spTree>
    <p:extLst>
      <p:ext uri="{BB962C8B-B14F-4D97-AF65-F5344CB8AC3E}">
        <p14:creationId xmlns:p14="http://schemas.microsoft.com/office/powerpoint/2010/main" val="16143201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r>
              <a:rPr lang="en-US" sz="4800" dirty="0">
                <a:latin typeface="Arial Black" panose="020B0A04020102020204" pitchFamily="34" charset="0"/>
              </a:rPr>
              <a:t>END TODAY</a:t>
            </a:r>
          </a:p>
          <a:p>
            <a:pPr marL="0" indent="0" algn="ctr">
              <a:buNone/>
            </a:pPr>
            <a:r>
              <a:rPr lang="en-US" sz="6000" dirty="0">
                <a:latin typeface="Arial Black" panose="020B0A04020102020204" pitchFamily="34" charset="0"/>
              </a:rPr>
              <a:t>Thanks</a:t>
            </a:r>
          </a:p>
        </p:txBody>
      </p:sp>
      <p:sp>
        <p:nvSpPr>
          <p:cNvPr id="4" name="Footer Placeholder 3"/>
          <p:cNvSpPr>
            <a:spLocks noGrp="1"/>
          </p:cNvSpPr>
          <p:nvPr>
            <p:ph type="ftr" sz="quarter" idx="11"/>
          </p:nvPr>
        </p:nvSpPr>
        <p:spPr/>
        <p:txBody>
          <a:bodyPr/>
          <a:lstStyle/>
          <a:p>
            <a:r>
              <a:rPr lang="en-US"/>
              <a:t>Prof. Dr. A K M Akhtar Hossain, Dept. of CSE, RU.</a:t>
            </a:r>
            <a:endParaRPr lang="en-US" dirty="0"/>
          </a:p>
        </p:txBody>
      </p:sp>
      <p:sp>
        <p:nvSpPr>
          <p:cNvPr id="5" name="Slide Number Placeholder 4"/>
          <p:cNvSpPr>
            <a:spLocks noGrp="1"/>
          </p:cNvSpPr>
          <p:nvPr>
            <p:ph type="sldNum" sz="quarter" idx="12"/>
          </p:nvPr>
        </p:nvSpPr>
        <p:spPr/>
        <p:txBody>
          <a:bodyPr/>
          <a:lstStyle/>
          <a:p>
            <a:fld id="{519954A3-9DFD-4C44-94BA-B95130A3BA1C}" type="slidenum">
              <a:rPr lang="en-US" smtClean="0"/>
              <a:t>36</a:t>
            </a:fld>
            <a:endParaRPr lang="en-US" dirty="0"/>
          </a:p>
        </p:txBody>
      </p:sp>
    </p:spTree>
    <p:extLst>
      <p:ext uri="{BB962C8B-B14F-4D97-AF65-F5344CB8AC3E}">
        <p14:creationId xmlns:p14="http://schemas.microsoft.com/office/powerpoint/2010/main" val="119808340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TM02900688[[fn=Facet]]</Template>
  <TotalTime>758</TotalTime>
  <Words>2610</Words>
  <Application>Microsoft Office PowerPoint</Application>
  <PresentationFormat>Widescreen</PresentationFormat>
  <Paragraphs>264</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Arial Black</vt:lpstr>
      <vt:lpstr>Calibri</vt:lpstr>
      <vt:lpstr>Trebuchet MS</vt:lpstr>
      <vt:lpstr>Wingdings</vt:lpstr>
      <vt:lpstr>Wingdings 3</vt:lpstr>
      <vt:lpstr>Facet</vt:lpstr>
      <vt:lpstr>Agents in Artificial Intelligence</vt:lpstr>
      <vt:lpstr>Agents in AI</vt:lpstr>
      <vt:lpstr>Agents in AI</vt:lpstr>
      <vt:lpstr>Agents in AI</vt:lpstr>
      <vt:lpstr>Agents in AI</vt:lpstr>
      <vt:lpstr>Agents in AI</vt:lpstr>
      <vt:lpstr>Agents in AI</vt:lpstr>
      <vt:lpstr>Agents in AI</vt:lpstr>
      <vt:lpstr>Agents in AI</vt:lpstr>
      <vt:lpstr>Agents in AI</vt:lpstr>
      <vt:lpstr>The Structure of Intelligent Agents:</vt:lpstr>
      <vt:lpstr>Simple Reflex Agents</vt:lpstr>
      <vt:lpstr>The Structure of Intelligent Agents:</vt:lpstr>
      <vt:lpstr>Model Based Reflex Agents: </vt:lpstr>
      <vt:lpstr>The Structure of Intelligent Agents:</vt:lpstr>
      <vt:lpstr>Goal Based Agents </vt:lpstr>
      <vt:lpstr>The Structure of Intelligent Agents:</vt:lpstr>
      <vt:lpstr>Utility Based Agents: </vt:lpstr>
      <vt:lpstr>Learning-based Agent</vt:lpstr>
      <vt:lpstr>Learning Based Agents: </vt:lpstr>
      <vt:lpstr>Learning Based Agents: </vt:lpstr>
      <vt:lpstr>Learning Based Agents: </vt:lpstr>
      <vt:lpstr>Agents and Environment in AI</vt:lpstr>
      <vt:lpstr>The Nature of Environments: </vt:lpstr>
      <vt:lpstr>What are the challenges arising to design agents for multi-agent environments?</vt:lpstr>
      <vt:lpstr>The challenges arising to design agents for multi-agent environments: </vt:lpstr>
      <vt:lpstr>The challenges arising  ……   …..</vt:lpstr>
      <vt:lpstr>The challenges arising ….   …..</vt:lpstr>
      <vt:lpstr>The challenges arising ….   …..</vt:lpstr>
      <vt:lpstr>The challenges arising ….   …..</vt:lpstr>
      <vt:lpstr>The challenges arising ….   …..</vt:lpstr>
      <vt:lpstr>Turing Test </vt:lpstr>
      <vt:lpstr>Turing Test</vt:lpstr>
      <vt:lpstr>Properties of Environment </vt:lpstr>
      <vt:lpstr>Properties of Environment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Agents of Artificial Intelligence</dc:title>
  <dc:creator>AKHTAR</dc:creator>
  <cp:lastModifiedBy>Most. Rima Khatun</cp:lastModifiedBy>
  <cp:revision>77</cp:revision>
  <dcterms:created xsi:type="dcterms:W3CDTF">2021-03-27T05:13:14Z</dcterms:created>
  <dcterms:modified xsi:type="dcterms:W3CDTF">2026-10-15T03:14:58Z</dcterms:modified>
</cp:coreProperties>
</file>